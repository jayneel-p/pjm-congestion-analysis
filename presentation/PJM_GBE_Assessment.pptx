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charts/chart1.xml" ContentType="application/vnd.openxmlformats-officedocument.drawingml.chart+xml"/>
  <Override PartName="/ppt/slides/slide7.xml" ContentType="application/vnd.openxmlformats-officedocument.presentationml.slide+xml"/>
  <Override PartName="/ppt/slides/charts/chart2.xml" ContentType="application/vnd.openxmlformats-officedocument.drawingml.chart+xml"/>
  <Override PartName="/ppt/slides/slide8.xml" ContentType="application/vnd.openxmlformats-officedocument.presentationml.slide+xml"/>
  <Override PartName="/ppt/slides/charts/chart3.xml" ContentType="application/vnd.openxmlformats-officedocument.drawingml.chart+xml"/>
  <Override PartName="/ppt/slides/slide9.xml" ContentType="application/vnd.openxmlformats-officedocument.presentationml.slide+xml"/>
  <Override PartName="/ppt/slides/charts/chart4.xml" ContentType="application/vnd.openxmlformats-officedocument.drawingml.chart+xml"/>
  <Override PartName="/ppt/slides/slide10.xml" ContentType="application/vnd.openxmlformats-officedocument.presentationml.slide+xml"/>
  <Override PartName="/ppt/slides/charts/chart5.xml" ContentType="application/vnd.openxmlformats-officedocument.drawingml.chart+xml"/>
  <Override PartName="/ppt/slides/slide11.xml" ContentType="application/vnd.openxmlformats-officedocument.presentationml.slide+xml"/>
  <Override PartName="/ppt/slides/charts/chart6.xml" ContentType="application/vnd.openxmlformats-officedocument.drawingml.chart+xml"/>
  <Override PartName="/ppt/slides/slide12.xml" ContentType="application/vnd.openxmlformats-officedocument.presentationml.slide+xml"/>
  <Override PartName="/ppt/slides/charts/chart7.xml" ContentType="application/vnd.openxmlformats-officedocument.drawingml.chart+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charts/chart8.xml" ContentType="application/vnd.openxmlformats-officedocument.drawingml.chart+xml"/>
  <Override PartName="/ppt/slides/slide17.xml" ContentType="application/vnd.openxmlformats-officedocument.presentationml.slide+xml"/>
  <Override PartName="/ppt/slides/charts/chart9.xml" ContentType="application/vnd.openxmlformats-officedocument.drawingml.chart+xml"/>
  <Override PartName="/ppt/slides/slide18.xml" ContentType="application/vnd.openxmlformats-officedocument.presentationml.slide+xml"/>
  <Override PartName="/ppt/slides/charts/chart10.xml" ContentType="application/vnd.openxmlformats-officedocument.drawingml.chart+xml"/>
  <Override PartName="/ppt/slides/slide19.xml" ContentType="application/vnd.openxmlformats-officedocument.presentationml.slide+xml"/>
  <Override PartName="/ppt/slides/charts/chart11.xml" ContentType="application/vnd.openxmlformats-officedocument.drawingml.chart+xml"/>
  <Override PartName="/ppt/slides/slide20.xml" ContentType="application/vnd.openxmlformats-officedocument.presentationml.slide+xml"/>
  <Override PartName="/ppt/slides/charts/chart12.xml" ContentType="application/vnd.openxmlformats-officedocument.drawingml.chart+xml"/>
  <Override PartName="/ppt/slides/slide21.xml" ContentType="application/vnd.openxmlformats-officedocument.presentationml.slide+xml"/>
  <Override PartName="/ppt/slides/charts/chart13.xml" ContentType="application/vnd.openxmlformats-officedocument.drawingml.chart+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charts/chart14.xml" ContentType="application/vnd.openxmlformats-officedocument.drawingml.chart+xml"/>
  <Override PartName="/ppt/slides/slide25.xml" ContentType="application/vnd.openxmlformats-officedocument.presentationml.slide+xml"/>
  <Override PartName="/ppt/slides/charts/chart15.xml" ContentType="application/vnd.openxmlformats-officedocument.drawingml.chart+xml"/>
  <Override PartName="/ppt/slides/slide26.xml" ContentType="application/vnd.openxmlformats-officedocument.presentationml.slide+xml"/>
  <Override PartName="/ppt/slides/charts/chart16.xml" ContentType="application/vnd.openxmlformats-officedocument.drawingml.chart+xml"/>
  <Override PartName="/ppt/slides/slide27.xml" ContentType="application/vnd.openxmlformats-officedocument.presentationml.slide+xml"/>
  <Override PartName="/ppt/slides/charts/chart17.xml" ContentType="application/vnd.openxmlformats-officedocument.drawingml.chart+xml"/>
  <Override PartName="/ppt/slides/slide28.xml" ContentType="application/vnd.openxmlformats-officedocument.presentationml.slide+xml"/>
  <Override PartName="/ppt/slides/charts/chart18.xml" ContentType="application/vnd.openxmlformats-officedocument.drawingml.chart+xml"/>
  <Override PartName="/ppt/slides/slide29.xml" ContentType="application/vnd.openxmlformats-officedocument.presentationml.slide+xml"/>
  <Override PartName="/ppt/slides/charts/chart19.xml" ContentType="application/vnd.openxmlformats-officedocument.drawingml.chart+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charts/chart20.xml" ContentType="application/vnd.openxmlformats-officedocument.drawingml.chart+xml"/>
  <Override PartName="/ppt/slides/slide34.xml" ContentType="application/vnd.openxmlformats-officedocument.presentationml.slide+xml"/>
  <Override PartName="/ppt/slides/charts/chart21.xml" ContentType="application/vnd.openxmlformats-officedocument.drawingml.chart+xml"/>
  <Override PartName="/ppt/slides/slide35.xml" ContentType="application/vnd.openxmlformats-officedocument.presentationml.slide+xml"/>
  <Override PartName="/ppt/slides/charts/chart22.xml" ContentType="application/vnd.openxmlformats-officedocument.drawingml.chart+xml"/>
  <Override PartName="/ppt/slides/slide36.xml" ContentType="application/vnd.openxmlformats-officedocument.presentationml.slide+xml"/>
  <Override PartName="/ppt/slides/slide37.xml" ContentType="application/vnd.openxmlformats-officedocument.presentationml.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e7104ef424e4a6d" /><Relationship Type="http://schemas.openxmlformats.org/officeDocument/2006/relationships/extended-properties" Target="/docProps/app.xml" Id="R5f3a4bc591b24f99" /><Relationship Type="http://schemas.openxmlformats.org/officeDocument/2006/relationships/officeDocument" Target="/ppt/presentation.xml" Id="Rf90dd33f9d8f4fa1" /></Relationships>
</file>

<file path=ppt/presentation.xml><?xml version="1.0" encoding="utf-8"?>
<p:presentation xmlns:p="http://schemas.openxmlformats.org/presentationml/2006/main">
  <p:sldMasterIdLst>
    <p:sldMasterId xmlns:r="http://schemas.openxmlformats.org/officeDocument/2006/relationships" id="2147483648" r:id="Re6c05b4837f44a25"/>
  </p:sldMasterIdLst>
  <p:sldIdLst>
    <p:sldId xmlns:r="http://schemas.openxmlformats.org/officeDocument/2006/relationships" id="256" r:id="Rd678f9b48f10419c"/>
    <p:sldId xmlns:r="http://schemas.openxmlformats.org/officeDocument/2006/relationships" id="257" r:id="Rd72e58cbaaac46ad"/>
    <p:sldId xmlns:r="http://schemas.openxmlformats.org/officeDocument/2006/relationships" id="258" r:id="Rba12577fd6ad4ca8"/>
    <p:sldId xmlns:r="http://schemas.openxmlformats.org/officeDocument/2006/relationships" id="259" r:id="R0b002977a9894bf3"/>
    <p:sldId xmlns:r="http://schemas.openxmlformats.org/officeDocument/2006/relationships" id="260" r:id="R4e6e27e73f884a20"/>
    <p:sldId xmlns:r="http://schemas.openxmlformats.org/officeDocument/2006/relationships" id="261" r:id="R6982ae83208f448e"/>
    <p:sldId xmlns:r="http://schemas.openxmlformats.org/officeDocument/2006/relationships" id="262" r:id="R6d461add509d4ee2"/>
    <p:sldId xmlns:r="http://schemas.openxmlformats.org/officeDocument/2006/relationships" id="263" r:id="R3627d08957fd4a9c"/>
    <p:sldId xmlns:r="http://schemas.openxmlformats.org/officeDocument/2006/relationships" id="264" r:id="R5f1566b91bcc4843"/>
    <p:sldId xmlns:r="http://schemas.openxmlformats.org/officeDocument/2006/relationships" id="265" r:id="Re25fc63232be4446"/>
    <p:sldId xmlns:r="http://schemas.openxmlformats.org/officeDocument/2006/relationships" id="266" r:id="Re812b619c699456a"/>
    <p:sldId xmlns:r="http://schemas.openxmlformats.org/officeDocument/2006/relationships" id="267" r:id="Rf46d382970844516"/>
    <p:sldId xmlns:r="http://schemas.openxmlformats.org/officeDocument/2006/relationships" id="268" r:id="Re8ddbd8c83ce4f44"/>
    <p:sldId xmlns:r="http://schemas.openxmlformats.org/officeDocument/2006/relationships" id="269" r:id="Raf9c44080cd444e9"/>
    <p:sldId xmlns:r="http://schemas.openxmlformats.org/officeDocument/2006/relationships" id="270" r:id="R8bb68b69646e4ac5"/>
    <p:sldId xmlns:r="http://schemas.openxmlformats.org/officeDocument/2006/relationships" id="271" r:id="Rb448d02026794338"/>
    <p:sldId xmlns:r="http://schemas.openxmlformats.org/officeDocument/2006/relationships" id="272" r:id="R4e86bec6488c4a01"/>
    <p:sldId xmlns:r="http://schemas.openxmlformats.org/officeDocument/2006/relationships" id="273" r:id="R21291e3d11de43f3"/>
    <p:sldId xmlns:r="http://schemas.openxmlformats.org/officeDocument/2006/relationships" id="274" r:id="Rd881c765acda4d7b"/>
    <p:sldId xmlns:r="http://schemas.openxmlformats.org/officeDocument/2006/relationships" id="275" r:id="R9940671876b4462c"/>
    <p:sldId xmlns:r="http://schemas.openxmlformats.org/officeDocument/2006/relationships" id="276" r:id="Re3f3c82d29104484"/>
    <p:sldId xmlns:r="http://schemas.openxmlformats.org/officeDocument/2006/relationships" id="277" r:id="Rd3bbb7b7f0b34bc7"/>
    <p:sldId xmlns:r="http://schemas.openxmlformats.org/officeDocument/2006/relationships" id="278" r:id="R52704adeeafb41af"/>
    <p:sldId xmlns:r="http://schemas.openxmlformats.org/officeDocument/2006/relationships" id="279" r:id="R7f5bd9da7759439e"/>
    <p:sldId xmlns:r="http://schemas.openxmlformats.org/officeDocument/2006/relationships" id="280" r:id="R2db0608d26ed49d0"/>
    <p:sldId xmlns:r="http://schemas.openxmlformats.org/officeDocument/2006/relationships" id="281" r:id="Racee5bf3f43848cd"/>
    <p:sldId xmlns:r="http://schemas.openxmlformats.org/officeDocument/2006/relationships" id="282" r:id="Rd8e46df276f84ea5"/>
    <p:sldId xmlns:r="http://schemas.openxmlformats.org/officeDocument/2006/relationships" id="283" r:id="Ra873ab29ab8f40c8"/>
    <p:sldId xmlns:r="http://schemas.openxmlformats.org/officeDocument/2006/relationships" id="284" r:id="R90599d50f0104aea"/>
    <p:sldId xmlns:r="http://schemas.openxmlformats.org/officeDocument/2006/relationships" id="285" r:id="Rdf2cf4ae4b394a27"/>
    <p:sldId xmlns:r="http://schemas.openxmlformats.org/officeDocument/2006/relationships" id="286" r:id="Raa36a57aa9c14149"/>
    <p:sldId xmlns:r="http://schemas.openxmlformats.org/officeDocument/2006/relationships" id="287" r:id="R2c3a9d5cd75c4b4f"/>
    <p:sldId xmlns:r="http://schemas.openxmlformats.org/officeDocument/2006/relationships" id="288" r:id="R7813e77704f5446f"/>
    <p:sldId xmlns:r="http://schemas.openxmlformats.org/officeDocument/2006/relationships" id="289" r:id="R9e746e7214a44b6c"/>
    <p:sldId xmlns:r="http://schemas.openxmlformats.org/officeDocument/2006/relationships" id="290" r:id="Rd1233733d8e04695"/>
    <p:sldId xmlns:r="http://schemas.openxmlformats.org/officeDocument/2006/relationships" id="291" r:id="R384c3103be974bf4"/>
    <p:sldId xmlns:r="http://schemas.openxmlformats.org/officeDocument/2006/relationships" id="292" r:id="R864e742fd13d4912"/>
  </p:sldIdLst>
  <p:sldSz cx="12192000" cy="6858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effa47541e41ca" /><Relationship Type="http://schemas.openxmlformats.org/officeDocument/2006/relationships/slideMaster" Target="/ppt/slideMasters/slideMaster1.xml" Id="Re6c05b4837f44a25" /><Relationship Type="http://schemas.openxmlformats.org/officeDocument/2006/relationships/presProps" Target="/ppt/presProps.xml" Id="R2db10fdfa7c64281" /><Relationship Type="http://schemas.openxmlformats.org/officeDocument/2006/relationships/tableStyles" Target="/ppt/tableStyles.xml" Id="R351d54de15fb4525" /><Relationship Type="http://schemas.openxmlformats.org/officeDocument/2006/relationships/slide" Target="/ppt/slides/slide1.xml" Id="Rd678f9b48f10419c" /><Relationship Type="http://schemas.openxmlformats.org/officeDocument/2006/relationships/slide" Target="/ppt/slides/slide2.xml" Id="Rd72e58cbaaac46ad" /><Relationship Type="http://schemas.openxmlformats.org/officeDocument/2006/relationships/slide" Target="/ppt/slides/slide3.xml" Id="Rba12577fd6ad4ca8" /><Relationship Type="http://schemas.openxmlformats.org/officeDocument/2006/relationships/slide" Target="/ppt/slides/slide4.xml" Id="R0b002977a9894bf3" /><Relationship Type="http://schemas.openxmlformats.org/officeDocument/2006/relationships/slide" Target="/ppt/slides/slide5.xml" Id="R4e6e27e73f884a20" /><Relationship Type="http://schemas.openxmlformats.org/officeDocument/2006/relationships/slide" Target="/ppt/slides/slide6.xml" Id="R6982ae83208f448e" /><Relationship Type="http://schemas.openxmlformats.org/officeDocument/2006/relationships/slide" Target="/ppt/slides/slide7.xml" Id="R6d461add509d4ee2" /><Relationship Type="http://schemas.openxmlformats.org/officeDocument/2006/relationships/slide" Target="/ppt/slides/slide8.xml" Id="R3627d08957fd4a9c" /><Relationship Type="http://schemas.openxmlformats.org/officeDocument/2006/relationships/slide" Target="/ppt/slides/slide9.xml" Id="R5f1566b91bcc4843" /><Relationship Type="http://schemas.openxmlformats.org/officeDocument/2006/relationships/slide" Target="/ppt/slides/slide10.xml" Id="Re25fc63232be4446" /><Relationship Type="http://schemas.openxmlformats.org/officeDocument/2006/relationships/slide" Target="/ppt/slides/slide11.xml" Id="Re812b619c699456a" /><Relationship Type="http://schemas.openxmlformats.org/officeDocument/2006/relationships/slide" Target="/ppt/slides/slide12.xml" Id="Rf46d382970844516" /><Relationship Type="http://schemas.openxmlformats.org/officeDocument/2006/relationships/slide" Target="/ppt/slides/slide13.xml" Id="Re8ddbd8c83ce4f44" /><Relationship Type="http://schemas.openxmlformats.org/officeDocument/2006/relationships/slide" Target="/ppt/slides/slide14.xml" Id="Raf9c44080cd444e9" /><Relationship Type="http://schemas.openxmlformats.org/officeDocument/2006/relationships/slide" Target="/ppt/slides/slide15.xml" Id="R8bb68b69646e4ac5" /><Relationship Type="http://schemas.openxmlformats.org/officeDocument/2006/relationships/slide" Target="/ppt/slides/slide16.xml" Id="Rb448d02026794338" /><Relationship Type="http://schemas.openxmlformats.org/officeDocument/2006/relationships/slide" Target="/ppt/slides/slide17.xml" Id="R4e86bec6488c4a01" /><Relationship Type="http://schemas.openxmlformats.org/officeDocument/2006/relationships/slide" Target="/ppt/slides/slide18.xml" Id="R21291e3d11de43f3" /><Relationship Type="http://schemas.openxmlformats.org/officeDocument/2006/relationships/slide" Target="/ppt/slides/slide19.xml" Id="Rd881c765acda4d7b" /><Relationship Type="http://schemas.openxmlformats.org/officeDocument/2006/relationships/slide" Target="/ppt/slides/slide20.xml" Id="R9940671876b4462c" /><Relationship Type="http://schemas.openxmlformats.org/officeDocument/2006/relationships/slide" Target="/ppt/slides/slide21.xml" Id="Re3f3c82d29104484" /><Relationship Type="http://schemas.openxmlformats.org/officeDocument/2006/relationships/slide" Target="/ppt/slides/slide22.xml" Id="Rd3bbb7b7f0b34bc7" /><Relationship Type="http://schemas.openxmlformats.org/officeDocument/2006/relationships/slide" Target="/ppt/slides/slide23.xml" Id="R52704adeeafb41af" /><Relationship Type="http://schemas.openxmlformats.org/officeDocument/2006/relationships/slide" Target="/ppt/slides/slide24.xml" Id="R7f5bd9da7759439e" /><Relationship Type="http://schemas.openxmlformats.org/officeDocument/2006/relationships/slide" Target="/ppt/slides/slide25.xml" Id="R2db0608d26ed49d0" /><Relationship Type="http://schemas.openxmlformats.org/officeDocument/2006/relationships/slide" Target="/ppt/slides/slide26.xml" Id="Racee5bf3f43848cd" /><Relationship Type="http://schemas.openxmlformats.org/officeDocument/2006/relationships/slide" Target="/ppt/slides/slide27.xml" Id="Rd8e46df276f84ea5" /><Relationship Type="http://schemas.openxmlformats.org/officeDocument/2006/relationships/slide" Target="/ppt/slides/slide28.xml" Id="Ra873ab29ab8f40c8" /><Relationship Type="http://schemas.openxmlformats.org/officeDocument/2006/relationships/slide" Target="/ppt/slides/slide29.xml" Id="R90599d50f0104aea" /><Relationship Type="http://schemas.openxmlformats.org/officeDocument/2006/relationships/slide" Target="/ppt/slides/slide30.xml" Id="Rdf2cf4ae4b394a27" /><Relationship Type="http://schemas.openxmlformats.org/officeDocument/2006/relationships/slide" Target="/ppt/slides/slide31.xml" Id="Raa36a57aa9c14149" /><Relationship Type="http://schemas.openxmlformats.org/officeDocument/2006/relationships/slide" Target="/ppt/slides/slide32.xml" Id="R2c3a9d5cd75c4b4f" /><Relationship Type="http://schemas.openxmlformats.org/officeDocument/2006/relationships/slide" Target="/ppt/slides/slide33.xml" Id="R7813e77704f5446f" /><Relationship Type="http://schemas.openxmlformats.org/officeDocument/2006/relationships/slide" Target="/ppt/slides/slide34.xml" Id="R9e746e7214a44b6c" /><Relationship Type="http://schemas.openxmlformats.org/officeDocument/2006/relationships/slide" Target="/ppt/slides/slide35.xml" Id="Rd1233733d8e04695" /><Relationship Type="http://schemas.openxmlformats.org/officeDocument/2006/relationships/slide" Target="/ppt/slides/slide36.xml" Id="R384c3103be974bf4" /><Relationship Type="http://schemas.openxmlformats.org/officeDocument/2006/relationships/slide" Target="/ppt/slides/slide37.xml" Id="R864e742fd13d4912"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18af65904b47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5be2faa37645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42229732614b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9e63381a584d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0607dd764244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28377c1c1146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1EBAB5-78BF-484A-9304-9B891199AB0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C5CDF84-A639-4F74-B93A-B03BEA08DB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D10812-A8CB-4779-9435-7CCD153532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A8B1E5-F26F-4CC0-BA15-2A109DC701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08DCB8-D1D9-4CBF-95A8-62E34DEC7C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8867BB-1DA6-4A94-A104-CF8EC203D8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5D054B-7AAC-40C0-AB92-882762961A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CF2550-EA8D-458D-AC01-CBD0D16424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BEBA73-9560-4D2C-8DFC-7FB5E18281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89C8BB-D06C-4E04-BF2A-BFE83501C3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7a72b14ac94b6f" /><Relationship Type="http://schemas.openxmlformats.org/officeDocument/2006/relationships/slideLayout" Target="/ppt/slideLayouts/slideLayout1.xml" Id="R31668cf0d59d49de" /><Relationship Type="http://schemas.openxmlformats.org/officeDocument/2006/relationships/slideLayout" Target="/ppt/slideLayouts/slideLayout2.xml" Id="R4769a055476d4741" /><Relationship Type="http://schemas.openxmlformats.org/officeDocument/2006/relationships/slideLayout" Target="/ppt/slideLayouts/slideLayout3.xml" Id="R0dafdedc735e436a" /><Relationship Type="http://schemas.openxmlformats.org/officeDocument/2006/relationships/slideLayout" Target="/ppt/slideLayouts/slideLayout4.xml" Id="Rcc283718b5254740" /><Relationship Type="http://schemas.openxmlformats.org/officeDocument/2006/relationships/slideLayout" Target="/ppt/slideLayouts/slideLayout5.xml" Id="R2c7c6dcaa9c64064" /><Relationship Type="http://schemas.openxmlformats.org/officeDocument/2006/relationships/slideLayout" Target="/ppt/slideLayouts/slideLayout6.xml" Id="R7ea0da73e13d4f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668cf0d59d49de"/>
    <p:sldLayoutId xmlns:r="http://schemas.openxmlformats.org/officeDocument/2006/relationships" id="2147483650" r:id="R4769a055476d4741"/>
    <p:sldLayoutId xmlns:r="http://schemas.openxmlformats.org/officeDocument/2006/relationships" id="2147483651" r:id="R0dafdedc735e436a"/>
    <p:sldLayoutId xmlns:r="http://schemas.openxmlformats.org/officeDocument/2006/relationships" id="2147483652" r:id="Rcc283718b5254740"/>
    <p:sldLayoutId xmlns:r="http://schemas.openxmlformats.org/officeDocument/2006/relationships" id="2147483653" r:id="R2c7c6dcaa9c64064"/>
    <p:sldLayoutId xmlns:r="http://schemas.openxmlformats.org/officeDocument/2006/relationships" id="2147483654" r:id="R7ea0da73e13d4f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f1688bd6e147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10a73341bf48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5decc8c29940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cd7bcc56b54a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f87f6c4de34c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21b070df65455e" /><Relationship Type="http://schemas.openxmlformats.org/officeDocument/2006/relationships/chart" Target="/ppt/slides/charts/chart1.xml" Id="R8e2c2a42ca574a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2c3415c21c417f" /><Relationship Type="http://schemas.openxmlformats.org/officeDocument/2006/relationships/chart" Target="/ppt/slides/charts/chart2.xml" Id="R841b642d8caa4e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6149c471494a57" /><Relationship Type="http://schemas.openxmlformats.org/officeDocument/2006/relationships/chart" Target="/ppt/slides/charts/chart3.xml" Id="R1bd887a907d54e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abaab0c3d04583" /><Relationship Type="http://schemas.openxmlformats.org/officeDocument/2006/relationships/chart" Target="/ppt/slides/charts/chart4.xml" Id="R2f0a88835b0e45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ff34475faf41af" /><Relationship Type="http://schemas.openxmlformats.org/officeDocument/2006/relationships/chart" Target="/ppt/slides/charts/chart5.xml" Id="R9d787190dc6d47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f7c8e177ecd4a38" /><Relationship Type="http://schemas.openxmlformats.org/officeDocument/2006/relationships/chart" Target="/ppt/slides/charts/chart6.xml" Id="R4011a4aa982c4f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1111c62cea5462f" /><Relationship Type="http://schemas.openxmlformats.org/officeDocument/2006/relationships/chart" Target="/ppt/slides/charts/chart7.xml" Id="Rb5fb0d8c004042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272a9f55f1e4f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cb19cfdcd3340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2579021da4540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89e5b06e12a4599" /><Relationship Type="http://schemas.openxmlformats.org/officeDocument/2006/relationships/chart" Target="/ppt/slides/charts/chart8.xml" Id="R82ceda70eb0d481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90c0d38e9be42bf" /><Relationship Type="http://schemas.openxmlformats.org/officeDocument/2006/relationships/chart" Target="/ppt/slides/charts/chart9.xml" Id="Rd12a4f265f7e45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4df12fa80474d86" /><Relationship Type="http://schemas.openxmlformats.org/officeDocument/2006/relationships/chart" Target="/ppt/slides/charts/chart10.xml" Id="Rc9a474940f8e49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640c6c57cf24be2" /><Relationship Type="http://schemas.openxmlformats.org/officeDocument/2006/relationships/chart" Target="/ppt/slides/charts/chart11.xml" Id="Rd8906f590dfc4c8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dea587be5454958" /><Relationship Type="http://schemas.openxmlformats.org/officeDocument/2006/relationships/chart" Target="/ppt/slides/charts/chart12.xml" Id="R3e73a658fdf846f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3cc6a4f7ad2422b" /><Relationship Type="http://schemas.openxmlformats.org/officeDocument/2006/relationships/chart" Target="/ppt/slides/charts/chart13.xml" Id="R5e209f1e9b644df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b659fc6352746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376c819fc1145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9707a1714d3495b" /><Relationship Type="http://schemas.openxmlformats.org/officeDocument/2006/relationships/chart" Target="/ppt/slides/charts/chart14.xml" Id="Rf6a7e3b1e9524cf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d5912f50afb4392" /><Relationship Type="http://schemas.openxmlformats.org/officeDocument/2006/relationships/chart" Target="/ppt/slides/charts/chart15.xml" Id="R90753b2fb9bf4bd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a69772d61314e08" /><Relationship Type="http://schemas.openxmlformats.org/officeDocument/2006/relationships/chart" Target="/ppt/slides/charts/chart16.xml" Id="R25faf066b5514de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e3c8468b5ae45aa" /><Relationship Type="http://schemas.openxmlformats.org/officeDocument/2006/relationships/chart" Target="/ppt/slides/charts/chart17.xml" Id="R9324ef8ec42045f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a05c9ce985949d5" /><Relationship Type="http://schemas.openxmlformats.org/officeDocument/2006/relationships/chart" Target="/ppt/slides/charts/chart18.xml" Id="Ra9a8a63bfdf84a5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3562cd9a6f642a4" /><Relationship Type="http://schemas.openxmlformats.org/officeDocument/2006/relationships/chart" Target="/ppt/slides/charts/chart19.xml" Id="Ra3816ca8785046d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429b02c3497444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e542739e9624f6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a9938e803234b5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0354e9d32154249" /><Relationship Type="http://schemas.openxmlformats.org/officeDocument/2006/relationships/chart" Target="/ppt/slides/charts/chart20.xml" Id="R43c131d99c8c44a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e180e28e0c746a5" /><Relationship Type="http://schemas.openxmlformats.org/officeDocument/2006/relationships/chart" Target="/ppt/slides/charts/chart21.xml" Id="Rf13aa5ef9bc5468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bb5de0ad5404273" /><Relationship Type="http://schemas.openxmlformats.org/officeDocument/2006/relationships/chart" Target="/ppt/slides/charts/chart22.xml" Id="Re2ea56dd10fc4fa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c63ebcded944cc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eb2182653234a2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_rels/chart20.xml.rels><Relationships xmlns="http://schemas.openxmlformats.org/package/2006/relationships"><Relationship Id="rIdChartSnapshot1" Type="http://schemas.openxmlformats.org/officeDocument/2006/relationships/package" Target="../../embeddings/chart-data-snapshot-020.xlsx"/></Relationships>
</file>

<file path=ppt/slides/charts/_rels/chart21.xml.rels><Relationships xmlns="http://schemas.openxmlformats.org/package/2006/relationships"><Relationship Id="rIdChartSnapshot1" Type="http://schemas.openxmlformats.org/officeDocument/2006/relationships/package" Target="../../embeddings/chart-data-snapshot-021.xlsx"/></Relationships>
</file>

<file path=ppt/slides/charts/_rels/chart22.xml.rels><Relationships xmlns="http://schemas.openxmlformats.org/package/2006/relationships"><Relationship Id="rIdChartSnapshot1" Type="http://schemas.openxmlformats.org/officeDocument/2006/relationships/package" Target="../../embeddings/chart-data-snapshot-02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Hot days minus milder days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Same month / week type</c:v>
          </c:tx>
          <c:spPr>
            <a:solidFill xmlns:a="http://schemas.openxmlformats.org/drawingml/2006/main">
              <a:srgbClr val="176DA5"/>
            </a:solidFill>
            <a:ln xmlns:a="http://schemas.openxmlformats.org/drawingml/2006/main" w="28575">
              <a:solidFill>
                <a:srgbClr val="176DA5"/>
              </a:solidFill>
              <a:prstDash val="solid"/>
            </a:ln>
          </c:spPr>
          <c:invertIfNegative val="0"/>
          <c:cat>
            <c:strRef>
              <c:f>'Chart Data'!$A$2:$A$4</c:f>
              <c:strCache>
                <c:ptCount val="3"/>
                <c:pt idx="0">
                  <c:v>A: BC demand</c:v>
                </c:pt>
                <c:pt idx="1">
                  <c:v>B: DOM demand</c:v>
                </c:pt>
                <c:pt idx="2">
                  <c:v>C: ComEd demand</c:v>
                </c:pt>
              </c:strCache>
            </c:strRef>
          </c:cat>
          <c:val>
            <c:numRef>
              <c:f>'Chart Data'!$B$2:$B$4</c:f>
              <c:numCache>
                <c:formatCode>0.00</c:formatCode>
                <c:ptCount val="3"/>
                <c:pt idx="0">
                  <c:v>0.97656942981151</c:v>
                </c:pt>
                <c:pt idx="1">
                  <c:v>1.7774012305854</c:v>
                </c:pt>
                <c:pt idx="2">
                  <c:v>2.2733278125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ax val="2.5"/>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Extra demand (GW)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Price forecast error: lower is better</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Price history</c:v>
          </c:tx>
          <c:spPr>
            <a:solidFill xmlns:a="http://schemas.openxmlformats.org/drawingml/2006/main">
              <a:srgbClr val="DCE2E7"/>
            </a:solidFill>
            <a:ln xmlns:a="http://schemas.openxmlformats.org/drawingml/2006/main" w="28575">
              <a:solidFill>
                <a:srgbClr val="DCE2E7"/>
              </a:solidFill>
              <a:prstDash val="solid"/>
            </a:ln>
          </c:spPr>
          <c:invertIfNegative val="0"/>
          <c:cat>
            <c:strRef>
              <c:f>'Chart Data'!$A$2:$A$4</c:f>
              <c:strCache>
                <c:ptCount val="3"/>
                <c:pt idx="0">
                  <c:v>A proxy</c:v>
                </c:pt>
                <c:pt idx="1">
                  <c:v>B bid</c:v>
                </c:pt>
                <c:pt idx="2">
                  <c:v>C NI Hub</c:v>
                </c:pt>
              </c:strCache>
            </c:strRef>
          </c:cat>
          <c:val>
            <c:numRef>
              <c:f>'Chart Data'!$B$2:$B$4</c:f>
              <c:numCache>
                <c:formatCode>0.0</c:formatCode>
                <c:ptCount val="3"/>
                <c:pt idx="0">
                  <c:v>53.123973775132</c:v>
                </c:pt>
                <c:pt idx="1">
                  <c:v>90.723222767939</c:v>
                </c:pt>
                <c:pt idx="2">
                  <c:v>65.274737608562</c:v>
                </c:pt>
              </c:numCache>
            </c:numRef>
          </c:val>
        </c:ser>
        <c:ser>
          <c:idx val="1"/>
          <c:order val="1"/>
          <c:tx>
            <c:v>+ weather</c:v>
          </c:tx>
          <c:spPr>
            <a:solidFill xmlns:a="http://schemas.openxmlformats.org/drawingml/2006/main">
              <a:srgbClr val="176DA5"/>
            </a:solidFill>
            <a:ln xmlns:a="http://schemas.openxmlformats.org/drawingml/2006/main" w="28575">
              <a:solidFill>
                <a:srgbClr val="176DA5"/>
              </a:solidFill>
              <a:prstDash val="solid"/>
            </a:ln>
          </c:spPr>
          <c:invertIfNegative val="0"/>
          <c:cat>
            <c:strRef>
              <c:f>'Chart Data'!$C$2:$C$4</c:f>
              <c:strCache>
                <c:ptCount val="3"/>
                <c:pt idx="0">
                  <c:v>A proxy</c:v>
                </c:pt>
                <c:pt idx="1">
                  <c:v>B bid</c:v>
                </c:pt>
                <c:pt idx="2">
                  <c:v>C NI Hub</c:v>
                </c:pt>
              </c:strCache>
            </c:strRef>
          </c:cat>
          <c:val>
            <c:numRef>
              <c:f>'Chart Data'!$D$2:$D$4</c:f>
              <c:numCache>
                <c:formatCode>0.0</c:formatCode>
                <c:ptCount val="3"/>
                <c:pt idx="0">
                  <c:v>51.188218020012</c:v>
                </c:pt>
                <c:pt idx="1">
                  <c:v>90.269985231647</c:v>
                </c:pt>
                <c:pt idx="2">
                  <c:v>51.435601807981</c:v>
                </c:pt>
              </c:numCache>
            </c:numRef>
          </c:val>
        </c:ser>
        <c:ser>
          <c:idx val="2"/>
          <c:order val="2"/>
          <c:tx>
            <c:v>+ demand</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Data'!$E$2:$E$4</c:f>
              <c:strCache>
                <c:ptCount val="3"/>
                <c:pt idx="0">
                  <c:v>A proxy</c:v>
                </c:pt>
                <c:pt idx="1">
                  <c:v>B bid</c:v>
                </c:pt>
                <c:pt idx="2">
                  <c:v>C NI Hub</c:v>
                </c:pt>
              </c:strCache>
            </c:strRef>
          </c:cat>
          <c:val>
            <c:numRef>
              <c:f>'Chart Data'!$F$2:$F$4</c:f>
              <c:numCache>
                <c:formatCode>0.0</c:formatCode>
                <c:ptCount val="3"/>
                <c:pt idx="0">
                  <c:v>48.308142231501</c:v>
                </c:pt>
                <c:pt idx="1">
                  <c:v>91.703371760407</c:v>
                </c:pt>
                <c:pt idx="2">
                  <c:v>53.334750871184</c:v>
                </c:pt>
              </c:numCache>
            </c:numRef>
          </c:val>
        </c:ser>
        <c:ser>
          <c:idx val="3"/>
          <c:order val="3"/>
          <c:tx>
            <c:v>+ both</c:v>
          </c:tx>
          <c:spPr>
            <a:solidFill xmlns:a="http://schemas.openxmlformats.org/drawingml/2006/main">
              <a:srgbClr val="15283B"/>
            </a:solidFill>
            <a:ln xmlns:a="http://schemas.openxmlformats.org/drawingml/2006/main" w="28575">
              <a:solidFill>
                <a:srgbClr val="15283B"/>
              </a:solidFill>
              <a:prstDash val="solid"/>
            </a:ln>
          </c:spPr>
          <c:invertIfNegative val="0"/>
          <c:cat>
            <c:strRef>
              <c:f>'Chart Data'!$G$2:$G$4</c:f>
              <c:strCache>
                <c:ptCount val="3"/>
                <c:pt idx="0">
                  <c:v>A proxy</c:v>
                </c:pt>
                <c:pt idx="1">
                  <c:v>B bid</c:v>
                </c:pt>
                <c:pt idx="2">
                  <c:v>C NI Hub</c:v>
                </c:pt>
              </c:strCache>
            </c:strRef>
          </c:cat>
          <c:val>
            <c:numRef>
              <c:f>'Chart Data'!$H$2:$H$4</c:f>
              <c:numCache>
                <c:formatCode>0.0</c:formatCode>
                <c:ptCount val="3"/>
                <c:pt idx="0">
                  <c:v>48.437881520473</c:v>
                </c:pt>
                <c:pt idx="1">
                  <c:v>91.078091863255</c:v>
                </c:pt>
                <c:pt idx="2">
                  <c:v>51.718626030562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ax val="100"/>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Error ($/MWh)</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Hours containing binding: time groups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2024</c:v>
          </c:tx>
          <c:spPr>
            <a:solidFill xmlns:a="http://schemas.openxmlformats.org/drawingml/2006/main">
              <a:srgbClr val="DCE2E7"/>
            </a:solidFill>
            <a:ln xmlns:a="http://schemas.openxmlformats.org/drawingml/2006/main" w="28575">
              <a:solidFill>
                <a:srgbClr val="DCE2E7"/>
              </a:solidFill>
              <a:prstDash val="solid"/>
            </a:ln>
          </c:spPr>
          <c:invertIfNegative val="0"/>
          <c:cat>
            <c:strRef>
              <c:f>'Chart Data'!$A$2:$A$7</c:f>
              <c:strCache>
                <c:ptCount val="6"/>
                <c:pt idx="0">
                  <c:v>Hour 20</c:v>
                </c:pt>
                <c:pt idx="1">
                  <c:v>Sun</c:v>
                </c:pt>
                <c:pt idx="2">
                  <c:v>Mon</c:v>
                </c:pt>
                <c:pt idx="3">
                  <c:v>Jan–Feb</c:v>
                </c:pt>
                <c:pt idx="4">
                  <c:v>Mar–May</c:v>
                </c:pt>
                <c:pt idx="5">
                  <c:v>Jun–Aug</c:v>
                </c:pt>
              </c:strCache>
            </c:strRef>
          </c:cat>
          <c:val>
            <c:numRef>
              <c:f>'Chart Data'!$B$2:$B$7</c:f>
              <c:numCache>
                <c:formatCode>0%</c:formatCode>
                <c:ptCount val="6"/>
                <c:pt idx="0">
                  <c:v>0.074074074074074</c:v>
                </c:pt>
                <c:pt idx="1">
                  <c:v>0.042929292929293</c:v>
                </c:pt>
                <c:pt idx="2">
                  <c:v>0.036904761904762</c:v>
                </c:pt>
                <c:pt idx="3">
                  <c:v>0</c:v>
                </c:pt>
                <c:pt idx="4">
                  <c:v>0.030677655677656</c:v>
                </c:pt>
                <c:pt idx="5">
                  <c:v>0.04981884057971</c:v>
                </c:pt>
              </c:numCache>
            </c:numRef>
          </c:val>
        </c:ser>
        <c:ser>
          <c:idx val="1"/>
          <c:order val="1"/>
          <c:tx>
            <c:v>2025</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Data'!$C$2:$C$7</c:f>
              <c:strCache>
                <c:ptCount val="6"/>
                <c:pt idx="0">
                  <c:v>Hour 20</c:v>
                </c:pt>
                <c:pt idx="1">
                  <c:v>Sun</c:v>
                </c:pt>
                <c:pt idx="2">
                  <c:v>Mon</c:v>
                </c:pt>
                <c:pt idx="3">
                  <c:v>Jan–Feb</c:v>
                </c:pt>
                <c:pt idx="4">
                  <c:v>Mar–May</c:v>
                </c:pt>
                <c:pt idx="5">
                  <c:v>Jun–Aug</c:v>
                </c:pt>
              </c:strCache>
            </c:strRef>
          </c:cat>
          <c:val>
            <c:numRef>
              <c:f>'Chart Data'!$D$2:$D$7</c:f>
              <c:numCache>
                <c:formatCode>0%</c:formatCode>
                <c:ptCount val="6"/>
                <c:pt idx="0">
                  <c:v>0.21487603305785</c:v>
                </c:pt>
                <c:pt idx="1">
                  <c:v>0.091911764705882</c:v>
                </c:pt>
                <c:pt idx="2">
                  <c:v>0.10049019607843</c:v>
                </c:pt>
                <c:pt idx="3">
                  <c:v>0.046610169491525</c:v>
                </c:pt>
                <c:pt idx="4">
                  <c:v>0.12271062271062</c:v>
                </c:pt>
                <c:pt idx="5">
                  <c:v>0.13903985507246</c:v>
                </c:pt>
              </c:numCache>
            </c:numRef>
          </c:val>
        </c:ser>
        <c:ser>
          <c:idx val="2"/>
          <c:order val="2"/>
          <c:tx>
            <c:v>2026</c:v>
          </c:tx>
          <c:spPr>
            <a:solidFill xmlns:a="http://schemas.openxmlformats.org/drawingml/2006/main">
              <a:srgbClr val="176DA5"/>
            </a:solidFill>
            <a:ln xmlns:a="http://schemas.openxmlformats.org/drawingml/2006/main" w="28575">
              <a:solidFill>
                <a:srgbClr val="176DA5"/>
              </a:solidFill>
              <a:prstDash val="solid"/>
            </a:ln>
          </c:spPr>
          <c:invertIfNegative val="0"/>
          <c:cat>
            <c:strRef>
              <c:f>'Chart Data'!$E$2:$E$7</c:f>
              <c:strCache>
                <c:ptCount val="6"/>
                <c:pt idx="0">
                  <c:v>Hour 20</c:v>
                </c:pt>
                <c:pt idx="1">
                  <c:v>Sun</c:v>
                </c:pt>
                <c:pt idx="2">
                  <c:v>Mon</c:v>
                </c:pt>
                <c:pt idx="3">
                  <c:v>Jan–Feb</c:v>
                </c:pt>
                <c:pt idx="4">
                  <c:v>Mar–May</c:v>
                </c:pt>
                <c:pt idx="5">
                  <c:v>Jun–Aug</c:v>
                </c:pt>
              </c:strCache>
            </c:strRef>
          </c:cat>
          <c:val>
            <c:numRef>
              <c:f>'Chart Data'!$F$2:$F$7</c:f>
              <c:numCache>
                <c:formatCode>0%</c:formatCode>
                <c:ptCount val="6"/>
                <c:pt idx="0">
                  <c:v>0.57438016528926</c:v>
                </c:pt>
                <c:pt idx="1">
                  <c:v>0.4656862745098</c:v>
                </c:pt>
                <c:pt idx="2">
                  <c:v>0.41071428571429</c:v>
                </c:pt>
                <c:pt idx="3">
                  <c:v>0.15466101694915</c:v>
                </c:pt>
                <c:pt idx="4">
                  <c:v>0.39789377289377</c:v>
                </c:pt>
                <c:pt idx="5">
                  <c:v>0.56521739130435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Share of eligible hours</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Demand: binding minus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Difference</c:v>
          </c:tx>
          <c:spPr>
            <a:solidFill xmlns:a="http://schemas.openxmlformats.org/drawingml/2006/main">
              <a:srgbClr val="176DA5"/>
            </a:solidFill>
            <a:ln xmlns:a="http://schemas.openxmlformats.org/drawingml/2006/main" w="28575">
              <a:solidFill>
                <a:srgbClr val="176DA5"/>
              </a:solidFill>
              <a:prstDash val="solid"/>
            </a:ln>
          </c:spPr>
          <c:invertIfNegative val="0"/>
          <c:cat>
            <c:strRef>
              <c:f>'Chart Data'!$A$2:$A$5</c:f>
              <c:strCache>
                <c:ptCount val="4"/>
                <c:pt idx="0">
                  <c:v>BC</c:v>
                </c:pt>
                <c:pt idx="1">
                  <c:v>PJM</c:v>
                </c:pt>
                <c:pt idx="2">
                  <c:v>MIDATL</c:v>
                </c:pt>
                <c:pt idx="3">
                  <c:v>DOM</c:v>
                </c:pt>
              </c:strCache>
            </c:strRef>
          </c:cat>
          <c:val>
            <c:numRef>
              <c:f>'Chart Data'!$B$2:$B$5</c:f>
              <c:numCache>
                <c:formatCode>0.000</c:formatCode>
                <c:ptCount val="4"/>
                <c:pt idx="0">
                  <c:v>0.10886084241582</c:v>
                </c:pt>
                <c:pt idx="1">
                  <c:v>2.5240068895389</c:v>
                </c:pt>
                <c:pt idx="2">
                  <c:v>0.360244516467</c:v>
                </c:pt>
                <c:pt idx="3">
                  <c:v>0.49032231743408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Difference in demand (GW)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Renewables: binding minus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Difference</c:v>
          </c:tx>
          <c:spPr>
            <a:solidFill xmlns:a="http://schemas.openxmlformats.org/drawingml/2006/main">
              <a:srgbClr val="176DA5"/>
            </a:solidFill>
            <a:ln xmlns:a="http://schemas.openxmlformats.org/drawingml/2006/main" w="28575">
              <a:solidFill>
                <a:srgbClr val="176DA5"/>
              </a:solidFill>
              <a:prstDash val="solid"/>
            </a:ln>
          </c:spPr>
          <c:invertIfNegative val="0"/>
          <c:cat>
            <c:strRef>
              <c:f>'Chart Data'!$A$2:$A$5</c:f>
              <c:strCache>
                <c:ptCount val="4"/>
                <c:pt idx="0">
                  <c:v>Solar level</c:v>
                </c:pt>
                <c:pt idx="1">
                  <c:v>1h change</c:v>
                </c:pt>
                <c:pt idx="2">
                  <c:v>3h change</c:v>
                </c:pt>
                <c:pt idx="3">
                  <c:v>WEST wind</c:v>
                </c:pt>
              </c:strCache>
            </c:strRef>
          </c:cat>
          <c:val>
            <c:numRef>
              <c:f>'Chart Data'!$B$2:$B$5</c:f>
              <c:numCache>
                <c:formatCode>0.0</c:formatCode>
                <c:ptCount val="4"/>
                <c:pt idx="0">
                  <c:v>-22.144420951463</c:v>
                </c:pt>
                <c:pt idx="1">
                  <c:v>3.8807980115255</c:v>
                </c:pt>
                <c:pt idx="2">
                  <c:v>10.495399364224</c:v>
                </c:pt>
                <c:pt idx="3">
                  <c:v>-358.62312140718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in val="-50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Difference (MW)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PJM fuel output and shares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Binding</c:v>
          </c:tx>
          <c:spPr>
            <a:solidFill xmlns:a="http://schemas.openxmlformats.org/drawingml/2006/main">
              <a:srgbClr val="176DA5"/>
            </a:solidFill>
            <a:ln xmlns:a="http://schemas.openxmlformats.org/drawingml/2006/main" w="28575">
              <a:solidFill>
                <a:srgbClr val="176DA5"/>
              </a:solidFill>
              <a:prstDash val="solid"/>
            </a:ln>
          </c:spPr>
          <c:invertIfNegative val="0"/>
          <c:cat>
            <c:strRef>
              <c:f>'Chart Data'!$A$2:$A$5</c:f>
              <c:strCache>
                <c:ptCount val="4"/>
                <c:pt idx="0">
                  <c:v>Gas
42.3%</c:v>
                </c:pt>
                <c:pt idx="1">
                  <c:v>Nuclear
31.0%</c:v>
                </c:pt>
                <c:pt idx="2">
                  <c:v>Coal
15.6%</c:v>
                </c:pt>
                <c:pt idx="3">
                  <c:v>Other
11.1%</c:v>
                </c:pt>
              </c:strCache>
            </c:strRef>
          </c:cat>
          <c:val>
            <c:numRef>
              <c:f>'Chart Data'!$B$2:$B$5</c:f>
              <c:numCache>
                <c:formatCode>0.0</c:formatCode>
                <c:ptCount val="4"/>
                <c:pt idx="0">
                  <c:v>43.471864833372</c:v>
                </c:pt>
                <c:pt idx="1">
                  <c:v>30.761186203682</c:v>
                </c:pt>
                <c:pt idx="2">
                  <c:v>16.272341412258</c:v>
                </c:pt>
                <c:pt idx="3">
                  <c:v>11.35741482172</c:v>
                </c:pt>
              </c:numCache>
            </c:numRef>
          </c:val>
        </c:ser>
        <c:ser>
          <c:idx val="1"/>
          <c:order val="1"/>
          <c:tx>
            <c:v>Similar hours</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Data'!$C$2:$C$5</c:f>
              <c:strCache>
                <c:ptCount val="4"/>
                <c:pt idx="0">
                  <c:v>Gas
42.3%</c:v>
                </c:pt>
                <c:pt idx="1">
                  <c:v>Nuclear
31.0%</c:v>
                </c:pt>
                <c:pt idx="2">
                  <c:v>Coal
15.6%</c:v>
                </c:pt>
                <c:pt idx="3">
                  <c:v>Other
11.1%</c:v>
                </c:pt>
              </c:strCache>
            </c:strRef>
          </c:cat>
          <c:val>
            <c:numRef>
              <c:f>'Chart Data'!$D$2:$D$5</c:f>
              <c:numCache>
                <c:formatCode>0.0</c:formatCode>
                <c:ptCount val="4"/>
                <c:pt idx="0">
                  <c:v>41.886772376569</c:v>
                </c:pt>
                <c:pt idx="1">
                  <c:v>30.674574836695</c:v>
                </c:pt>
                <c:pt idx="2">
                  <c:v>15.362515951918</c:v>
                </c:pt>
                <c:pt idx="3">
                  <c:v>11.606205695966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ax val="50"/>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Average output (GW)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Past prices: binding and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Binding</c:v>
          </c:tx>
          <c:spPr>
            <a:solidFill xmlns:a="http://schemas.openxmlformats.org/drawingml/2006/main">
              <a:srgbClr val="176DA5"/>
            </a:solidFill>
            <a:ln xmlns:a="http://schemas.openxmlformats.org/drawingml/2006/main" w="28575">
              <a:solidFill>
                <a:srgbClr val="176DA5"/>
              </a:solidFill>
              <a:prstDash val="solid"/>
            </a:ln>
          </c:spPr>
          <c:invertIfNegative val="0"/>
          <c:cat>
            <c:strRef>
              <c:f>'Chart Data'!$A$2:$A$5</c:f>
              <c:strCache>
                <c:ptCount val="4"/>
                <c:pt idx="0">
                  <c:v>DA total</c:v>
                </c:pt>
                <c:pt idx="1">
                  <c:v>DA cong.</c:v>
                </c:pt>
                <c:pt idx="2">
                  <c:v>RT total</c:v>
                </c:pt>
                <c:pt idx="3">
                  <c:v>RT cong.</c:v>
                </c:pt>
              </c:strCache>
            </c:strRef>
          </c:cat>
          <c:val>
            <c:numRef>
              <c:f>'Chart Data'!$B$2:$B$5</c:f>
              <c:numCache>
                <c:formatCode>0.0</c:formatCode>
                <c:ptCount val="4"/>
                <c:pt idx="0">
                  <c:v>22.452094216348</c:v>
                </c:pt>
                <c:pt idx="1">
                  <c:v>20.462440571728</c:v>
                </c:pt>
                <c:pt idx="2">
                  <c:v>26.837202588728</c:v>
                </c:pt>
                <c:pt idx="3">
                  <c:v>24.778459158361</c:v>
                </c:pt>
              </c:numCache>
            </c:numRef>
          </c:val>
        </c:ser>
        <c:ser>
          <c:idx val="1"/>
          <c:order val="1"/>
          <c:tx>
            <c:v>Similar hours</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Data'!$C$2:$C$5</c:f>
              <c:strCache>
                <c:ptCount val="4"/>
                <c:pt idx="0">
                  <c:v>DA total</c:v>
                </c:pt>
                <c:pt idx="1">
                  <c:v>DA cong.</c:v>
                </c:pt>
                <c:pt idx="2">
                  <c:v>RT total</c:v>
                </c:pt>
                <c:pt idx="3">
                  <c:v>RT cong.</c:v>
                </c:pt>
              </c:strCache>
            </c:strRef>
          </c:cat>
          <c:val>
            <c:numRef>
              <c:f>'Chart Data'!$D$2:$D$5</c:f>
              <c:numCache>
                <c:formatCode>0.0</c:formatCode>
                <c:ptCount val="4"/>
                <c:pt idx="0">
                  <c:v>12.325740743203</c:v>
                </c:pt>
                <c:pt idx="1">
                  <c:v>10.843844327595</c:v>
                </c:pt>
                <c:pt idx="2">
                  <c:v>7.9543601285544</c:v>
                </c:pt>
                <c:pt idx="3">
                  <c:v>6.3205442843247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Price difference ($/MWh)</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Hours containing binding: time groups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2024</c:v>
          </c:tx>
          <c:spPr>
            <a:solidFill xmlns:a="http://schemas.openxmlformats.org/drawingml/2006/main">
              <a:srgbClr val="DCE2E7"/>
            </a:solidFill>
            <a:ln xmlns:a="http://schemas.openxmlformats.org/drawingml/2006/main" w="28575">
              <a:solidFill>
                <a:srgbClr val="DCE2E7"/>
              </a:solidFill>
              <a:prstDash val="solid"/>
            </a:ln>
          </c:spPr>
          <c:invertIfNegative val="0"/>
          <c:cat>
            <c:strRef>
              <c:f>'Chart Data'!$A$2:$A$7</c:f>
              <c:strCache>
                <c:ptCount val="6"/>
                <c:pt idx="0">
                  <c:v>Hour 11</c:v>
                </c:pt>
                <c:pt idx="1">
                  <c:v>Tue</c:v>
                </c:pt>
                <c:pt idx="2">
                  <c:v>Sun</c:v>
                </c:pt>
                <c:pt idx="3">
                  <c:v>Jan–Feb</c:v>
                </c:pt>
                <c:pt idx="4">
                  <c:v>Mar–May</c:v>
                </c:pt>
                <c:pt idx="5">
                  <c:v>Jun–Aug</c:v>
                </c:pt>
              </c:strCache>
            </c:strRef>
          </c:cat>
          <c:val>
            <c:numRef>
              <c:f>'Chart Data'!$B$2:$B$7</c:f>
              <c:numCache>
                <c:formatCode>0%</c:formatCode>
                <c:ptCount val="6"/>
                <c:pt idx="0">
                  <c:v>0.21399176954733</c:v>
                </c:pt>
                <c:pt idx="1">
                  <c:v>0.072619047619048</c:v>
                </c:pt>
                <c:pt idx="2">
                  <c:v>0.060606060606061</c:v>
                </c:pt>
                <c:pt idx="3">
                  <c:v>0.045833333333333</c:v>
                </c:pt>
                <c:pt idx="4">
                  <c:v>0.066391941391941</c:v>
                </c:pt>
                <c:pt idx="5">
                  <c:v>0.06838768115942</c:v>
                </c:pt>
              </c:numCache>
            </c:numRef>
          </c:val>
        </c:ser>
        <c:ser>
          <c:idx val="1"/>
          <c:order val="1"/>
          <c:tx>
            <c:v>2025</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Data'!$C$2:$C$7</c:f>
              <c:strCache>
                <c:ptCount val="6"/>
                <c:pt idx="0">
                  <c:v>Hour 11</c:v>
                </c:pt>
                <c:pt idx="1">
                  <c:v>Tue</c:v>
                </c:pt>
                <c:pt idx="2">
                  <c:v>Sun</c:v>
                </c:pt>
                <c:pt idx="3">
                  <c:v>Jan–Feb</c:v>
                </c:pt>
                <c:pt idx="4">
                  <c:v>Mar–May</c:v>
                </c:pt>
                <c:pt idx="5">
                  <c:v>Jun–Aug</c:v>
                </c:pt>
              </c:strCache>
            </c:strRef>
          </c:cat>
          <c:val>
            <c:numRef>
              <c:f>'Chart Data'!$D$2:$D$7</c:f>
              <c:numCache>
                <c:formatCode>0%</c:formatCode>
                <c:ptCount val="6"/>
                <c:pt idx="0">
                  <c:v>0.24380165289256</c:v>
                </c:pt>
                <c:pt idx="1">
                  <c:v>0.11029411764706</c:v>
                </c:pt>
                <c:pt idx="2">
                  <c:v>0.067401960784314</c:v>
                </c:pt>
                <c:pt idx="3">
                  <c:v>0.078389830508474</c:v>
                </c:pt>
                <c:pt idx="4">
                  <c:v>0.16804029304029</c:v>
                </c:pt>
                <c:pt idx="5">
                  <c:v>0.034873188405797</c:v>
                </c:pt>
              </c:numCache>
            </c:numRef>
          </c:val>
        </c:ser>
        <c:ser>
          <c:idx val="2"/>
          <c:order val="2"/>
          <c:tx>
            <c:v>2026</c:v>
          </c:tx>
          <c:spPr>
            <a:solidFill xmlns:a="http://schemas.openxmlformats.org/drawingml/2006/main">
              <a:srgbClr val="B07016"/>
            </a:solidFill>
            <a:ln xmlns:a="http://schemas.openxmlformats.org/drawingml/2006/main" w="28575">
              <a:solidFill>
                <a:srgbClr val="B07016"/>
              </a:solidFill>
              <a:prstDash val="solid"/>
            </a:ln>
          </c:spPr>
          <c:invertIfNegative val="0"/>
          <c:cat>
            <c:strRef>
              <c:f>'Chart Data'!$E$2:$E$7</c:f>
              <c:strCache>
                <c:ptCount val="6"/>
                <c:pt idx="0">
                  <c:v>Hour 11</c:v>
                </c:pt>
                <c:pt idx="1">
                  <c:v>Tue</c:v>
                </c:pt>
                <c:pt idx="2">
                  <c:v>Sun</c:v>
                </c:pt>
                <c:pt idx="3">
                  <c:v>Jan–Feb</c:v>
                </c:pt>
                <c:pt idx="4">
                  <c:v>Mar–May</c:v>
                </c:pt>
                <c:pt idx="5">
                  <c:v>Jun–Aug</c:v>
                </c:pt>
              </c:strCache>
            </c:strRef>
          </c:cat>
          <c:val>
            <c:numRef>
              <c:f>'Chart Data'!$F$2:$F$7</c:f>
              <c:numCache>
                <c:formatCode>0%</c:formatCode>
                <c:ptCount val="6"/>
                <c:pt idx="0">
                  <c:v>0.12396694214876</c:v>
                </c:pt>
                <c:pt idx="1">
                  <c:v>0.044117647058823</c:v>
                </c:pt>
                <c:pt idx="2">
                  <c:v>0.01593137254902</c:v>
                </c:pt>
                <c:pt idx="3">
                  <c:v>0.041666666666667</c:v>
                </c:pt>
                <c:pt idx="4">
                  <c:v>0.021978021978022</c:v>
                </c:pt>
                <c:pt idx="5">
                  <c:v>0.028532608695652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Share of eligible hours</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Demand: binding minus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Difference</c:v>
          </c:tx>
          <c:spPr>
            <a:solidFill xmlns:a="http://schemas.openxmlformats.org/drawingml/2006/main">
              <a:srgbClr val="B07016"/>
            </a:solidFill>
            <a:ln xmlns:a="http://schemas.openxmlformats.org/drawingml/2006/main" w="28575">
              <a:solidFill>
                <a:srgbClr val="B07016"/>
              </a:solidFill>
              <a:prstDash val="solid"/>
            </a:ln>
          </c:spPr>
          <c:invertIfNegative val="0"/>
          <c:cat>
            <c:strRef>
              <c:f>'Chart Data'!$A$2:$A$4</c:f>
              <c:strCache>
                <c:ptCount val="3"/>
                <c:pt idx="0">
                  <c:v>DOM</c:v>
                </c:pt>
                <c:pt idx="1">
                  <c:v>PJM</c:v>
                </c:pt>
                <c:pt idx="2">
                  <c:v>MIDATL</c:v>
                </c:pt>
              </c:strCache>
            </c:strRef>
          </c:cat>
          <c:val>
            <c:numRef>
              <c:f>'Chart Data'!$B$2:$B$4</c:f>
              <c:numCache>
                <c:formatCode>0.000</c:formatCode>
                <c:ptCount val="3"/>
                <c:pt idx="0">
                  <c:v>0.42229333073719</c:v>
                </c:pt>
                <c:pt idx="1">
                  <c:v>3.7808592789113</c:v>
                </c:pt>
                <c:pt idx="2">
                  <c:v>1.9588472843701</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Difference in demand (GW)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Renewables: binding minus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Difference</c:v>
          </c:tx>
          <c:spPr>
            <a:solidFill xmlns:a="http://schemas.openxmlformats.org/drawingml/2006/main">
              <a:srgbClr val="B07016"/>
            </a:solidFill>
            <a:ln xmlns:a="http://schemas.openxmlformats.org/drawingml/2006/main" w="28575">
              <a:solidFill>
                <a:srgbClr val="B07016"/>
              </a:solidFill>
              <a:prstDash val="solid"/>
            </a:ln>
          </c:spPr>
          <c:invertIfNegative val="0"/>
          <c:cat>
            <c:strRef>
              <c:f>'Chart Data'!$A$2:$A$5</c:f>
              <c:strCache>
                <c:ptCount val="4"/>
                <c:pt idx="0">
                  <c:v>Solar level</c:v>
                </c:pt>
                <c:pt idx="1">
                  <c:v>1h change</c:v>
                </c:pt>
                <c:pt idx="2">
                  <c:v>3h change</c:v>
                </c:pt>
                <c:pt idx="3">
                  <c:v>WEST wind</c:v>
                </c:pt>
              </c:strCache>
            </c:strRef>
          </c:cat>
          <c:val>
            <c:numRef>
              <c:f>'Chart Data'!$B$2:$B$5</c:f>
              <c:numCache>
                <c:formatCode>0.0</c:formatCode>
                <c:ptCount val="4"/>
                <c:pt idx="0">
                  <c:v>412.67461773429</c:v>
                </c:pt>
                <c:pt idx="1">
                  <c:v>-0.57367911123998</c:v>
                </c:pt>
                <c:pt idx="2">
                  <c:v>105.33970791539</c:v>
                </c:pt>
                <c:pt idx="3">
                  <c:v>408.70585180151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Difference (MW)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PJM fuel output and shares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Binding</c:v>
          </c:tx>
          <c:spPr>
            <a:solidFill xmlns:a="http://schemas.openxmlformats.org/drawingml/2006/main">
              <a:srgbClr val="B07016"/>
            </a:solidFill>
            <a:ln xmlns:a="http://schemas.openxmlformats.org/drawingml/2006/main" w="28575">
              <a:solidFill>
                <a:srgbClr val="B07016"/>
              </a:solidFill>
              <a:prstDash val="solid"/>
            </a:ln>
          </c:spPr>
          <c:invertIfNegative val="0"/>
          <c:cat>
            <c:strRef>
              <c:f>'Chart Data'!$A$2:$A$5</c:f>
              <c:strCache>
                <c:ptCount val="4"/>
                <c:pt idx="0">
                  <c:v>Gas
41.1%</c:v>
                </c:pt>
                <c:pt idx="1">
                  <c:v>Nuclear
29.9%</c:v>
                </c:pt>
                <c:pt idx="2">
                  <c:v>Coal
15.4%</c:v>
                </c:pt>
                <c:pt idx="3">
                  <c:v>Other
13.5%</c:v>
                </c:pt>
              </c:strCache>
            </c:strRef>
          </c:cat>
          <c:val>
            <c:numRef>
              <c:f>'Chart Data'!$B$2:$B$5</c:f>
              <c:numCache>
                <c:formatCode>0.0</c:formatCode>
                <c:ptCount val="4"/>
                <c:pt idx="0">
                  <c:v>43.568114601019</c:v>
                </c:pt>
                <c:pt idx="1">
                  <c:v>30.87324533107</c:v>
                </c:pt>
                <c:pt idx="2">
                  <c:v>16.638977079796</c:v>
                </c:pt>
                <c:pt idx="3">
                  <c:v>14.111308998302</c:v>
                </c:pt>
              </c:numCache>
            </c:numRef>
          </c:val>
        </c:ser>
        <c:ser>
          <c:idx val="1"/>
          <c:order val="1"/>
          <c:tx>
            <c:v>Similar hours</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Data'!$C$2:$C$5</c:f>
              <c:strCache>
                <c:ptCount val="4"/>
                <c:pt idx="0">
                  <c:v>Gas
41.1%</c:v>
                </c:pt>
                <c:pt idx="1">
                  <c:v>Nuclear
29.9%</c:v>
                </c:pt>
                <c:pt idx="2">
                  <c:v>Coal
15.4%</c:v>
                </c:pt>
                <c:pt idx="3">
                  <c:v>Other
13.5%</c:v>
                </c:pt>
              </c:strCache>
            </c:strRef>
          </c:cat>
          <c:val>
            <c:numRef>
              <c:f>'Chart Data'!$D$2:$D$5</c:f>
              <c:numCache>
                <c:formatCode>0.0</c:formatCode>
                <c:ptCount val="4"/>
                <c:pt idx="0">
                  <c:v>41.92032457015</c:v>
                </c:pt>
                <c:pt idx="1">
                  <c:v>30.935536843886</c:v>
                </c:pt>
                <c:pt idx="2">
                  <c:v>15.955280442405</c:v>
                </c:pt>
                <c:pt idx="3">
                  <c:v>13.049387270644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ax val="50"/>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Average output (GW)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Past prices: binding and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Binding</c:v>
          </c:tx>
          <c:spPr>
            <a:solidFill xmlns:a="http://schemas.openxmlformats.org/drawingml/2006/main">
              <a:srgbClr val="B07016"/>
            </a:solidFill>
            <a:ln xmlns:a="http://schemas.openxmlformats.org/drawingml/2006/main" w="28575">
              <a:solidFill>
                <a:srgbClr val="B07016"/>
              </a:solidFill>
              <a:prstDash val="solid"/>
            </a:ln>
          </c:spPr>
          <c:invertIfNegative val="0"/>
          <c:cat>
            <c:strRef>
              <c:f>'Chart Data'!$A$2:$A$5</c:f>
              <c:strCache>
                <c:ptCount val="4"/>
                <c:pt idx="0">
                  <c:v>DA total</c:v>
                </c:pt>
                <c:pt idx="1">
                  <c:v>DA cong.</c:v>
                </c:pt>
                <c:pt idx="2">
                  <c:v>RT total</c:v>
                </c:pt>
                <c:pt idx="3">
                  <c:v>RT cong.</c:v>
                </c:pt>
              </c:strCache>
            </c:strRef>
          </c:cat>
          <c:val>
            <c:numRef>
              <c:f>'Chart Data'!$B$2:$B$5</c:f>
              <c:numCache>
                <c:formatCode>0.0</c:formatCode>
                <c:ptCount val="4"/>
                <c:pt idx="0">
                  <c:v>15.166644377759</c:v>
                </c:pt>
                <c:pt idx="1">
                  <c:v>13.764750979626</c:v>
                </c:pt>
                <c:pt idx="2">
                  <c:v>21.771779466044</c:v>
                </c:pt>
                <c:pt idx="3">
                  <c:v>20.348969971138</c:v>
                </c:pt>
              </c:numCache>
            </c:numRef>
          </c:val>
        </c:ser>
        <c:ser>
          <c:idx val="1"/>
          <c:order val="1"/>
          <c:tx>
            <c:v>Similar hours</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Data'!$C$2:$C$5</c:f>
              <c:strCache>
                <c:ptCount val="4"/>
                <c:pt idx="0">
                  <c:v>DA total</c:v>
                </c:pt>
                <c:pt idx="1">
                  <c:v>DA cong.</c:v>
                </c:pt>
                <c:pt idx="2">
                  <c:v>RT total</c:v>
                </c:pt>
                <c:pt idx="3">
                  <c:v>RT cong.</c:v>
                </c:pt>
              </c:strCache>
            </c:strRef>
          </c:cat>
          <c:val>
            <c:numRef>
              <c:f>'Chart Data'!$D$2:$D$5</c:f>
              <c:numCache>
                <c:formatCode>0.0</c:formatCode>
                <c:ptCount val="4"/>
                <c:pt idx="0">
                  <c:v>8.9384963435982</c:v>
                </c:pt>
                <c:pt idx="1">
                  <c:v>7.7316347109766</c:v>
                </c:pt>
                <c:pt idx="2">
                  <c:v>8.5551725511013</c:v>
                </c:pt>
                <c:pt idx="3">
                  <c:v>7.5572645120021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Price difference ($/MWh)</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Extra congestion price in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Day-ahead</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Data'!$A$2:$A$5</c:f>
              <c:strCache>
                <c:ptCount val="4"/>
                <c:pt idx="0">
                  <c:v>ACCA</c:v>
                </c:pt>
                <c:pt idx="1">
                  <c:v>BASIN</c:v>
                </c:pt>
                <c:pt idx="2">
                  <c:v>BELLWOOD</c:v>
                </c:pt>
                <c:pt idx="3">
                  <c:v>DOM region</c:v>
                </c:pt>
              </c:strCache>
            </c:strRef>
          </c:cat>
          <c:val>
            <c:numRef>
              <c:f>'Chart Data'!$B$2:$B$5</c:f>
              <c:numCache>
                <c:formatCode>0.0</c:formatCode>
                <c:ptCount val="4"/>
                <c:pt idx="0">
                  <c:v>2.1136708009259</c:v>
                </c:pt>
                <c:pt idx="1">
                  <c:v>3.1653573088624</c:v>
                </c:pt>
                <c:pt idx="2">
                  <c:v>4.0442065152116</c:v>
                </c:pt>
                <c:pt idx="3">
                  <c:v>3.8121227678571</c:v>
                </c:pt>
              </c:numCache>
            </c:numRef>
          </c:val>
        </c:ser>
        <c:ser>
          <c:idx val="1"/>
          <c:order val="1"/>
          <c:tx>
            <c:v>Real-time</c:v>
          </c:tx>
          <c:spPr>
            <a:solidFill xmlns:a="http://schemas.openxmlformats.org/drawingml/2006/main">
              <a:srgbClr val="B07016"/>
            </a:solidFill>
            <a:ln xmlns:a="http://schemas.openxmlformats.org/drawingml/2006/main" w="28575">
              <a:solidFill>
                <a:srgbClr val="B07016"/>
              </a:solidFill>
              <a:prstDash val="solid"/>
            </a:ln>
          </c:spPr>
          <c:invertIfNegative val="0"/>
          <c:cat>
            <c:strRef>
              <c:f>'Chart Data'!$C$2:$C$5</c:f>
              <c:strCache>
                <c:ptCount val="4"/>
                <c:pt idx="0">
                  <c:v>ACCA</c:v>
                </c:pt>
                <c:pt idx="1">
                  <c:v>BASIN</c:v>
                </c:pt>
                <c:pt idx="2">
                  <c:v>BELLWOOD</c:v>
                </c:pt>
                <c:pt idx="3">
                  <c:v>DOM region</c:v>
                </c:pt>
              </c:strCache>
            </c:strRef>
          </c:cat>
          <c:val>
            <c:numRef>
              <c:f>'Chart Data'!$D$2:$D$5</c:f>
              <c:numCache>
                <c:formatCode>0.0</c:formatCode>
                <c:ptCount val="4"/>
                <c:pt idx="0">
                  <c:v>19.632914273148</c:v>
                </c:pt>
                <c:pt idx="1">
                  <c:v>26.114977765212</c:v>
                </c:pt>
                <c:pt idx="2">
                  <c:v>24.905010833995</c:v>
                </c:pt>
                <c:pt idx="3">
                  <c:v>9.4177024332011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Extra difference ($/MWh)</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Hours containing binding: time groups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2024</c:v>
          </c:tx>
          <c:spPr>
            <a:solidFill xmlns:a="http://schemas.openxmlformats.org/drawingml/2006/main">
              <a:srgbClr val="DCE2E7"/>
            </a:solidFill>
            <a:ln xmlns:a="http://schemas.openxmlformats.org/drawingml/2006/main" w="28575">
              <a:solidFill>
                <a:srgbClr val="DCE2E7"/>
              </a:solidFill>
              <a:prstDash val="solid"/>
            </a:ln>
          </c:spPr>
          <c:invertIfNegative val="0"/>
          <c:cat>
            <c:strRef>
              <c:f>'Chart Data'!$A$2:$A$7</c:f>
              <c:strCache>
                <c:ptCount val="6"/>
                <c:pt idx="0">
                  <c:v>Hour 06</c:v>
                </c:pt>
                <c:pt idx="1">
                  <c:v>Sun</c:v>
                </c:pt>
                <c:pt idx="2">
                  <c:v>Mon</c:v>
                </c:pt>
                <c:pt idx="3">
                  <c:v>Jan–Feb</c:v>
                </c:pt>
                <c:pt idx="4">
                  <c:v>Mar–May</c:v>
                </c:pt>
                <c:pt idx="5">
                  <c:v>Jun–Aug</c:v>
                </c:pt>
              </c:strCache>
            </c:strRef>
          </c:cat>
          <c:val>
            <c:numRef>
              <c:f>'Chart Data'!$B$2:$B$7</c:f>
              <c:numCache>
                <c:formatCode>0%</c:formatCode>
                <c:ptCount val="6"/>
                <c:pt idx="0">
                  <c:v>0.16460905349794</c:v>
                </c:pt>
                <c:pt idx="1">
                  <c:v>0.070707070707071</c:v>
                </c:pt>
                <c:pt idx="2">
                  <c:v>0.063095238095238</c:v>
                </c:pt>
                <c:pt idx="3">
                  <c:v>0.0076388888888888</c:v>
                </c:pt>
                <c:pt idx="4">
                  <c:v>0.0096153846153846</c:v>
                </c:pt>
                <c:pt idx="5">
                  <c:v>0.17889492753623</c:v>
                </c:pt>
              </c:numCache>
            </c:numRef>
          </c:val>
        </c:ser>
        <c:ser>
          <c:idx val="1"/>
          <c:order val="1"/>
          <c:tx>
            <c:v>2025</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Data'!$C$2:$C$7</c:f>
              <c:strCache>
                <c:ptCount val="6"/>
                <c:pt idx="0">
                  <c:v>Hour 06</c:v>
                </c:pt>
                <c:pt idx="1">
                  <c:v>Sun</c:v>
                </c:pt>
                <c:pt idx="2">
                  <c:v>Mon</c:v>
                </c:pt>
                <c:pt idx="3">
                  <c:v>Jan–Feb</c:v>
                </c:pt>
                <c:pt idx="4">
                  <c:v>Mar–May</c:v>
                </c:pt>
                <c:pt idx="5">
                  <c:v>Jun–Aug</c:v>
                </c:pt>
              </c:strCache>
            </c:strRef>
          </c:cat>
          <c:val>
            <c:numRef>
              <c:f>'Chart Data'!$D$2:$D$7</c:f>
              <c:numCache>
                <c:formatCode>0%</c:formatCode>
                <c:ptCount val="6"/>
                <c:pt idx="0">
                  <c:v>0.3099173553719</c:v>
                </c:pt>
                <c:pt idx="1">
                  <c:v>0.26102941176471</c:v>
                </c:pt>
                <c:pt idx="2">
                  <c:v>0.23529411764706</c:v>
                </c:pt>
                <c:pt idx="3">
                  <c:v>0.36228813559322</c:v>
                </c:pt>
                <c:pt idx="4">
                  <c:v>0.2797619047619</c:v>
                </c:pt>
                <c:pt idx="5">
                  <c:v>0.032155797101449</c:v>
                </c:pt>
              </c:numCache>
            </c:numRef>
          </c:val>
        </c:ser>
        <c:ser>
          <c:idx val="2"/>
          <c:order val="2"/>
          <c:tx>
            <c:v>2026</c:v>
          </c:tx>
          <c:spPr>
            <a:solidFill xmlns:a="http://schemas.openxmlformats.org/drawingml/2006/main">
              <a:srgbClr val="7051A1"/>
            </a:solidFill>
            <a:ln xmlns:a="http://schemas.openxmlformats.org/drawingml/2006/main" w="28575">
              <a:solidFill>
                <a:srgbClr val="7051A1"/>
              </a:solidFill>
              <a:prstDash val="solid"/>
            </a:ln>
          </c:spPr>
          <c:invertIfNegative val="0"/>
          <c:cat>
            <c:strRef>
              <c:f>'Chart Data'!$E$2:$E$7</c:f>
              <c:strCache>
                <c:ptCount val="6"/>
                <c:pt idx="0">
                  <c:v>Hour 06</c:v>
                </c:pt>
                <c:pt idx="1">
                  <c:v>Sun</c:v>
                </c:pt>
                <c:pt idx="2">
                  <c:v>Mon</c:v>
                </c:pt>
                <c:pt idx="3">
                  <c:v>Jan–Feb</c:v>
                </c:pt>
                <c:pt idx="4">
                  <c:v>Mar–May</c:v>
                </c:pt>
                <c:pt idx="5">
                  <c:v>Jun–Aug</c:v>
                </c:pt>
              </c:strCache>
            </c:strRef>
          </c:cat>
          <c:val>
            <c:numRef>
              <c:f>'Chart Data'!$F$2:$F$7</c:f>
              <c:numCache>
                <c:formatCode>0%</c:formatCode>
                <c:ptCount val="6"/>
                <c:pt idx="0">
                  <c:v>0.55371900826446</c:v>
                </c:pt>
                <c:pt idx="1">
                  <c:v>0.51960784313725</c:v>
                </c:pt>
                <c:pt idx="2">
                  <c:v>0.3797619047619</c:v>
                </c:pt>
                <c:pt idx="3">
                  <c:v>0.50282485875706</c:v>
                </c:pt>
                <c:pt idx="4">
                  <c:v>0.45512820512821</c:v>
                </c:pt>
                <c:pt idx="5">
                  <c:v>0.17119565217391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Share of eligible hours</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Demand: binding minus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Difference</c:v>
          </c:tx>
          <c:spPr>
            <a:solidFill xmlns:a="http://schemas.openxmlformats.org/drawingml/2006/main">
              <a:srgbClr val="7051A1"/>
            </a:solidFill>
            <a:ln xmlns:a="http://schemas.openxmlformats.org/drawingml/2006/main" w="28575">
              <a:solidFill>
                <a:srgbClr val="7051A1"/>
              </a:solidFill>
              <a:prstDash val="solid"/>
            </a:ln>
          </c:spPr>
          <c:invertIfNegative val="0"/>
          <c:cat>
            <c:strRef>
              <c:f>'Chart Data'!$A$2:$A$4</c:f>
              <c:strCache>
                <c:ptCount val="3"/>
                <c:pt idx="0">
                  <c:v>COMED</c:v>
                </c:pt>
                <c:pt idx="1">
                  <c:v>PJM</c:v>
                </c:pt>
                <c:pt idx="2">
                  <c:v>MIDATL</c:v>
                </c:pt>
              </c:strCache>
            </c:strRef>
          </c:cat>
          <c:val>
            <c:numRef>
              <c:f>'Chart Data'!$B$2:$B$4</c:f>
              <c:numCache>
                <c:formatCode>0.000</c:formatCode>
                <c:ptCount val="3"/>
                <c:pt idx="0">
                  <c:v>-0.059621048485157</c:v>
                </c:pt>
                <c:pt idx="1">
                  <c:v>2.8044995269728</c:v>
                </c:pt>
                <c:pt idx="2">
                  <c:v>1.244957871504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Difference in demand (GW)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Renewables: binding minus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Difference</c:v>
          </c:tx>
          <c:spPr>
            <a:solidFill xmlns:a="http://schemas.openxmlformats.org/drawingml/2006/main">
              <a:srgbClr val="7051A1"/>
            </a:solidFill>
            <a:ln xmlns:a="http://schemas.openxmlformats.org/drawingml/2006/main" w="28575">
              <a:solidFill>
                <a:srgbClr val="7051A1"/>
              </a:solidFill>
              <a:prstDash val="solid"/>
            </a:ln>
          </c:spPr>
          <c:invertIfNegative val="0"/>
          <c:cat>
            <c:strRef>
              <c:f>'Chart Data'!$A$2:$A$5</c:f>
              <c:strCache>
                <c:ptCount val="4"/>
                <c:pt idx="0">
                  <c:v>Solar level</c:v>
                </c:pt>
                <c:pt idx="1">
                  <c:v>1h change</c:v>
                </c:pt>
                <c:pt idx="2">
                  <c:v>3h change</c:v>
                </c:pt>
                <c:pt idx="3">
                  <c:v>WEST wind</c:v>
                </c:pt>
              </c:strCache>
            </c:strRef>
          </c:cat>
          <c:val>
            <c:numRef>
              <c:f>'Chart Data'!$B$2:$B$5</c:f>
              <c:numCache>
                <c:formatCode>0.0</c:formatCode>
                <c:ptCount val="4"/>
                <c:pt idx="0">
                  <c:v>-40.484872282632</c:v>
                </c:pt>
                <c:pt idx="1">
                  <c:v>-11.265792898231</c:v>
                </c:pt>
                <c:pt idx="2">
                  <c:v>-39.768308310201</c:v>
                </c:pt>
                <c:pt idx="3">
                  <c:v>788.37472750296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Difference (MW)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PJM fuel output and shares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Binding</c:v>
          </c:tx>
          <c:spPr>
            <a:solidFill xmlns:a="http://schemas.openxmlformats.org/drawingml/2006/main">
              <a:srgbClr val="7051A1"/>
            </a:solidFill>
            <a:ln xmlns:a="http://schemas.openxmlformats.org/drawingml/2006/main" w="28575">
              <a:solidFill>
                <a:srgbClr val="7051A1"/>
              </a:solidFill>
              <a:prstDash val="solid"/>
            </a:ln>
          </c:spPr>
          <c:invertIfNegative val="0"/>
          <c:cat>
            <c:strRef>
              <c:f>'Chart Data'!$A$2:$A$5</c:f>
              <c:strCache>
                <c:ptCount val="4"/>
                <c:pt idx="0">
                  <c:v>Gas
41.1%</c:v>
                </c:pt>
                <c:pt idx="1">
                  <c:v>Nuclear
32.0%</c:v>
                </c:pt>
                <c:pt idx="2">
                  <c:v>Coal
16.4%</c:v>
                </c:pt>
                <c:pt idx="3">
                  <c:v>Other
10.5%</c:v>
                </c:pt>
              </c:strCache>
            </c:strRef>
          </c:cat>
          <c:val>
            <c:numRef>
              <c:f>'Chart Data'!$B$2:$B$5</c:f>
              <c:numCache>
                <c:formatCode>0.0</c:formatCode>
                <c:ptCount val="4"/>
                <c:pt idx="0">
                  <c:v>40.807137709433</c:v>
                </c:pt>
                <c:pt idx="1">
                  <c:v>31.146349322929</c:v>
                </c:pt>
                <c:pt idx="2">
                  <c:v>16.537268074363</c:v>
                </c:pt>
                <c:pt idx="3">
                  <c:v>10.362165939867</c:v>
                </c:pt>
              </c:numCache>
            </c:numRef>
          </c:val>
        </c:ser>
        <c:ser>
          <c:idx val="1"/>
          <c:order val="1"/>
          <c:tx>
            <c:v>Similar hours</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Data'!$C$2:$C$5</c:f>
              <c:strCache>
                <c:ptCount val="4"/>
                <c:pt idx="0">
                  <c:v>Gas
41.1%</c:v>
                </c:pt>
                <c:pt idx="1">
                  <c:v>Nuclear
32.0%</c:v>
                </c:pt>
                <c:pt idx="2">
                  <c:v>Coal
16.4%</c:v>
                </c:pt>
                <c:pt idx="3">
                  <c:v>Other
10.5%</c:v>
                </c:pt>
              </c:strCache>
            </c:strRef>
          </c:cat>
          <c:val>
            <c:numRef>
              <c:f>'Chart Data'!$D$2:$D$5</c:f>
              <c:numCache>
                <c:formatCode>0.0</c:formatCode>
                <c:ptCount val="4"/>
                <c:pt idx="0">
                  <c:v>40.195189086763</c:v>
                </c:pt>
                <c:pt idx="1">
                  <c:v>31.094079466939</c:v>
                </c:pt>
                <c:pt idx="2">
                  <c:v>16.046596218164</c:v>
                </c:pt>
                <c:pt idx="3">
                  <c:v>9.5095753102207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max val="50"/>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Average output (GW)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Past prices: binding and similar hours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barChart>
        <c:barDir val="col"/>
        <c:grouping val="clustered"/>
        <c:varyColors val="0"/>
        <c:ser>
          <c:idx val="0"/>
          <c:order val="0"/>
          <c:tx>
            <c:v>Binding</c:v>
          </c:tx>
          <c:spPr>
            <a:solidFill xmlns:a="http://schemas.openxmlformats.org/drawingml/2006/main">
              <a:srgbClr val="7051A1"/>
            </a:solidFill>
            <a:ln xmlns:a="http://schemas.openxmlformats.org/drawingml/2006/main" w="28575">
              <a:solidFill>
                <a:srgbClr val="7051A1"/>
              </a:solidFill>
              <a:prstDash val="solid"/>
            </a:ln>
          </c:spPr>
          <c:invertIfNegative val="0"/>
          <c:cat>
            <c:strRef>
              <c:f>'Chart Data'!$A$2:$A$5</c:f>
              <c:strCache>
                <c:ptCount val="4"/>
                <c:pt idx="0">
                  <c:v>DA total</c:v>
                </c:pt>
                <c:pt idx="1">
                  <c:v>DA cong.</c:v>
                </c:pt>
                <c:pt idx="2">
                  <c:v>RT total</c:v>
                </c:pt>
                <c:pt idx="3">
                  <c:v>RT cong.</c:v>
                </c:pt>
              </c:strCache>
            </c:strRef>
          </c:cat>
          <c:val>
            <c:numRef>
              <c:f>'Chart Data'!$B$2:$B$5</c:f>
              <c:numCache>
                <c:formatCode>0.0</c:formatCode>
                <c:ptCount val="4"/>
                <c:pt idx="0">
                  <c:v>-32.607195748911</c:v>
                </c:pt>
                <c:pt idx="1">
                  <c:v>-26.946989932814</c:v>
                </c:pt>
                <c:pt idx="2">
                  <c:v>-43.00481954116</c:v>
                </c:pt>
                <c:pt idx="3">
                  <c:v>-37.969821517771</c:v>
                </c:pt>
              </c:numCache>
            </c:numRef>
          </c:val>
        </c:ser>
        <c:ser>
          <c:idx val="1"/>
          <c:order val="1"/>
          <c:tx>
            <c:v>Similar hours</c:v>
          </c:tx>
          <c:spPr>
            <a:solidFill xmlns:a="http://schemas.openxmlformats.org/drawingml/2006/main">
              <a:srgbClr val="8D9AA5"/>
            </a:solidFill>
            <a:ln xmlns:a="http://schemas.openxmlformats.org/drawingml/2006/main" w="28575">
              <a:solidFill>
                <a:srgbClr val="8D9AA5"/>
              </a:solidFill>
              <a:prstDash val="solid"/>
            </a:ln>
          </c:spPr>
          <c:invertIfNegative val="0"/>
          <c:cat>
            <c:strRef>
              <c:f>'Chart Data'!$C$2:$C$5</c:f>
              <c:strCache>
                <c:ptCount val="4"/>
                <c:pt idx="0">
                  <c:v>DA total</c:v>
                </c:pt>
                <c:pt idx="1">
                  <c:v>DA cong.</c:v>
                </c:pt>
                <c:pt idx="2">
                  <c:v>RT total</c:v>
                </c:pt>
                <c:pt idx="3">
                  <c:v>RT cong.</c:v>
                </c:pt>
              </c:strCache>
            </c:strRef>
          </c:cat>
          <c:val>
            <c:numRef>
              <c:f>'Chart Data'!$D$2:$D$5</c:f>
              <c:numCache>
                <c:formatCode>0.0</c:formatCode>
                <c:ptCount val="4"/>
                <c:pt idx="0">
                  <c:v>-15.976595855986</c:v>
                </c:pt>
                <c:pt idx="1">
                  <c:v>-12.048549193501</c:v>
                </c:pt>
                <c:pt idx="2">
                  <c:v>-10.664300931547</c:v>
                </c:pt>
                <c:pt idx="3">
                  <c:v>-7.6229209211506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650">
                  <a:solidFill>
                    <a:srgbClr val="566777"/>
                  </a:solidFill>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catAx>
      <c:valAx>
        <c:axId val="48672768"/>
        <c:scaling>
          <c:orientation val="minMax"/>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Price difference ($/MWh)</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Windy weather brings more wind output</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scatterChart>
        <c:scatterStyle val="marker"/>
        <c:varyColors val="0"/>
        <c:ser>
          <c:idx val="0"/>
          <c:order val="0"/>
          <c:tx>
            <c:v>2024</c:v>
          </c:tx>
          <c:spPr>
            <a:solidFill xmlns:a="http://schemas.openxmlformats.org/drawingml/2006/main">
              <a:srgbClr val="DCE2E7"/>
            </a:solidFill>
            <a:ln xmlns:a="http://schemas.openxmlformats.org/drawingml/2006/main" w="0">
              <a:noFill/>
            </a:ln>
          </c:spPr>
          <c:marker>
            <c:symbol val="circle"/>
            <c:size val="3"/>
          </c:marker>
          <c:xVal>
            <c:numRef>
              <c:f>'Chart Data'!$A$2:$A$365</c:f>
              <c:numCache>
                <c:formatCode>General</c:formatCode>
                <c:ptCount val="364"/>
                <c:pt idx="0">
                  <c:v>13.233963650055</c:v>
                </c:pt>
                <c:pt idx="1">
                  <c:v>11.507794481713</c:v>
                </c:pt>
                <c:pt idx="2">
                  <c:v>4.7469652241259</c:v>
                </c:pt>
                <c:pt idx="3">
                  <c:v>8.0554561366397</c:v>
                </c:pt>
                <c:pt idx="4">
                  <c:v>4.4592703618035</c:v>
                </c:pt>
                <c:pt idx="5">
                  <c:v>6.760829260383</c:v>
                </c:pt>
                <c:pt idx="6">
                  <c:v>7.0485241227054</c:v>
                </c:pt>
                <c:pt idx="7">
                  <c:v>5.1785075134153</c:v>
                </c:pt>
                <c:pt idx="8">
                  <c:v>12.658573928206</c:v>
                </c:pt>
                <c:pt idx="9">
                  <c:v>14.672437964463</c:v>
                </c:pt>
                <c:pt idx="10">
                  <c:v>8.3431509989621</c:v>
                </c:pt>
                <c:pt idx="11">
                  <c:v>11.507794481713</c:v>
                </c:pt>
                <c:pt idx="12">
                  <c:v>16.830149424891</c:v>
                </c:pt>
                <c:pt idx="13">
                  <c:v>18.556318601622</c:v>
                </c:pt>
                <c:pt idx="14">
                  <c:v>11.795489341239</c:v>
                </c:pt>
                <c:pt idx="15">
                  <c:v>14.528590529108</c:v>
                </c:pt>
                <c:pt idx="16">
                  <c:v>13.665505942141</c:v>
                </c:pt>
                <c:pt idx="17">
                  <c:v>5.7538972436525</c:v>
                </c:pt>
                <c:pt idx="18">
                  <c:v>13.8093533747</c:v>
                </c:pt>
                <c:pt idx="19">
                  <c:v>11.363947049153</c:v>
                </c:pt>
                <c:pt idx="20">
                  <c:v>5.3223549459746</c:v>
                </c:pt>
                <c:pt idx="21">
                  <c:v>11.795489338443</c:v>
                </c:pt>
                <c:pt idx="22">
                  <c:v>4.6031177915666</c:v>
                </c:pt>
                <c:pt idx="23">
                  <c:v>3.0207960501913</c:v>
                </c:pt>
                <c:pt idx="24">
                  <c:v>6.7608292575868</c:v>
                </c:pt>
                <c:pt idx="25">
                  <c:v>9.4939304482519</c:v>
                </c:pt>
                <c:pt idx="26">
                  <c:v>3.4523383450731</c:v>
                </c:pt>
                <c:pt idx="27">
                  <c:v>13.377811088207</c:v>
                </c:pt>
                <c:pt idx="28">
                  <c:v>9.2062355859294</c:v>
                </c:pt>
                <c:pt idx="29">
                  <c:v>10.500862462186</c:v>
                </c:pt>
                <c:pt idx="30">
                  <c:v>6.4731343952644</c:v>
                </c:pt>
                <c:pt idx="31">
                  <c:v>9.7816253133705</c:v>
                </c:pt>
                <c:pt idx="32">
                  <c:v>12.227031636121</c:v>
                </c:pt>
                <c:pt idx="33">
                  <c:v>4.8908126538891</c:v>
                </c:pt>
                <c:pt idx="34">
                  <c:v>6.4731343980605</c:v>
                </c:pt>
                <c:pt idx="35">
                  <c:v>9.637777878015</c:v>
                </c:pt>
                <c:pt idx="36">
                  <c:v>5.7538972408564</c:v>
                </c:pt>
                <c:pt idx="37">
                  <c:v>2.7331011878689</c:v>
                </c:pt>
                <c:pt idx="38">
                  <c:v>11.939336768206</c:v>
                </c:pt>
                <c:pt idx="39">
                  <c:v>11.507794480115</c:v>
                </c:pt>
                <c:pt idx="40">
                  <c:v>6.473134389672</c:v>
                </c:pt>
                <c:pt idx="41">
                  <c:v>6.4731343980605</c:v>
                </c:pt>
                <c:pt idx="42">
                  <c:v>3.5961857748362</c:v>
                </c:pt>
                <c:pt idx="43">
                  <c:v>6.6169818278237</c:v>
                </c:pt>
                <c:pt idx="44">
                  <c:v>1.1507794492897</c:v>
                </c:pt>
                <c:pt idx="45">
                  <c:v>10.357015035219</c:v>
                </c:pt>
                <c:pt idx="46">
                  <c:v>9.4939304482519</c:v>
                </c:pt>
                <c:pt idx="47">
                  <c:v>13.665505947733</c:v>
                </c:pt>
                <c:pt idx="48">
                  <c:v>15.679369981194</c:v>
                </c:pt>
                <c:pt idx="49">
                  <c:v>1.1507794492897</c:v>
                </c:pt>
                <c:pt idx="50">
                  <c:v>4.6031177915666</c:v>
                </c:pt>
                <c:pt idx="51">
                  <c:v>8.7746932938439</c:v>
                </c:pt>
                <c:pt idx="52">
                  <c:v>5.3223549459746</c:v>
                </c:pt>
                <c:pt idx="53">
                  <c:v>11.651641911476</c:v>
                </c:pt>
                <c:pt idx="54">
                  <c:v>15.391675116075</c:v>
                </c:pt>
                <c:pt idx="55">
                  <c:v>10.500862462186</c:v>
                </c:pt>
                <c:pt idx="56">
                  <c:v>6.6169818278237</c:v>
                </c:pt>
                <c:pt idx="57">
                  <c:v>14.240895669582</c:v>
                </c:pt>
                <c:pt idx="58">
                  <c:v>16.542454565365</c:v>
                </c:pt>
                <c:pt idx="59">
                  <c:v>8.0554561366397</c:v>
                </c:pt>
                <c:pt idx="60">
                  <c:v>9.2062355887256</c:v>
                </c:pt>
                <c:pt idx="61">
                  <c:v>5.8977446706195</c:v>
                </c:pt>
                <c:pt idx="62">
                  <c:v>12.802421357969</c:v>
                </c:pt>
                <c:pt idx="63">
                  <c:v>9.7816253105743</c:v>
                </c:pt>
                <c:pt idx="64">
                  <c:v>15.535522548634</c:v>
                </c:pt>
                <c:pt idx="65">
                  <c:v>11.651641911476</c:v>
                </c:pt>
                <c:pt idx="66">
                  <c:v>8.1993035636066</c:v>
                </c:pt>
                <c:pt idx="67">
                  <c:v>8.4869984343176</c:v>
                </c:pt>
                <c:pt idx="68">
                  <c:v>12.227031633325</c:v>
                </c:pt>
                <c:pt idx="69">
                  <c:v>7.480066414791</c:v>
                </c:pt>
                <c:pt idx="70">
                  <c:v>10.788557321712</c:v>
                </c:pt>
                <c:pt idx="71">
                  <c:v>7.7677612799096</c:v>
                </c:pt>
                <c:pt idx="72">
                  <c:v>11.363947049153</c:v>
                </c:pt>
                <c:pt idx="73">
                  <c:v>14.097048239818</c:v>
                </c:pt>
                <c:pt idx="74">
                  <c:v>9.2062355831333</c:v>
                </c:pt>
                <c:pt idx="75">
                  <c:v>12.227031633325</c:v>
                </c:pt>
                <c:pt idx="76">
                  <c:v>11.795489341239</c:v>
                </c:pt>
                <c:pt idx="77">
                  <c:v>12.514726492851</c:v>
                </c:pt>
                <c:pt idx="78">
                  <c:v>10.069320167304</c:v>
                </c:pt>
                <c:pt idx="79">
                  <c:v>2.3015588957833</c:v>
                </c:pt>
                <c:pt idx="80">
                  <c:v>9.6377778836073</c:v>
                </c:pt>
                <c:pt idx="81">
                  <c:v>12.946268790529</c:v>
                </c:pt>
                <c:pt idx="82">
                  <c:v>10.357015035219</c:v>
                </c:pt>
                <c:pt idx="83">
                  <c:v>12.227031636121</c:v>
                </c:pt>
                <c:pt idx="84">
                  <c:v>17.980928879773</c:v>
                </c:pt>
                <c:pt idx="85">
                  <c:v>16.110912276076</c:v>
                </c:pt>
                <c:pt idx="86">
                  <c:v>5.0346600864484</c:v>
                </c:pt>
                <c:pt idx="87">
                  <c:v>4.3154229320404</c:v>
                </c:pt>
                <c:pt idx="88">
                  <c:v>4.6031177943628</c:v>
                </c:pt>
                <c:pt idx="89">
                  <c:v>10.932404754272</c:v>
                </c:pt>
                <c:pt idx="90">
                  <c:v>11.363947054746</c:v>
                </c:pt>
                <c:pt idx="91">
                  <c:v>13.090116217496</c:v>
                </c:pt>
                <c:pt idx="92">
                  <c:v>13.090116220292</c:v>
                </c:pt>
                <c:pt idx="93">
                  <c:v>13.665505942141</c:v>
                </c:pt>
                <c:pt idx="94">
                  <c:v>8.4869984287253</c:v>
                </c:pt>
                <c:pt idx="95">
                  <c:v>4.6031177915666</c:v>
                </c:pt>
                <c:pt idx="96">
                  <c:v>6.1854395357381</c:v>
                </c:pt>
                <c:pt idx="97">
                  <c:v>8.199303569199</c:v>
                </c:pt>
                <c:pt idx="98">
                  <c:v>7.1923715552647</c:v>
                </c:pt>
                <c:pt idx="99">
                  <c:v>3.7400332045993</c:v>
                </c:pt>
                <c:pt idx="100">
                  <c:v>7.4800664119948</c:v>
                </c:pt>
                <c:pt idx="101">
                  <c:v>10.357015035219</c:v>
                </c:pt>
                <c:pt idx="102">
                  <c:v>7.7677612771134</c:v>
                </c:pt>
                <c:pt idx="103">
                  <c:v>15.103980256549</c:v>
                </c:pt>
                <c:pt idx="104">
                  <c:v>8.6308458640807</c:v>
                </c:pt>
                <c:pt idx="105">
                  <c:v>8.4869984315214</c:v>
                </c:pt>
                <c:pt idx="106">
                  <c:v>14.240895666785</c:v>
                </c:pt>
                <c:pt idx="107">
                  <c:v>7.3362189822317</c:v>
                </c:pt>
                <c:pt idx="108">
                  <c:v>12.514726498443</c:v>
                </c:pt>
                <c:pt idx="109">
                  <c:v>12.370879065884</c:v>
                </c:pt>
                <c:pt idx="110">
                  <c:v>7.3362189850279</c:v>
                </c:pt>
                <c:pt idx="111">
                  <c:v>8.9185407264032</c:v>
                </c:pt>
                <c:pt idx="112">
                  <c:v>15.679369978398</c:v>
                </c:pt>
                <c:pt idx="113">
                  <c:v>18.41247116347</c:v>
                </c:pt>
                <c:pt idx="114">
                  <c:v>3.4523383450731</c:v>
                </c:pt>
                <c:pt idx="115">
                  <c:v>9.6377778808112</c:v>
                </c:pt>
                <c:pt idx="116">
                  <c:v>12.946268784936</c:v>
                </c:pt>
                <c:pt idx="117">
                  <c:v>8.4869984315214</c:v>
                </c:pt>
                <c:pt idx="118">
                  <c:v>8.7746932910477</c:v>
                </c:pt>
                <c:pt idx="119">
                  <c:v>4.7469652213298</c:v>
                </c:pt>
                <c:pt idx="120">
                  <c:v>11.076252192423</c:v>
                </c:pt>
                <c:pt idx="121">
                  <c:v>7.1923715468762</c:v>
                </c:pt>
                <c:pt idx="122">
                  <c:v>3.8838806371586</c:v>
                </c:pt>
                <c:pt idx="123">
                  <c:v>5.8977446678233</c:v>
                </c:pt>
                <c:pt idx="124">
                  <c:v>8.7746932910477</c:v>
                </c:pt>
                <c:pt idx="125">
                  <c:v>4.6031177943628</c:v>
                </c:pt>
                <c:pt idx="126">
                  <c:v>9.7816253077781</c:v>
                </c:pt>
                <c:pt idx="127">
                  <c:v>5.8977446706195</c:v>
                </c:pt>
                <c:pt idx="128">
                  <c:v>9.4939304482519</c:v>
                </c:pt>
                <c:pt idx="129">
                  <c:v>4.8908126566852</c:v>
                </c:pt>
                <c:pt idx="130">
                  <c:v>8.4869984259291</c:v>
                </c:pt>
                <c:pt idx="131">
                  <c:v>2.5892537581057</c:v>
                </c:pt>
                <c:pt idx="132">
                  <c:v>11.22009961939</c:v>
                </c:pt>
                <c:pt idx="133">
                  <c:v>8.6308458612846</c:v>
                </c:pt>
                <c:pt idx="134">
                  <c:v>11.939336771002</c:v>
                </c:pt>
                <c:pt idx="135">
                  <c:v>4.0277280697179</c:v>
                </c:pt>
                <c:pt idx="136">
                  <c:v>4.6031177887705</c:v>
                </c:pt>
                <c:pt idx="137">
                  <c:v>1.2946268790529</c:v>
                </c:pt>
                <c:pt idx="138">
                  <c:v>6.760829260383</c:v>
                </c:pt>
                <c:pt idx="139">
                  <c:v>4.0277280641256</c:v>
                </c:pt>
                <c:pt idx="140">
                  <c:v>8.199303569199</c:v>
                </c:pt>
                <c:pt idx="141">
                  <c:v>19.131708323471</c:v>
                </c:pt>
                <c:pt idx="142">
                  <c:v>6.4731343980605</c:v>
                </c:pt>
                <c:pt idx="143">
                  <c:v>6.3292869655012</c:v>
                </c:pt>
                <c:pt idx="144">
                  <c:v>9.7816253077781</c:v>
                </c:pt>
                <c:pt idx="145">
                  <c:v>5.8977446734157</c:v>
                </c:pt>
                <c:pt idx="146">
                  <c:v>10.500862462186</c:v>
                </c:pt>
                <c:pt idx="147">
                  <c:v>5.7538972408564</c:v>
                </c:pt>
                <c:pt idx="148">
                  <c:v>9.4939304454557</c:v>
                </c:pt>
                <c:pt idx="149">
                  <c:v>5.0346600864484</c:v>
                </c:pt>
                <c:pt idx="150">
                  <c:v>2.7331011878689</c:v>
                </c:pt>
                <c:pt idx="151">
                  <c:v>6.1854395329419</c:v>
                </c:pt>
                <c:pt idx="152">
                  <c:v>7.9116087068766</c:v>
                </c:pt>
                <c:pt idx="153">
                  <c:v>4.6031177915666</c:v>
                </c:pt>
                <c:pt idx="154">
                  <c:v>7.6239138473503</c:v>
                </c:pt>
                <c:pt idx="155">
                  <c:v>8.6308458584884</c:v>
                </c:pt>
                <c:pt idx="156">
                  <c:v>7.480066414791</c:v>
                </c:pt>
                <c:pt idx="157">
                  <c:v>8.0554561366397</c:v>
                </c:pt>
                <c:pt idx="158">
                  <c:v>0.43154229208557</c:v>
                </c:pt>
                <c:pt idx="159">
                  <c:v>7.7677612771134</c:v>
                </c:pt>
                <c:pt idx="160">
                  <c:v>10.644709894745</c:v>
                </c:pt>
                <c:pt idx="161">
                  <c:v>3.3084909125138</c:v>
                </c:pt>
                <c:pt idx="162">
                  <c:v>7.7677612743172</c:v>
                </c:pt>
                <c:pt idx="163">
                  <c:v>8.3431509989621</c:v>
                </c:pt>
                <c:pt idx="164">
                  <c:v>4.6031177915666</c:v>
                </c:pt>
                <c:pt idx="165">
                  <c:v>6.7608292575868</c:v>
                </c:pt>
                <c:pt idx="166">
                  <c:v>10.500862462186</c:v>
                </c:pt>
                <c:pt idx="167">
                  <c:v>7.9116087040804</c:v>
                </c:pt>
                <c:pt idx="168">
                  <c:v>14.097048239818</c:v>
                </c:pt>
                <c:pt idx="169">
                  <c:v>10.357015038015</c:v>
                </c:pt>
                <c:pt idx="170">
                  <c:v>7.3362189822317</c:v>
                </c:pt>
                <c:pt idx="171">
                  <c:v>3.0207960501913</c:v>
                </c:pt>
                <c:pt idx="172">
                  <c:v>7.7677612743172</c:v>
                </c:pt>
                <c:pt idx="173">
                  <c:v>8.199303569199</c:v>
                </c:pt>
                <c:pt idx="174">
                  <c:v>2.876948617632</c:v>
                </c:pt>
                <c:pt idx="175">
                  <c:v>16.542454568161</c:v>
                </c:pt>
                <c:pt idx="176">
                  <c:v>7.3362189850279</c:v>
                </c:pt>
                <c:pt idx="177">
                  <c:v>11.363947049153</c:v>
                </c:pt>
                <c:pt idx="178">
                  <c:v>7.1923715496724</c:v>
                </c:pt>
                <c:pt idx="179">
                  <c:v>7.1923715524685</c:v>
                </c:pt>
                <c:pt idx="180">
                  <c:v>11.939336773798</c:v>
                </c:pt>
                <c:pt idx="181">
                  <c:v>5.1785075162115</c:v>
                </c:pt>
                <c:pt idx="182">
                  <c:v>10.069320170101</c:v>
                </c:pt>
                <c:pt idx="183">
                  <c:v>9.0623881561663</c:v>
                </c:pt>
                <c:pt idx="184">
                  <c:v>3.0207960473951</c:v>
                </c:pt>
                <c:pt idx="185">
                  <c:v>6.3292869655012</c:v>
                </c:pt>
                <c:pt idx="186">
                  <c:v>5.4662023785339</c:v>
                </c:pt>
                <c:pt idx="187">
                  <c:v>2.3015588929871</c:v>
                </c:pt>
                <c:pt idx="188">
                  <c:v>5.7538972380602</c:v>
                </c:pt>
                <c:pt idx="189">
                  <c:v>3.8838806343625</c:v>
                </c:pt>
                <c:pt idx="190">
                  <c:v>9.0623881533701</c:v>
                </c:pt>
                <c:pt idx="191">
                  <c:v>3.59618577204</c:v>
                </c:pt>
                <c:pt idx="192">
                  <c:v>5.1785075162115</c:v>
                </c:pt>
                <c:pt idx="193">
                  <c:v>5.3223549459746</c:v>
                </c:pt>
                <c:pt idx="194">
                  <c:v>7.1923715524685</c:v>
                </c:pt>
                <c:pt idx="195">
                  <c:v>4.7469652213298</c:v>
                </c:pt>
                <c:pt idx="196">
                  <c:v>7.3362189794355</c:v>
                </c:pt>
                <c:pt idx="197">
                  <c:v>5.6100498082971</c:v>
                </c:pt>
                <c:pt idx="198">
                  <c:v>10.500862464982</c:v>
                </c:pt>
                <c:pt idx="199">
                  <c:v>4.6031177943628</c:v>
                </c:pt>
                <c:pt idx="200">
                  <c:v>2.876948617632</c:v>
                </c:pt>
                <c:pt idx="201">
                  <c:v>2.3015588929871</c:v>
                </c:pt>
                <c:pt idx="202">
                  <c:v>5.3223549487708</c:v>
                </c:pt>
                <c:pt idx="203">
                  <c:v>2.0138640334609</c:v>
                </c:pt>
                <c:pt idx="204">
                  <c:v>4.1715754994811</c:v>
                </c:pt>
                <c:pt idx="205">
                  <c:v>4.8908126566852</c:v>
                </c:pt>
                <c:pt idx="206">
                  <c:v>2.4454063227503</c:v>
                </c:pt>
                <c:pt idx="207">
                  <c:v>2.1577114660202</c:v>
                </c:pt>
                <c:pt idx="208">
                  <c:v>5.0346600864484</c:v>
                </c:pt>
                <c:pt idx="209">
                  <c:v>5.8977446706195</c:v>
                </c:pt>
                <c:pt idx="210">
                  <c:v>3.0207960473951</c:v>
                </c:pt>
                <c:pt idx="211">
                  <c:v>5.3223549459746</c:v>
                </c:pt>
                <c:pt idx="212">
                  <c:v>3.4523383422769</c:v>
                </c:pt>
                <c:pt idx="213">
                  <c:v>6.6169818306198</c:v>
                </c:pt>
                <c:pt idx="214">
                  <c:v>4.1715754994811</c:v>
                </c:pt>
                <c:pt idx="215">
                  <c:v>2.3015588929871</c:v>
                </c:pt>
                <c:pt idx="216">
                  <c:v>6.0415921031788</c:v>
                </c:pt>
                <c:pt idx="217">
                  <c:v>6.6169818278237</c:v>
                </c:pt>
                <c:pt idx="218">
                  <c:v>9.6377778752188</c:v>
                </c:pt>
                <c:pt idx="219">
                  <c:v>4.0277280669218</c:v>
                </c:pt>
                <c:pt idx="220">
                  <c:v>9.4939304482519</c:v>
                </c:pt>
                <c:pt idx="221">
                  <c:v>7.4800664119948</c:v>
                </c:pt>
                <c:pt idx="222">
                  <c:v>6.7608292575868</c:v>
                </c:pt>
                <c:pt idx="223">
                  <c:v>3.8838806399548</c:v>
                </c:pt>
                <c:pt idx="224">
                  <c:v>4.4592703618035</c:v>
                </c:pt>
                <c:pt idx="225">
                  <c:v>1.2946268790529</c:v>
                </c:pt>
                <c:pt idx="226">
                  <c:v>8.6308458556922</c:v>
                </c:pt>
                <c:pt idx="227">
                  <c:v>7.0485241199092</c:v>
                </c:pt>
                <c:pt idx="228">
                  <c:v>6.3292869655012</c:v>
                </c:pt>
                <c:pt idx="229">
                  <c:v>7.9116087096727</c:v>
                </c:pt>
                <c:pt idx="230">
                  <c:v>10.500862462186</c:v>
                </c:pt>
                <c:pt idx="231">
                  <c:v>8.7746932882515</c:v>
                </c:pt>
                <c:pt idx="232">
                  <c:v>2.8769486232244</c:v>
                </c:pt>
                <c:pt idx="233">
                  <c:v>0.86308458417114</c:v>
                </c:pt>
                <c:pt idx="234">
                  <c:v>1.2946268790529</c:v>
                </c:pt>
                <c:pt idx="235">
                  <c:v>0</c:v>
                </c:pt>
                <c:pt idx="236">
                  <c:v>5.0346600864484</c:v>
                </c:pt>
                <c:pt idx="237">
                  <c:v>9.3500830184887</c:v>
                </c:pt>
                <c:pt idx="238">
                  <c:v>8.3431509961659</c:v>
                </c:pt>
                <c:pt idx="239">
                  <c:v>8.3431510017583</c:v>
                </c:pt>
                <c:pt idx="240">
                  <c:v>7.9116087096727</c:v>
                </c:pt>
                <c:pt idx="241">
                  <c:v>7.6239138445541</c:v>
                </c:pt>
                <c:pt idx="242">
                  <c:v>3.945529540422</c:v>
                </c:pt>
                <c:pt idx="243">
                  <c:v>7.3362189850279</c:v>
                </c:pt>
                <c:pt idx="244">
                  <c:v>4.8908126538891</c:v>
                </c:pt>
                <c:pt idx="245">
                  <c:v>1.5823217385791</c:v>
                </c:pt>
                <c:pt idx="246">
                  <c:v>1.1507794492897</c:v>
                </c:pt>
                <c:pt idx="247">
                  <c:v>2.5892537553096</c:v>
                </c:pt>
                <c:pt idx="248">
                  <c:v>8.3431509989621</c:v>
                </c:pt>
                <c:pt idx="249">
                  <c:v>9.781625304982</c:v>
                </c:pt>
                <c:pt idx="250">
                  <c:v>4.1715755022772</c:v>
                </c:pt>
                <c:pt idx="251">
                  <c:v>8.055456142232</c:v>
                </c:pt>
                <c:pt idx="252">
                  <c:v>3.59618577204</c:v>
                </c:pt>
                <c:pt idx="253">
                  <c:v>2.7331011850727</c:v>
                </c:pt>
                <c:pt idx="254">
                  <c:v>1.0069320167304</c:v>
                </c:pt>
                <c:pt idx="255">
                  <c:v>5.7538972408564</c:v>
                </c:pt>
                <c:pt idx="256">
                  <c:v>3.7400332045993</c:v>
                </c:pt>
                <c:pt idx="257">
                  <c:v>3.5961857748362</c:v>
                </c:pt>
                <c:pt idx="258">
                  <c:v>2.876948617632</c:v>
                </c:pt>
                <c:pt idx="259">
                  <c:v>1.0069320167304</c:v>
                </c:pt>
                <c:pt idx="260">
                  <c:v>0</c:v>
                </c:pt>
                <c:pt idx="261">
                  <c:v>1.2946268790529</c:v>
                </c:pt>
                <c:pt idx="262">
                  <c:v>6.6169818278237</c:v>
                </c:pt>
                <c:pt idx="263">
                  <c:v>3.4523383422769</c:v>
                </c:pt>
                <c:pt idx="264">
                  <c:v>6.1854395357381</c:v>
                </c:pt>
                <c:pt idx="265">
                  <c:v>11.939336771002</c:v>
                </c:pt>
                <c:pt idx="266">
                  <c:v>2.5892537581057</c:v>
                </c:pt>
                <c:pt idx="267">
                  <c:v>4.6031177915666</c:v>
                </c:pt>
                <c:pt idx="268">
                  <c:v>1.8700166036977</c:v>
                </c:pt>
                <c:pt idx="269">
                  <c:v>11.651641911476</c:v>
                </c:pt>
                <c:pt idx="270">
                  <c:v>18.700166028589</c:v>
                </c:pt>
                <c:pt idx="271">
                  <c:v>10.932404757068</c:v>
                </c:pt>
                <c:pt idx="272">
                  <c:v>5.1785075162115</c:v>
                </c:pt>
                <c:pt idx="273">
                  <c:v>6.0415921031788</c:v>
                </c:pt>
                <c:pt idx="274">
                  <c:v>3.8838806371586</c:v>
                </c:pt>
                <c:pt idx="275">
                  <c:v>5.6100498082971</c:v>
                </c:pt>
                <c:pt idx="276">
                  <c:v>5.4662023785339</c:v>
                </c:pt>
                <c:pt idx="277">
                  <c:v>6.9046766901461</c:v>
                </c:pt>
                <c:pt idx="278">
                  <c:v>13.521658512377</c:v>
                </c:pt>
                <c:pt idx="279">
                  <c:v>7.6239138445541</c:v>
                </c:pt>
                <c:pt idx="280">
                  <c:v>4.1715754966849</c:v>
                </c:pt>
                <c:pt idx="281">
                  <c:v>2.4454063283426</c:v>
                </c:pt>
                <c:pt idx="282">
                  <c:v>4.7469652213298</c:v>
                </c:pt>
                <c:pt idx="283">
                  <c:v>4.8908126538891</c:v>
                </c:pt>
                <c:pt idx="284">
                  <c:v>13.090116223088</c:v>
                </c:pt>
                <c:pt idx="285">
                  <c:v>10.788557324509</c:v>
                </c:pt>
                <c:pt idx="286">
                  <c:v>16.542454565365</c:v>
                </c:pt>
                <c:pt idx="287">
                  <c:v>9.3500830156926</c:v>
                </c:pt>
                <c:pt idx="288">
                  <c:v>7.7677612743172</c:v>
                </c:pt>
                <c:pt idx="289">
                  <c:v>3.3084909097176</c:v>
                </c:pt>
                <c:pt idx="290">
                  <c:v>4.3154229320404</c:v>
                </c:pt>
                <c:pt idx="291">
                  <c:v>3.3084909097176</c:v>
                </c:pt>
                <c:pt idx="292">
                  <c:v>7.480066414791</c:v>
                </c:pt>
                <c:pt idx="293">
                  <c:v>7.1923715524685</c:v>
                </c:pt>
                <c:pt idx="294">
                  <c:v>7.1923715496724</c:v>
                </c:pt>
                <c:pt idx="295">
                  <c:v>7.480066414791</c:v>
                </c:pt>
                <c:pt idx="296">
                  <c:v>3.4523383422769</c:v>
                </c:pt>
                <c:pt idx="297">
                  <c:v>6.9046766873499</c:v>
                </c:pt>
                <c:pt idx="298">
                  <c:v>7.7677612743172</c:v>
                </c:pt>
                <c:pt idx="299">
                  <c:v>1.7261691683423</c:v>
                </c:pt>
                <c:pt idx="300">
                  <c:v>7.4800664119948</c:v>
                </c:pt>
                <c:pt idx="301">
                  <c:v>15.967064843516</c:v>
                </c:pt>
                <c:pt idx="302">
                  <c:v>18.412471171859</c:v>
                </c:pt>
                <c:pt idx="303">
                  <c:v>16.398607138398</c:v>
                </c:pt>
                <c:pt idx="304">
                  <c:v>11.507794481713</c:v>
                </c:pt>
                <c:pt idx="305">
                  <c:v>2.1577114660202</c:v>
                </c:pt>
                <c:pt idx="306">
                  <c:v>10.644709897542</c:v>
                </c:pt>
                <c:pt idx="307">
                  <c:v>11.363947049153</c:v>
                </c:pt>
                <c:pt idx="308">
                  <c:v>7.7677612743172</c:v>
                </c:pt>
                <c:pt idx="309">
                  <c:v>6.4731343980605</c:v>
                </c:pt>
                <c:pt idx="310">
                  <c:v>6.7608292575868</c:v>
                </c:pt>
                <c:pt idx="311">
                  <c:v>7.480066414791</c:v>
                </c:pt>
                <c:pt idx="312">
                  <c:v>6.7608292575868</c:v>
                </c:pt>
                <c:pt idx="313">
                  <c:v>10.500862464982</c:v>
                </c:pt>
                <c:pt idx="314">
                  <c:v>11.076252186831</c:v>
                </c:pt>
                <c:pt idx="315">
                  <c:v>9.0623881561663</c:v>
                </c:pt>
                <c:pt idx="316">
                  <c:v>3.59618577204</c:v>
                </c:pt>
                <c:pt idx="317">
                  <c:v>6.1854395329419</c:v>
                </c:pt>
                <c:pt idx="318">
                  <c:v>2.3015588957833</c:v>
                </c:pt>
                <c:pt idx="319">
                  <c:v>8.9185407264032</c:v>
                </c:pt>
                <c:pt idx="320">
                  <c:v>3.8838806371586</c:v>
                </c:pt>
                <c:pt idx="321">
                  <c:v>17.261691722569</c:v>
                </c:pt>
                <c:pt idx="322">
                  <c:v>7.7677612743172</c:v>
                </c:pt>
                <c:pt idx="323">
                  <c:v>12.514726498443</c:v>
                </c:pt>
                <c:pt idx="324">
                  <c:v>10.932404757068</c:v>
                </c:pt>
                <c:pt idx="325">
                  <c:v>8.3431509961659</c:v>
                </c:pt>
                <c:pt idx="326">
                  <c:v>5.3223549459746</c:v>
                </c:pt>
                <c:pt idx="327">
                  <c:v>3.3084909153099</c:v>
                </c:pt>
                <c:pt idx="328">
                  <c:v>10.357015029627</c:v>
                </c:pt>
                <c:pt idx="329">
                  <c:v>4.8908126510929</c:v>
                </c:pt>
                <c:pt idx="330">
                  <c:v>14.672437964463</c:v>
                </c:pt>
                <c:pt idx="331">
                  <c:v>13.665505944937</c:v>
                </c:pt>
                <c:pt idx="332">
                  <c:v>9.9254727403374</c:v>
                </c:pt>
                <c:pt idx="333">
                  <c:v>8.4869984259291</c:v>
                </c:pt>
                <c:pt idx="334">
                  <c:v>4.3154229292442</c:v>
                </c:pt>
                <c:pt idx="335">
                  <c:v>8.1993035664028</c:v>
                </c:pt>
                <c:pt idx="336">
                  <c:v>16.542454568161</c:v>
                </c:pt>
                <c:pt idx="337">
                  <c:v>17.693234014655</c:v>
                </c:pt>
                <c:pt idx="338">
                  <c:v>6.041592105975</c:v>
                </c:pt>
                <c:pt idx="339">
                  <c:v>8.4869984287253</c:v>
                </c:pt>
                <c:pt idx="340">
                  <c:v>12.370879063088</c:v>
                </c:pt>
                <c:pt idx="341">
                  <c:v>10.788557324509</c:v>
                </c:pt>
                <c:pt idx="342">
                  <c:v>8.055456142232</c:v>
                </c:pt>
                <c:pt idx="343">
                  <c:v>9.3500830184887</c:v>
                </c:pt>
                <c:pt idx="344">
                  <c:v>14.097048239818</c:v>
                </c:pt>
                <c:pt idx="345">
                  <c:v>7.6239138473503</c:v>
                </c:pt>
                <c:pt idx="346">
                  <c:v>11.795489338443</c:v>
                </c:pt>
                <c:pt idx="347">
                  <c:v>7.1923715524685</c:v>
                </c:pt>
                <c:pt idx="348">
                  <c:v>8.3431509989621</c:v>
                </c:pt>
                <c:pt idx="349">
                  <c:v>10.357015029627</c:v>
                </c:pt>
                <c:pt idx="350">
                  <c:v>8.199303569199</c:v>
                </c:pt>
                <c:pt idx="351">
                  <c:v>3.7400332045993</c:v>
                </c:pt>
                <c:pt idx="352">
                  <c:v>6.9046766873499</c:v>
                </c:pt>
                <c:pt idx="353">
                  <c:v>7.9116087040804</c:v>
                </c:pt>
                <c:pt idx="354">
                  <c:v>2.8769486204282</c:v>
                </c:pt>
                <c:pt idx="355">
                  <c:v>13.953200801667</c:v>
                </c:pt>
                <c:pt idx="356">
                  <c:v>8.0554561366397</c:v>
                </c:pt>
                <c:pt idx="357">
                  <c:v>4.7469652213298</c:v>
                </c:pt>
                <c:pt idx="358">
                  <c:v>4.6031177915666</c:v>
                </c:pt>
                <c:pt idx="359">
                  <c:v>6.6169818250275</c:v>
                </c:pt>
                <c:pt idx="360">
                  <c:v>16.254759705839</c:v>
                </c:pt>
                <c:pt idx="361">
                  <c:v>7.7677612715211</c:v>
                </c:pt>
                <c:pt idx="362">
                  <c:v>7.1923715524685</c:v>
                </c:pt>
                <c:pt idx="363">
                  <c:v>13.521658512377</c:v>
                </c:pt>
              </c:numCache>
            </c:numRef>
          </c:xVal>
          <c:yVal>
            <c:numRef>
              <c:f>'Chart Data'!$B$2:$B$365</c:f>
              <c:numCache>
                <c:formatCode>0.0</c:formatCode>
                <c:ptCount val="364"/>
                <c:pt idx="0">
                  <c:v>3.30844875</c:v>
                </c:pt>
                <c:pt idx="1">
                  <c:v>3.71394</c:v>
                </c:pt>
                <c:pt idx="2">
                  <c:v>1.935275</c:v>
                </c:pt>
                <c:pt idx="3">
                  <c:v>1.53115275</c:v>
                </c:pt>
                <c:pt idx="4">
                  <c:v>1.710692375</c:v>
                </c:pt>
                <c:pt idx="5">
                  <c:v>1.518491125</c:v>
                </c:pt>
                <c:pt idx="6">
                  <c:v>2.10932375</c:v>
                </c:pt>
                <c:pt idx="7">
                  <c:v>1.9159625</c:v>
                </c:pt>
                <c:pt idx="8">
                  <c:v>7.8831825</c:v>
                </c:pt>
                <c:pt idx="9">
                  <c:v>7.9798575</c:v>
                </c:pt>
                <c:pt idx="10">
                  <c:v>6.09517375</c:v>
                </c:pt>
                <c:pt idx="11">
                  <c:v>6.51824875</c:v>
                </c:pt>
                <c:pt idx="12">
                  <c:v>7.993945</c:v>
                </c:pt>
                <c:pt idx="13">
                  <c:v>6.967115</c:v>
                </c:pt>
                <c:pt idx="14">
                  <c:v>2.40795875</c:v>
                </c:pt>
                <c:pt idx="15">
                  <c:v>4.434935</c:v>
                </c:pt>
                <c:pt idx="16">
                  <c:v>6.52339625</c:v>
                </c:pt>
                <c:pt idx="17">
                  <c:v>2.60334125</c:v>
                </c:pt>
                <c:pt idx="18">
                  <c:v>5.04668</c:v>
                </c:pt>
                <c:pt idx="19">
                  <c:v>5.06639125</c:v>
                </c:pt>
                <c:pt idx="20">
                  <c:v>1.87870575</c:v>
                </c:pt>
                <c:pt idx="21">
                  <c:v>6.20672125</c:v>
                </c:pt>
                <c:pt idx="22">
                  <c:v>1.8092405</c:v>
                </c:pt>
                <c:pt idx="23">
                  <c:v>1.134034625</c:v>
                </c:pt>
                <c:pt idx="24">
                  <c:v>0.92972425</c:v>
                </c:pt>
                <c:pt idx="25">
                  <c:v>2.397784625</c:v>
                </c:pt>
                <c:pt idx="26">
                  <c:v>1.248055125</c:v>
                </c:pt>
                <c:pt idx="27">
                  <c:v>6.76335625</c:v>
                </c:pt>
                <c:pt idx="28">
                  <c:v>2.81013875</c:v>
                </c:pt>
                <c:pt idx="29">
                  <c:v>4.82214</c:v>
                </c:pt>
                <c:pt idx="30">
                  <c:v>1.878412375</c:v>
                </c:pt>
                <c:pt idx="31">
                  <c:v>6.6050525</c:v>
                </c:pt>
                <c:pt idx="32">
                  <c:v>4.142505</c:v>
                </c:pt>
                <c:pt idx="33">
                  <c:v>2.78420875</c:v>
                </c:pt>
                <c:pt idx="34">
                  <c:v>3.50076625</c:v>
                </c:pt>
                <c:pt idx="35">
                  <c:v>2.55346</c:v>
                </c:pt>
                <c:pt idx="36">
                  <c:v>1.33851975</c:v>
                </c:pt>
                <c:pt idx="37">
                  <c:v>2.73519125</c:v>
                </c:pt>
                <c:pt idx="38">
                  <c:v>7.17933125</c:v>
                </c:pt>
                <c:pt idx="39">
                  <c:v>5.7582725</c:v>
                </c:pt>
                <c:pt idx="40">
                  <c:v>4.33224375</c:v>
                </c:pt>
                <c:pt idx="41">
                  <c:v>1.208915</c:v>
                </c:pt>
                <c:pt idx="42">
                  <c:v>0.74143475</c:v>
                </c:pt>
                <c:pt idx="43">
                  <c:v>3.31086875</c:v>
                </c:pt>
                <c:pt idx="44">
                  <c:v>2.66623875</c:v>
                </c:pt>
                <c:pt idx="45">
                  <c:v>6.51195625</c:v>
                </c:pt>
                <c:pt idx="46">
                  <c:v>3.36304</c:v>
                </c:pt>
                <c:pt idx="47">
                  <c:v>6.46637375</c:v>
                </c:pt>
                <c:pt idx="48">
                  <c:v>7.6275075</c:v>
                </c:pt>
                <c:pt idx="49">
                  <c:v>1.620864</c:v>
                </c:pt>
                <c:pt idx="50">
                  <c:v>4.10534</c:v>
                </c:pt>
                <c:pt idx="51">
                  <c:v>6.40585125</c:v>
                </c:pt>
                <c:pt idx="52">
                  <c:v>2.97621</c:v>
                </c:pt>
                <c:pt idx="53">
                  <c:v>5.26632375</c:v>
                </c:pt>
                <c:pt idx="54">
                  <c:v>6.3967575</c:v>
                </c:pt>
                <c:pt idx="55">
                  <c:v>6.38178375</c:v>
                </c:pt>
                <c:pt idx="56">
                  <c:v>3.36842</c:v>
                </c:pt>
                <c:pt idx="57">
                  <c:v>7.6746575</c:v>
                </c:pt>
                <c:pt idx="58">
                  <c:v>7.73099125</c:v>
                </c:pt>
                <c:pt idx="59">
                  <c:v>3.32388875</c:v>
                </c:pt>
                <c:pt idx="60">
                  <c:v>5.1810475</c:v>
                </c:pt>
                <c:pt idx="61">
                  <c:v>2.660335</c:v>
                </c:pt>
                <c:pt idx="62">
                  <c:v>6.27090125</c:v>
                </c:pt>
                <c:pt idx="63">
                  <c:v>5.44077875</c:v>
                </c:pt>
                <c:pt idx="64">
                  <c:v>5.324795</c:v>
                </c:pt>
                <c:pt idx="65">
                  <c:v>2.22791375</c:v>
                </c:pt>
                <c:pt idx="66">
                  <c:v>2.22548875</c:v>
                </c:pt>
                <c:pt idx="67">
                  <c:v>3.9550625</c:v>
                </c:pt>
                <c:pt idx="68">
                  <c:v>6.2183025</c:v>
                </c:pt>
                <c:pt idx="69">
                  <c:v>4.02432375</c:v>
                </c:pt>
                <c:pt idx="70">
                  <c:v>7.61389</c:v>
                </c:pt>
                <c:pt idx="71">
                  <c:v>5.3915975</c:v>
                </c:pt>
                <c:pt idx="72">
                  <c:v>4.51885125</c:v>
                </c:pt>
                <c:pt idx="73">
                  <c:v>4.80799375</c:v>
                </c:pt>
                <c:pt idx="74">
                  <c:v>3.57136625</c:v>
                </c:pt>
                <c:pt idx="75">
                  <c:v>7.05805625</c:v>
                </c:pt>
                <c:pt idx="76">
                  <c:v>3.34445125</c:v>
                </c:pt>
                <c:pt idx="77">
                  <c:v>6.12989</c:v>
                </c:pt>
                <c:pt idx="78">
                  <c:v>6.39700125</c:v>
                </c:pt>
                <c:pt idx="79">
                  <c:v>1.7580685</c:v>
                </c:pt>
                <c:pt idx="80">
                  <c:v>4.40951875</c:v>
                </c:pt>
                <c:pt idx="81">
                  <c:v>4.3940225</c:v>
                </c:pt>
                <c:pt idx="82">
                  <c:v>4.3183125</c:v>
                </c:pt>
                <c:pt idx="83">
                  <c:v>7.87012875</c:v>
                </c:pt>
                <c:pt idx="84">
                  <c:v>8.07327375</c:v>
                </c:pt>
                <c:pt idx="85">
                  <c:v>5.57469375</c:v>
                </c:pt>
                <c:pt idx="86">
                  <c:v>1.492163</c:v>
                </c:pt>
                <c:pt idx="87">
                  <c:v>2.3090125</c:v>
                </c:pt>
                <c:pt idx="88">
                  <c:v>4.8094875</c:v>
                </c:pt>
                <c:pt idx="89">
                  <c:v>3.0374125</c:v>
                </c:pt>
                <c:pt idx="90">
                  <c:v>5.1364525</c:v>
                </c:pt>
                <c:pt idx="91">
                  <c:v>3.88204375</c:v>
                </c:pt>
                <c:pt idx="92">
                  <c:v>7.612255</c:v>
                </c:pt>
                <c:pt idx="93">
                  <c:v>5.95888875</c:v>
                </c:pt>
                <c:pt idx="94">
                  <c:v>2.9229925</c:v>
                </c:pt>
                <c:pt idx="95">
                  <c:v>1.8513375</c:v>
                </c:pt>
                <c:pt idx="96">
                  <c:v>5.51895625</c:v>
                </c:pt>
                <c:pt idx="97">
                  <c:v>5.692185</c:v>
                </c:pt>
                <c:pt idx="98">
                  <c:v>3.98445875</c:v>
                </c:pt>
                <c:pt idx="99">
                  <c:v>1.1618775</c:v>
                </c:pt>
                <c:pt idx="100">
                  <c:v>3.61486125</c:v>
                </c:pt>
                <c:pt idx="101">
                  <c:v>7.1029575</c:v>
                </c:pt>
                <c:pt idx="102">
                  <c:v>5.6550375</c:v>
                </c:pt>
                <c:pt idx="103">
                  <c:v>6.8451575</c:v>
                </c:pt>
                <c:pt idx="104">
                  <c:v>3.84823125</c:v>
                </c:pt>
                <c:pt idx="105">
                  <c:v>5.49648375</c:v>
                </c:pt>
                <c:pt idx="106">
                  <c:v>6.64266125</c:v>
                </c:pt>
                <c:pt idx="107">
                  <c:v>2.58727875</c:v>
                </c:pt>
                <c:pt idx="108">
                  <c:v>5.75538</c:v>
                </c:pt>
                <c:pt idx="109">
                  <c:v>4.3845125</c:v>
                </c:pt>
                <c:pt idx="110">
                  <c:v>1.076891375</c:v>
                </c:pt>
                <c:pt idx="111">
                  <c:v>1.9719275</c:v>
                </c:pt>
                <c:pt idx="112">
                  <c:v>6.76230875</c:v>
                </c:pt>
                <c:pt idx="113">
                  <c:v>4.54256625</c:v>
                </c:pt>
                <c:pt idx="114">
                  <c:v>1.9299565</c:v>
                </c:pt>
                <c:pt idx="115">
                  <c:v>6.33240125</c:v>
                </c:pt>
                <c:pt idx="116">
                  <c:v>6.92322625</c:v>
                </c:pt>
                <c:pt idx="117">
                  <c:v>4.062525</c:v>
                </c:pt>
                <c:pt idx="118">
                  <c:v>3.92364125</c:v>
                </c:pt>
                <c:pt idx="119">
                  <c:v>1.38212925</c:v>
                </c:pt>
                <c:pt idx="120">
                  <c:v>4.72364625</c:v>
                </c:pt>
                <c:pt idx="121">
                  <c:v>2.605897625</c:v>
                </c:pt>
                <c:pt idx="122">
                  <c:v>1.94089125</c:v>
                </c:pt>
                <c:pt idx="123">
                  <c:v>2.3834525</c:v>
                </c:pt>
                <c:pt idx="124">
                  <c:v>3.1975525</c:v>
                </c:pt>
                <c:pt idx="125">
                  <c:v>1.974125</c:v>
                </c:pt>
                <c:pt idx="126">
                  <c:v>4.0331075</c:v>
                </c:pt>
                <c:pt idx="127">
                  <c:v>2.09971875</c:v>
                </c:pt>
                <c:pt idx="128">
                  <c:v>2.94743</c:v>
                </c:pt>
                <c:pt idx="129">
                  <c:v>1.77256375</c:v>
                </c:pt>
                <c:pt idx="130">
                  <c:v>4.2768625</c:v>
                </c:pt>
                <c:pt idx="131">
                  <c:v>1.692312125</c:v>
                </c:pt>
                <c:pt idx="132">
                  <c:v>5.2335825</c:v>
                </c:pt>
                <c:pt idx="133">
                  <c:v>1.7274375</c:v>
                </c:pt>
                <c:pt idx="134">
                  <c:v>2.5854125</c:v>
                </c:pt>
                <c:pt idx="135">
                  <c:v>1.14307275</c:v>
                </c:pt>
                <c:pt idx="136">
                  <c:v>0.60133325</c:v>
                </c:pt>
                <c:pt idx="137">
                  <c:v>1.3387285</c:v>
                </c:pt>
                <c:pt idx="138">
                  <c:v>2.17632125</c:v>
                </c:pt>
                <c:pt idx="139">
                  <c:v>2.27859875</c:v>
                </c:pt>
                <c:pt idx="140">
                  <c:v>2.3257375</c:v>
                </c:pt>
                <c:pt idx="141">
                  <c:v>5.80770125</c:v>
                </c:pt>
                <c:pt idx="142">
                  <c:v>1.1166</c:v>
                </c:pt>
                <c:pt idx="143">
                  <c:v>2.1296375</c:v>
                </c:pt>
                <c:pt idx="144">
                  <c:v>2.70398625</c:v>
                </c:pt>
                <c:pt idx="145">
                  <c:v>4.3481475</c:v>
                </c:pt>
                <c:pt idx="146">
                  <c:v>4.47473875</c:v>
                </c:pt>
                <c:pt idx="147">
                  <c:v>2.3919125</c:v>
                </c:pt>
                <c:pt idx="148">
                  <c:v>2.559335</c:v>
                </c:pt>
                <c:pt idx="149">
                  <c:v>1.87403125</c:v>
                </c:pt>
                <c:pt idx="150">
                  <c:v>2.676125</c:v>
                </c:pt>
                <c:pt idx="151">
                  <c:v>3.02634</c:v>
                </c:pt>
                <c:pt idx="152">
                  <c:v>1.406239125</c:v>
                </c:pt>
                <c:pt idx="153">
                  <c:v>1.36778225</c:v>
                </c:pt>
                <c:pt idx="154">
                  <c:v>3.35916875</c:v>
                </c:pt>
                <c:pt idx="155">
                  <c:v>3.806545</c:v>
                </c:pt>
                <c:pt idx="156">
                  <c:v>3.74815625</c:v>
                </c:pt>
                <c:pt idx="157">
                  <c:v>3.10956125</c:v>
                </c:pt>
                <c:pt idx="158">
                  <c:v>1.18699875</c:v>
                </c:pt>
                <c:pt idx="159">
                  <c:v>2.3458775</c:v>
                </c:pt>
                <c:pt idx="160">
                  <c:v>2.3581225</c:v>
                </c:pt>
                <c:pt idx="161">
                  <c:v>1.00258275</c:v>
                </c:pt>
                <c:pt idx="162">
                  <c:v>4.00685375</c:v>
                </c:pt>
                <c:pt idx="163">
                  <c:v>4.6479025</c:v>
                </c:pt>
                <c:pt idx="164">
                  <c:v>2.11973375</c:v>
                </c:pt>
                <c:pt idx="165">
                  <c:v>2.48680625</c:v>
                </c:pt>
                <c:pt idx="166">
                  <c:v>4.83010625</c:v>
                </c:pt>
                <c:pt idx="167">
                  <c:v>4.495175</c:v>
                </c:pt>
                <c:pt idx="168">
                  <c:v>3.6155125</c:v>
                </c:pt>
                <c:pt idx="169">
                  <c:v>2.068786125</c:v>
                </c:pt>
                <c:pt idx="170">
                  <c:v>0.831739125</c:v>
                </c:pt>
                <c:pt idx="171">
                  <c:v>0.78797125</c:v>
                </c:pt>
                <c:pt idx="172">
                  <c:v>3.21578125</c:v>
                </c:pt>
                <c:pt idx="173">
                  <c:v>4.2677075</c:v>
                </c:pt>
                <c:pt idx="174">
                  <c:v>1.1907945</c:v>
                </c:pt>
                <c:pt idx="175">
                  <c:v>5.20250875</c:v>
                </c:pt>
                <c:pt idx="176">
                  <c:v>2.4955675</c:v>
                </c:pt>
                <c:pt idx="177">
                  <c:v>2.395685</c:v>
                </c:pt>
                <c:pt idx="178">
                  <c:v>2.7718875</c:v>
                </c:pt>
                <c:pt idx="179">
                  <c:v>5.01185</c:v>
                </c:pt>
                <c:pt idx="180">
                  <c:v>4.220585</c:v>
                </c:pt>
                <c:pt idx="181">
                  <c:v>2.4104975</c:v>
                </c:pt>
                <c:pt idx="182">
                  <c:v>4.42674875</c:v>
                </c:pt>
                <c:pt idx="183">
                  <c:v>4.47548125</c:v>
                </c:pt>
                <c:pt idx="184">
                  <c:v>0.476662125</c:v>
                </c:pt>
                <c:pt idx="185">
                  <c:v>1.7444125</c:v>
                </c:pt>
                <c:pt idx="186">
                  <c:v>2.228992125</c:v>
                </c:pt>
                <c:pt idx="187">
                  <c:v>0.408396</c:v>
                </c:pt>
                <c:pt idx="188">
                  <c:v>0.74874975</c:v>
                </c:pt>
                <c:pt idx="189">
                  <c:v>0.910499125</c:v>
                </c:pt>
                <c:pt idx="190">
                  <c:v>3.496137625</c:v>
                </c:pt>
                <c:pt idx="191">
                  <c:v>0.690758375</c:v>
                </c:pt>
                <c:pt idx="192">
                  <c:v>0.38271725</c:v>
                </c:pt>
                <c:pt idx="193">
                  <c:v>0.829889875</c:v>
                </c:pt>
                <c:pt idx="194">
                  <c:v>3.2159225</c:v>
                </c:pt>
                <c:pt idx="195">
                  <c:v>3.96548625</c:v>
                </c:pt>
                <c:pt idx="196">
                  <c:v>3.06505125</c:v>
                </c:pt>
                <c:pt idx="197">
                  <c:v>1.84113625</c:v>
                </c:pt>
                <c:pt idx="198">
                  <c:v>1.598947375</c:v>
                </c:pt>
                <c:pt idx="199">
                  <c:v>0.541452625</c:v>
                </c:pt>
                <c:pt idx="200">
                  <c:v>0.175999375</c:v>
                </c:pt>
                <c:pt idx="201">
                  <c:v>0.13933175</c:v>
                </c:pt>
                <c:pt idx="202">
                  <c:v>0.12758175</c:v>
                </c:pt>
                <c:pt idx="203">
                  <c:v>0.42358075</c:v>
                </c:pt>
                <c:pt idx="204">
                  <c:v>0.94248575</c:v>
                </c:pt>
                <c:pt idx="205">
                  <c:v>1.156053625</c:v>
                </c:pt>
                <c:pt idx="206">
                  <c:v>1.86122625</c:v>
                </c:pt>
                <c:pt idx="207">
                  <c:v>1.266781375</c:v>
                </c:pt>
                <c:pt idx="208">
                  <c:v>1.7332025</c:v>
                </c:pt>
                <c:pt idx="209">
                  <c:v>2.2107275</c:v>
                </c:pt>
                <c:pt idx="210">
                  <c:v>1.21654975</c:v>
                </c:pt>
                <c:pt idx="211">
                  <c:v>1.650295</c:v>
                </c:pt>
                <c:pt idx="212">
                  <c:v>1.697965</c:v>
                </c:pt>
                <c:pt idx="213">
                  <c:v>1.4979125</c:v>
                </c:pt>
                <c:pt idx="214">
                  <c:v>0.97897875</c:v>
                </c:pt>
                <c:pt idx="215">
                  <c:v>0.347629125</c:v>
                </c:pt>
                <c:pt idx="216">
                  <c:v>2.00357125</c:v>
                </c:pt>
                <c:pt idx="217">
                  <c:v>2.76698875</c:v>
                </c:pt>
                <c:pt idx="218">
                  <c:v>2.225485</c:v>
                </c:pt>
                <c:pt idx="219">
                  <c:v>1.214269625</c:v>
                </c:pt>
                <c:pt idx="220">
                  <c:v>3.24985625</c:v>
                </c:pt>
                <c:pt idx="221">
                  <c:v>2.26082125</c:v>
                </c:pt>
                <c:pt idx="222">
                  <c:v>1.4949035</c:v>
                </c:pt>
                <c:pt idx="223">
                  <c:v>0.2279365</c:v>
                </c:pt>
                <c:pt idx="224">
                  <c:v>0.281434875</c:v>
                </c:pt>
                <c:pt idx="225">
                  <c:v>0.243923875</c:v>
                </c:pt>
                <c:pt idx="226">
                  <c:v>2.5839725</c:v>
                </c:pt>
                <c:pt idx="227">
                  <c:v>2.5019425</c:v>
                </c:pt>
                <c:pt idx="228">
                  <c:v>3.0243</c:v>
                </c:pt>
                <c:pt idx="229">
                  <c:v>1.77430125</c:v>
                </c:pt>
                <c:pt idx="230">
                  <c:v>1.625626875</c:v>
                </c:pt>
                <c:pt idx="231">
                  <c:v>1.8657575</c:v>
                </c:pt>
                <c:pt idx="232">
                  <c:v>0.944294</c:v>
                </c:pt>
                <c:pt idx="233">
                  <c:v>0.352865</c:v>
                </c:pt>
                <c:pt idx="234">
                  <c:v>0.977026375</c:v>
                </c:pt>
                <c:pt idx="235">
                  <c:v>1.44673875</c:v>
                </c:pt>
                <c:pt idx="236">
                  <c:v>2.58485625</c:v>
                </c:pt>
                <c:pt idx="237">
                  <c:v>3.76824125</c:v>
                </c:pt>
                <c:pt idx="238">
                  <c:v>3.49120625</c:v>
                </c:pt>
                <c:pt idx="239">
                  <c:v>2.259964125</c:v>
                </c:pt>
                <c:pt idx="240">
                  <c:v>0.729936875</c:v>
                </c:pt>
                <c:pt idx="241">
                  <c:v>2.367455</c:v>
                </c:pt>
                <c:pt idx="242">
                  <c:v>0.921791625</c:v>
                </c:pt>
                <c:pt idx="243">
                  <c:v>2.52825</c:v>
                </c:pt>
                <c:pt idx="244">
                  <c:v>3.042</c:v>
                </c:pt>
                <c:pt idx="245">
                  <c:v>2.6889925</c:v>
                </c:pt>
                <c:pt idx="246">
                  <c:v>2.21355125</c:v>
                </c:pt>
                <c:pt idx="247">
                  <c:v>1.711155</c:v>
                </c:pt>
                <c:pt idx="248">
                  <c:v>1.79941625</c:v>
                </c:pt>
                <c:pt idx="249">
                  <c:v>2.41665875</c:v>
                </c:pt>
                <c:pt idx="250">
                  <c:v>0.911687375</c:v>
                </c:pt>
                <c:pt idx="251">
                  <c:v>2.415963375</c:v>
                </c:pt>
                <c:pt idx="252">
                  <c:v>1.146676875</c:v>
                </c:pt>
                <c:pt idx="253">
                  <c:v>1.28202225</c:v>
                </c:pt>
                <c:pt idx="254">
                  <c:v>1.9353885</c:v>
                </c:pt>
                <c:pt idx="255">
                  <c:v>3.90821875</c:v>
                </c:pt>
                <c:pt idx="256">
                  <c:v>2.41240125</c:v>
                </c:pt>
                <c:pt idx="257">
                  <c:v>3.0171125</c:v>
                </c:pt>
                <c:pt idx="258">
                  <c:v>1.842872875</c:v>
                </c:pt>
                <c:pt idx="259">
                  <c:v>1.930326875</c:v>
                </c:pt>
                <c:pt idx="260">
                  <c:v>1.440490125</c:v>
                </c:pt>
                <c:pt idx="261">
                  <c:v>1.023135625</c:v>
                </c:pt>
                <c:pt idx="262">
                  <c:v>2.597946375</c:v>
                </c:pt>
                <c:pt idx="263">
                  <c:v>0.30384125</c:v>
                </c:pt>
                <c:pt idx="264">
                  <c:v>1.32322075</c:v>
                </c:pt>
                <c:pt idx="265">
                  <c:v>1.000133125</c:v>
                </c:pt>
                <c:pt idx="266">
                  <c:v>0.502344125</c:v>
                </c:pt>
                <c:pt idx="267">
                  <c:v>0.664674375</c:v>
                </c:pt>
                <c:pt idx="268">
                  <c:v>0.98506225</c:v>
                </c:pt>
                <c:pt idx="269">
                  <c:v>5.06484875</c:v>
                </c:pt>
                <c:pt idx="270">
                  <c:v>5.3590775</c:v>
                </c:pt>
                <c:pt idx="271">
                  <c:v>2.2134075</c:v>
                </c:pt>
                <c:pt idx="272">
                  <c:v>1.40635925</c:v>
                </c:pt>
                <c:pt idx="273">
                  <c:v>1.558370375</c:v>
                </c:pt>
                <c:pt idx="274">
                  <c:v>1.116473</c:v>
                </c:pt>
                <c:pt idx="275">
                  <c:v>2.3449225</c:v>
                </c:pt>
                <c:pt idx="276">
                  <c:v>1.466321375</c:v>
                </c:pt>
                <c:pt idx="277">
                  <c:v>4.3542675</c:v>
                </c:pt>
                <c:pt idx="278">
                  <c:v>6.33299375</c:v>
                </c:pt>
                <c:pt idx="279">
                  <c:v>3.30731</c:v>
                </c:pt>
                <c:pt idx="280">
                  <c:v>0.645431875</c:v>
                </c:pt>
                <c:pt idx="281">
                  <c:v>1.62433</c:v>
                </c:pt>
                <c:pt idx="282">
                  <c:v>2.5520425</c:v>
                </c:pt>
                <c:pt idx="283">
                  <c:v>2.88042875</c:v>
                </c:pt>
                <c:pt idx="284">
                  <c:v>4.08732875</c:v>
                </c:pt>
                <c:pt idx="285">
                  <c:v>3.53565625</c:v>
                </c:pt>
                <c:pt idx="286">
                  <c:v>6.70038375</c:v>
                </c:pt>
                <c:pt idx="287">
                  <c:v>2.741275</c:v>
                </c:pt>
                <c:pt idx="288">
                  <c:v>2.691676125</c:v>
                </c:pt>
                <c:pt idx="289">
                  <c:v>1.36106775</c:v>
                </c:pt>
                <c:pt idx="290">
                  <c:v>3.69293625</c:v>
                </c:pt>
                <c:pt idx="291">
                  <c:v>2.20284625</c:v>
                </c:pt>
                <c:pt idx="292">
                  <c:v>3.9887725</c:v>
                </c:pt>
                <c:pt idx="293">
                  <c:v>4.9204675</c:v>
                </c:pt>
                <c:pt idx="294">
                  <c:v>5.0472775</c:v>
                </c:pt>
                <c:pt idx="295">
                  <c:v>4.9627925</c:v>
                </c:pt>
                <c:pt idx="296">
                  <c:v>1.341653875</c:v>
                </c:pt>
                <c:pt idx="297">
                  <c:v>3.91454375</c:v>
                </c:pt>
                <c:pt idx="298">
                  <c:v>4.15833</c:v>
                </c:pt>
                <c:pt idx="299">
                  <c:v>1.60308</c:v>
                </c:pt>
                <c:pt idx="300">
                  <c:v>4.49979125</c:v>
                </c:pt>
                <c:pt idx="301">
                  <c:v>7.57338125</c:v>
                </c:pt>
                <c:pt idx="302">
                  <c:v>7.73694875</c:v>
                </c:pt>
                <c:pt idx="303">
                  <c:v>6.47191125</c:v>
                </c:pt>
                <c:pt idx="304">
                  <c:v>4.61490375</c:v>
                </c:pt>
                <c:pt idx="305">
                  <c:v>1.87361075</c:v>
                </c:pt>
                <c:pt idx="306">
                  <c:v>6.46951625</c:v>
                </c:pt>
                <c:pt idx="307">
                  <c:v>7.21792125</c:v>
                </c:pt>
                <c:pt idx="308">
                  <c:v>2.46477975</c:v>
                </c:pt>
                <c:pt idx="309">
                  <c:v>1.402480125</c:v>
                </c:pt>
                <c:pt idx="310">
                  <c:v>2.66556</c:v>
                </c:pt>
                <c:pt idx="311">
                  <c:v>4.77662375</c:v>
                </c:pt>
                <c:pt idx="312">
                  <c:v>4.06336625</c:v>
                </c:pt>
                <c:pt idx="313">
                  <c:v>5.00346625</c:v>
                </c:pt>
                <c:pt idx="314">
                  <c:v>3.74765125</c:v>
                </c:pt>
                <c:pt idx="315">
                  <c:v>5.9981125</c:v>
                </c:pt>
                <c:pt idx="316">
                  <c:v>3.52741</c:v>
                </c:pt>
                <c:pt idx="317">
                  <c:v>1.63198575</c:v>
                </c:pt>
                <c:pt idx="318">
                  <c:v>2.3505525</c:v>
                </c:pt>
                <c:pt idx="319">
                  <c:v>4.17317125</c:v>
                </c:pt>
                <c:pt idx="320">
                  <c:v>1.97203</c:v>
                </c:pt>
                <c:pt idx="321">
                  <c:v>5.12100875</c:v>
                </c:pt>
                <c:pt idx="322">
                  <c:v>3.40113</c:v>
                </c:pt>
                <c:pt idx="323">
                  <c:v>5.98502625</c:v>
                </c:pt>
                <c:pt idx="324">
                  <c:v>4.917115</c:v>
                </c:pt>
                <c:pt idx="325">
                  <c:v>2.81075875</c:v>
                </c:pt>
                <c:pt idx="326">
                  <c:v>2.92815375</c:v>
                </c:pt>
                <c:pt idx="327">
                  <c:v>3.80232875</c:v>
                </c:pt>
                <c:pt idx="328">
                  <c:v>6.00105125</c:v>
                </c:pt>
                <c:pt idx="329">
                  <c:v>1.75644125</c:v>
                </c:pt>
                <c:pt idx="330">
                  <c:v>3.80830375</c:v>
                </c:pt>
                <c:pt idx="331">
                  <c:v>6.2623875</c:v>
                </c:pt>
                <c:pt idx="332">
                  <c:v>4.60527875</c:v>
                </c:pt>
                <c:pt idx="333">
                  <c:v>4.08628125</c:v>
                </c:pt>
                <c:pt idx="334">
                  <c:v>1.64034625</c:v>
                </c:pt>
                <c:pt idx="335">
                  <c:v>3.6940825</c:v>
                </c:pt>
                <c:pt idx="336">
                  <c:v>7.04731875</c:v>
                </c:pt>
                <c:pt idx="337">
                  <c:v>7.57473</c:v>
                </c:pt>
                <c:pt idx="338">
                  <c:v>2.84813375</c:v>
                </c:pt>
                <c:pt idx="339">
                  <c:v>5.2448525</c:v>
                </c:pt>
                <c:pt idx="340">
                  <c:v>7.72253</c:v>
                </c:pt>
                <c:pt idx="341">
                  <c:v>5.317565</c:v>
                </c:pt>
                <c:pt idx="342">
                  <c:v>2.79862625</c:v>
                </c:pt>
                <c:pt idx="343">
                  <c:v>2.48944875</c:v>
                </c:pt>
                <c:pt idx="344">
                  <c:v>5.315348625</c:v>
                </c:pt>
                <c:pt idx="345">
                  <c:v>2.1905975</c:v>
                </c:pt>
                <c:pt idx="346">
                  <c:v>6.55948625</c:v>
                </c:pt>
                <c:pt idx="347">
                  <c:v>4.9362025</c:v>
                </c:pt>
                <c:pt idx="348">
                  <c:v>5.47947625</c:v>
                </c:pt>
                <c:pt idx="349">
                  <c:v>5.906706</c:v>
                </c:pt>
                <c:pt idx="350">
                  <c:v>1.90161725</c:v>
                </c:pt>
                <c:pt idx="351">
                  <c:v>0.936151875</c:v>
                </c:pt>
                <c:pt idx="352">
                  <c:v>4.49758375</c:v>
                </c:pt>
                <c:pt idx="353">
                  <c:v>2.267462125</c:v>
                </c:pt>
                <c:pt idx="354">
                  <c:v>2.022430375</c:v>
                </c:pt>
                <c:pt idx="355">
                  <c:v>5.7398225</c:v>
                </c:pt>
                <c:pt idx="356">
                  <c:v>1.9584405</c:v>
                </c:pt>
                <c:pt idx="357">
                  <c:v>1.02758975</c:v>
                </c:pt>
                <c:pt idx="358">
                  <c:v>1.775895</c:v>
                </c:pt>
                <c:pt idx="359">
                  <c:v>4.56907375</c:v>
                </c:pt>
                <c:pt idx="360">
                  <c:v>6.57544125</c:v>
                </c:pt>
                <c:pt idx="361">
                  <c:v>4.48044125</c:v>
                </c:pt>
                <c:pt idx="362">
                  <c:v>3.90636375</c:v>
                </c:pt>
                <c:pt idx="363">
                  <c:v>7.05011375</c:v>
                </c:pt>
              </c:numCache>
            </c:numRef>
          </c:yVal>
        </c:ser>
        <c:ser>
          <c:idx val="1"/>
          <c:order val="1"/>
          <c:tx>
            <c:v>2025</c:v>
          </c:tx>
          <c:spPr>
            <a:solidFill xmlns:a="http://schemas.openxmlformats.org/drawingml/2006/main">
              <a:srgbClr val="8D9AA5"/>
            </a:solidFill>
            <a:ln xmlns:a="http://schemas.openxmlformats.org/drawingml/2006/main" w="0">
              <a:noFill/>
            </a:ln>
          </c:spPr>
          <c:marker>
            <c:symbol val="circle"/>
            <c:size val="3"/>
          </c:marker>
          <c:xVal>
            <c:numRef>
              <c:f>'Chart Data'!$C$2:$C$364</c:f>
              <c:numCache>
                <c:formatCode>General</c:formatCode>
                <c:ptCount val="363"/>
                <c:pt idx="0">
                  <c:v>11.795489341239</c:v>
                </c:pt>
                <c:pt idx="1">
                  <c:v>10.213167599864</c:v>
                </c:pt>
                <c:pt idx="2">
                  <c:v>9.0623881533701</c:v>
                </c:pt>
                <c:pt idx="3">
                  <c:v>10.069320170101</c:v>
                </c:pt>
                <c:pt idx="4">
                  <c:v>8.1993035719952</c:v>
                </c:pt>
                <c:pt idx="5">
                  <c:v>15.103980256549</c:v>
                </c:pt>
                <c:pt idx="6">
                  <c:v>7.0485241227054</c:v>
                </c:pt>
                <c:pt idx="7">
                  <c:v>5.7538972408564</c:v>
                </c:pt>
                <c:pt idx="8">
                  <c:v>3.4523383422769</c:v>
                </c:pt>
                <c:pt idx="9">
                  <c:v>9.2062355887256</c:v>
                </c:pt>
                <c:pt idx="10">
                  <c:v>8.6308458612846</c:v>
                </c:pt>
                <c:pt idx="11">
                  <c:v>13.37781108541</c:v>
                </c:pt>
                <c:pt idx="12">
                  <c:v>13.665505944937</c:v>
                </c:pt>
                <c:pt idx="13">
                  <c:v>6.9046766901461</c:v>
                </c:pt>
                <c:pt idx="14">
                  <c:v>4.8908126510929</c:v>
                </c:pt>
                <c:pt idx="15">
                  <c:v>12.083184206358</c:v>
                </c:pt>
                <c:pt idx="16">
                  <c:v>7.480066414791</c:v>
                </c:pt>
                <c:pt idx="17">
                  <c:v>12.370879063088</c:v>
                </c:pt>
                <c:pt idx="18">
                  <c:v>13.233963652851</c:v>
                </c:pt>
                <c:pt idx="19">
                  <c:v>9.4939304454557</c:v>
                </c:pt>
                <c:pt idx="20">
                  <c:v>12.802421360766</c:v>
                </c:pt>
                <c:pt idx="21">
                  <c:v>12.227031638917</c:v>
                </c:pt>
                <c:pt idx="22">
                  <c:v>8.3431510017583</c:v>
                </c:pt>
                <c:pt idx="23">
                  <c:v>5.8977446678233</c:v>
                </c:pt>
                <c:pt idx="24">
                  <c:v>12.658573928206</c:v>
                </c:pt>
                <c:pt idx="25">
                  <c:v>9.7816253077781</c:v>
                </c:pt>
                <c:pt idx="26">
                  <c:v>10.788557321712</c:v>
                </c:pt>
                <c:pt idx="27">
                  <c:v>8.1993035719952</c:v>
                </c:pt>
                <c:pt idx="28">
                  <c:v>12.370879065884</c:v>
                </c:pt>
                <c:pt idx="29">
                  <c:v>3.5961857748362</c:v>
                </c:pt>
                <c:pt idx="30">
                  <c:v>6.7608292575868</c:v>
                </c:pt>
                <c:pt idx="31">
                  <c:v>16.398607138398</c:v>
                </c:pt>
                <c:pt idx="32">
                  <c:v>10.788557321712</c:v>
                </c:pt>
                <c:pt idx="33">
                  <c:v>5.7538972408564</c:v>
                </c:pt>
                <c:pt idx="34">
                  <c:v>10.932404759864</c:v>
                </c:pt>
                <c:pt idx="35">
                  <c:v>11.36394705195</c:v>
                </c:pt>
                <c:pt idx="36">
                  <c:v>5.6100498082971</c:v>
                </c:pt>
                <c:pt idx="37">
                  <c:v>11.939336773798</c:v>
                </c:pt>
                <c:pt idx="38">
                  <c:v>8.7746932882515</c:v>
                </c:pt>
                <c:pt idx="39">
                  <c:v>10.932404757068</c:v>
                </c:pt>
                <c:pt idx="40">
                  <c:v>5.3223549459746</c:v>
                </c:pt>
                <c:pt idx="41">
                  <c:v>8.3431509933698</c:v>
                </c:pt>
                <c:pt idx="42">
                  <c:v>12.946268790529</c:v>
                </c:pt>
                <c:pt idx="43">
                  <c:v>10.932404757068</c:v>
                </c:pt>
                <c:pt idx="44">
                  <c:v>4.8908126510929</c:v>
                </c:pt>
                <c:pt idx="45">
                  <c:v>8.6308458584884</c:v>
                </c:pt>
                <c:pt idx="46">
                  <c:v>14.672437964463</c:v>
                </c:pt>
                <c:pt idx="47">
                  <c:v>10.357015032423</c:v>
                </c:pt>
                <c:pt idx="48">
                  <c:v>9.3500830128964</c:v>
                </c:pt>
                <c:pt idx="49">
                  <c:v>8.3431509989621</c:v>
                </c:pt>
                <c:pt idx="50">
                  <c:v>8.6308458640807</c:v>
                </c:pt>
                <c:pt idx="51">
                  <c:v>6.6169818250275</c:v>
                </c:pt>
                <c:pt idx="52">
                  <c:v>8.9185407208108</c:v>
                </c:pt>
                <c:pt idx="53">
                  <c:v>6.6169818250275</c:v>
                </c:pt>
                <c:pt idx="54">
                  <c:v>13.090116220292</c:v>
                </c:pt>
                <c:pt idx="55">
                  <c:v>2.8769486204282</c:v>
                </c:pt>
                <c:pt idx="56">
                  <c:v>5.3223549487708</c:v>
                </c:pt>
                <c:pt idx="57">
                  <c:v>6.9046766873499</c:v>
                </c:pt>
                <c:pt idx="58">
                  <c:v>9.9254727403374</c:v>
                </c:pt>
                <c:pt idx="59">
                  <c:v>15.679369981194</c:v>
                </c:pt>
                <c:pt idx="60">
                  <c:v>3.4523383450731</c:v>
                </c:pt>
                <c:pt idx="61">
                  <c:v>6.1854395329419</c:v>
                </c:pt>
                <c:pt idx="62">
                  <c:v>10.932404754272</c:v>
                </c:pt>
                <c:pt idx="63">
                  <c:v>7.6239138445541</c:v>
                </c:pt>
                <c:pt idx="64">
                  <c:v>14.960132826786</c:v>
                </c:pt>
                <c:pt idx="65">
                  <c:v>4.4592703590073</c:v>
                </c:pt>
                <c:pt idx="66">
                  <c:v>7.6239138445541</c:v>
                </c:pt>
                <c:pt idx="67">
                  <c:v>9.0418385221446</c:v>
                </c:pt>
                <c:pt idx="68">
                  <c:v>10.644709894745</c:v>
                </c:pt>
                <c:pt idx="69">
                  <c:v>8.6308458640807</c:v>
                </c:pt>
                <c:pt idx="70">
                  <c:v>5.1785075190077</c:v>
                </c:pt>
                <c:pt idx="71">
                  <c:v>11.220099624983</c:v>
                </c:pt>
                <c:pt idx="72">
                  <c:v>13.953200807259</c:v>
                </c:pt>
                <c:pt idx="73">
                  <c:v>7.9116087040804</c:v>
                </c:pt>
                <c:pt idx="74">
                  <c:v>5.3223549459746</c:v>
                </c:pt>
                <c:pt idx="75">
                  <c:v>14.384743102141</c:v>
                </c:pt>
                <c:pt idx="76">
                  <c:v>10.069320172897</c:v>
                </c:pt>
                <c:pt idx="77">
                  <c:v>15.391675116075</c:v>
                </c:pt>
                <c:pt idx="78">
                  <c:v>6.3292869682974</c:v>
                </c:pt>
                <c:pt idx="79">
                  <c:v>12.514726498443</c:v>
                </c:pt>
                <c:pt idx="80">
                  <c:v>9.2062355887256</c:v>
                </c:pt>
                <c:pt idx="81">
                  <c:v>17.693234014655</c:v>
                </c:pt>
                <c:pt idx="82">
                  <c:v>2.5892537581057</c:v>
                </c:pt>
                <c:pt idx="83">
                  <c:v>2.157711463224</c:v>
                </c:pt>
                <c:pt idx="84">
                  <c:v>6.3292869655012</c:v>
                </c:pt>
                <c:pt idx="85">
                  <c:v>8.3431509989621</c:v>
                </c:pt>
                <c:pt idx="86">
                  <c:v>14.097048239818</c:v>
                </c:pt>
                <c:pt idx="87">
                  <c:v>6.0415921031788</c:v>
                </c:pt>
                <c:pt idx="88">
                  <c:v>12.802421357969</c:v>
                </c:pt>
                <c:pt idx="89">
                  <c:v>11.507794478917</c:v>
                </c:pt>
                <c:pt idx="90">
                  <c:v>20.138640340201</c:v>
                </c:pt>
                <c:pt idx="91">
                  <c:v>12.227031633325</c:v>
                </c:pt>
                <c:pt idx="92">
                  <c:v>6.4731343980605</c:v>
                </c:pt>
                <c:pt idx="93">
                  <c:v>12.946268790529</c:v>
                </c:pt>
                <c:pt idx="94">
                  <c:v>10.788557324509</c:v>
                </c:pt>
                <c:pt idx="95">
                  <c:v>10.500862462186</c:v>
                </c:pt>
                <c:pt idx="96">
                  <c:v>7.336218987824</c:v>
                </c:pt>
                <c:pt idx="97">
                  <c:v>9.0623881561663</c:v>
                </c:pt>
                <c:pt idx="98">
                  <c:v>9.2062355887256</c:v>
                </c:pt>
                <c:pt idx="99">
                  <c:v>8.9185407208108</c:v>
                </c:pt>
                <c:pt idx="100">
                  <c:v>3.4523383478692</c:v>
                </c:pt>
                <c:pt idx="101">
                  <c:v>9.0623881533701</c:v>
                </c:pt>
                <c:pt idx="102">
                  <c:v>7.4800664119948</c:v>
                </c:pt>
                <c:pt idx="103">
                  <c:v>15.535522548634</c:v>
                </c:pt>
                <c:pt idx="104">
                  <c:v>8.0554561366397</c:v>
                </c:pt>
                <c:pt idx="105">
                  <c:v>7.7677612743172</c:v>
                </c:pt>
                <c:pt idx="106">
                  <c:v>17.405539152332</c:v>
                </c:pt>
                <c:pt idx="107">
                  <c:v>11.795489346831</c:v>
                </c:pt>
                <c:pt idx="108">
                  <c:v>6.4731343952644</c:v>
                </c:pt>
                <c:pt idx="109">
                  <c:v>12.946268790529</c:v>
                </c:pt>
                <c:pt idx="110">
                  <c:v>3.0207960501913</c:v>
                </c:pt>
                <c:pt idx="111">
                  <c:v>2.7331011878689</c:v>
                </c:pt>
                <c:pt idx="112">
                  <c:v>2.4454063283426</c:v>
                </c:pt>
                <c:pt idx="113">
                  <c:v>9.7816253077781</c:v>
                </c:pt>
                <c:pt idx="114">
                  <c:v>12.946268793325</c:v>
                </c:pt>
                <c:pt idx="115">
                  <c:v>3.1646434827506</c:v>
                </c:pt>
                <c:pt idx="116">
                  <c:v>8.0554561366397</c:v>
                </c:pt>
                <c:pt idx="117">
                  <c:v>18.2686237393</c:v>
                </c:pt>
                <c:pt idx="118">
                  <c:v>6.4731343952644</c:v>
                </c:pt>
                <c:pt idx="119">
                  <c:v>8.0554561394359</c:v>
                </c:pt>
                <c:pt idx="120">
                  <c:v>6.4731343924682</c:v>
                </c:pt>
                <c:pt idx="121">
                  <c:v>10.213167599864</c:v>
                </c:pt>
                <c:pt idx="122">
                  <c:v>11.507794481713</c:v>
                </c:pt>
                <c:pt idx="123">
                  <c:v>14.097048237022</c:v>
                </c:pt>
                <c:pt idx="124">
                  <c:v>2.7331011878689</c:v>
                </c:pt>
                <c:pt idx="125">
                  <c:v>2.8769486204282</c:v>
                </c:pt>
                <c:pt idx="126">
                  <c:v>17.117844295602</c:v>
                </c:pt>
                <c:pt idx="127">
                  <c:v>5.7538972408564</c:v>
                </c:pt>
                <c:pt idx="128">
                  <c:v>6.3292869655012</c:v>
                </c:pt>
                <c:pt idx="129">
                  <c:v>7.480066414791</c:v>
                </c:pt>
                <c:pt idx="130">
                  <c:v>4.1715755022772</c:v>
                </c:pt>
                <c:pt idx="131">
                  <c:v>5.7538972408564</c:v>
                </c:pt>
                <c:pt idx="132">
                  <c:v>5.8977446734157</c:v>
                </c:pt>
                <c:pt idx="133">
                  <c:v>4.7469652213298</c:v>
                </c:pt>
                <c:pt idx="134">
                  <c:v>8.6308458612846</c:v>
                </c:pt>
                <c:pt idx="135">
                  <c:v>17.549386582095</c:v>
                </c:pt>
                <c:pt idx="136">
                  <c:v>7.4800664175872</c:v>
                </c:pt>
                <c:pt idx="137">
                  <c:v>13.665505944937</c:v>
                </c:pt>
                <c:pt idx="138">
                  <c:v>14.384743099345</c:v>
                </c:pt>
                <c:pt idx="139">
                  <c:v>9.2062355887256</c:v>
                </c:pt>
                <c:pt idx="140">
                  <c:v>8.4869984287253</c:v>
                </c:pt>
                <c:pt idx="141">
                  <c:v>3.3084909125138</c:v>
                </c:pt>
                <c:pt idx="142">
                  <c:v>1.438474308816</c:v>
                </c:pt>
                <c:pt idx="143">
                  <c:v>5.3223549459746</c:v>
                </c:pt>
                <c:pt idx="144">
                  <c:v>5.7538972408564</c:v>
                </c:pt>
                <c:pt idx="145">
                  <c:v>7.1923715552647</c:v>
                </c:pt>
                <c:pt idx="146">
                  <c:v>5.4662023757378</c:v>
                </c:pt>
                <c:pt idx="147">
                  <c:v>1.8700166009016</c:v>
                </c:pt>
                <c:pt idx="148">
                  <c:v>3.59618577204</c:v>
                </c:pt>
                <c:pt idx="149">
                  <c:v>6.4731343952644</c:v>
                </c:pt>
                <c:pt idx="150">
                  <c:v>1.438474308816</c:v>
                </c:pt>
                <c:pt idx="151">
                  <c:v>2.4454063255464</c:v>
                </c:pt>
                <c:pt idx="152">
                  <c:v>9.7816253105743</c:v>
                </c:pt>
                <c:pt idx="153">
                  <c:v>8.1993035636066</c:v>
                </c:pt>
                <c:pt idx="154">
                  <c:v>4.3154229320404</c:v>
                </c:pt>
                <c:pt idx="155">
                  <c:v>4.8908126538891</c:v>
                </c:pt>
                <c:pt idx="156">
                  <c:v>5.7538972408564</c:v>
                </c:pt>
                <c:pt idx="157">
                  <c:v>4.6031177915666</c:v>
                </c:pt>
                <c:pt idx="158">
                  <c:v>8.6308458668769</c:v>
                </c:pt>
                <c:pt idx="159">
                  <c:v>6.6169818250275</c:v>
                </c:pt>
                <c:pt idx="160">
                  <c:v>8.3431510017583</c:v>
                </c:pt>
                <c:pt idx="161">
                  <c:v>7.4800664119948</c:v>
                </c:pt>
                <c:pt idx="162">
                  <c:v>7.1923715524685</c:v>
                </c:pt>
                <c:pt idx="163">
                  <c:v>10.069320170101</c:v>
                </c:pt>
                <c:pt idx="164">
                  <c:v>5.4662023785339</c:v>
                </c:pt>
                <c:pt idx="165">
                  <c:v>3.0207960501913</c:v>
                </c:pt>
                <c:pt idx="166">
                  <c:v>6.7608292575868</c:v>
                </c:pt>
                <c:pt idx="167">
                  <c:v>6.3292869627051</c:v>
                </c:pt>
                <c:pt idx="168">
                  <c:v>6.7608292575868</c:v>
                </c:pt>
                <c:pt idx="169">
                  <c:v>7.7677612771134</c:v>
                </c:pt>
                <c:pt idx="170">
                  <c:v>13.665505944937</c:v>
                </c:pt>
                <c:pt idx="171">
                  <c:v>12.370879065884</c:v>
                </c:pt>
                <c:pt idx="172">
                  <c:v>11.076252189627</c:v>
                </c:pt>
                <c:pt idx="173">
                  <c:v>3.3084909125138</c:v>
                </c:pt>
                <c:pt idx="174">
                  <c:v>5.1785075190077</c:v>
                </c:pt>
                <c:pt idx="175">
                  <c:v>6.3292869627051</c:v>
                </c:pt>
                <c:pt idx="176">
                  <c:v>7.3362189794355</c:v>
                </c:pt>
                <c:pt idx="177">
                  <c:v>4.6031177943628</c:v>
                </c:pt>
                <c:pt idx="178">
                  <c:v>4.8908126594814</c:v>
                </c:pt>
                <c:pt idx="179">
                  <c:v>5.0346600836522</c:v>
                </c:pt>
                <c:pt idx="180">
                  <c:v>5.8977446734157</c:v>
                </c:pt>
                <c:pt idx="181">
                  <c:v>4.1715754938887</c:v>
                </c:pt>
                <c:pt idx="182">
                  <c:v>3.4523383394807</c:v>
                </c:pt>
                <c:pt idx="183">
                  <c:v>5.1785075134153</c:v>
                </c:pt>
                <c:pt idx="184">
                  <c:v>7.0485241227054</c:v>
                </c:pt>
                <c:pt idx="185">
                  <c:v>8.3431510017583</c:v>
                </c:pt>
                <c:pt idx="186">
                  <c:v>10.932404754272</c:v>
                </c:pt>
                <c:pt idx="187">
                  <c:v>2.8769486148358</c:v>
                </c:pt>
                <c:pt idx="188">
                  <c:v>4.4592703618035</c:v>
                </c:pt>
                <c:pt idx="189">
                  <c:v>5.3223549431785</c:v>
                </c:pt>
                <c:pt idx="190">
                  <c:v>5.6100498110932</c:v>
                </c:pt>
                <c:pt idx="191">
                  <c:v>6.9046766929423</c:v>
                </c:pt>
                <c:pt idx="192">
                  <c:v>5.0346600864484</c:v>
                </c:pt>
                <c:pt idx="193">
                  <c:v>3.1646434799545</c:v>
                </c:pt>
                <c:pt idx="194">
                  <c:v>1.438474308816</c:v>
                </c:pt>
                <c:pt idx="195">
                  <c:v>6.0415921003826</c:v>
                </c:pt>
                <c:pt idx="196">
                  <c:v>10.069320167304</c:v>
                </c:pt>
                <c:pt idx="197">
                  <c:v>5.4662023813301</c:v>
                </c:pt>
                <c:pt idx="198">
                  <c:v>2.7331011878689</c:v>
                </c:pt>
                <c:pt idx="199">
                  <c:v>8.918540723607</c:v>
                </c:pt>
                <c:pt idx="200">
                  <c:v>5.7538972380602</c:v>
                </c:pt>
                <c:pt idx="201">
                  <c:v>5.8977446706195</c:v>
                </c:pt>
                <c:pt idx="202">
                  <c:v>9.4939304482519</c:v>
                </c:pt>
                <c:pt idx="203">
                  <c:v>9.3500830128964</c:v>
                </c:pt>
                <c:pt idx="204">
                  <c:v>2.5892537525134</c:v>
                </c:pt>
                <c:pt idx="205">
                  <c:v>5.0346600836522</c:v>
                </c:pt>
                <c:pt idx="206">
                  <c:v>1.438474308816</c:v>
                </c:pt>
                <c:pt idx="207">
                  <c:v>3.0207960473951</c:v>
                </c:pt>
                <c:pt idx="208">
                  <c:v>2.7331011878689</c:v>
                </c:pt>
                <c:pt idx="209">
                  <c:v>6.6169818278237</c:v>
                </c:pt>
                <c:pt idx="210">
                  <c:v>14.816285394226</c:v>
                </c:pt>
                <c:pt idx="211">
                  <c:v>8.77469329664</c:v>
                </c:pt>
                <c:pt idx="212">
                  <c:v>3.7400332018032</c:v>
                </c:pt>
                <c:pt idx="213">
                  <c:v>2.157711463224</c:v>
                </c:pt>
                <c:pt idx="214">
                  <c:v>5.4662023757378</c:v>
                </c:pt>
                <c:pt idx="215">
                  <c:v>5.3223549459746</c:v>
                </c:pt>
                <c:pt idx="216">
                  <c:v>4.0277280669218</c:v>
                </c:pt>
                <c:pt idx="217">
                  <c:v>4.1715754994811</c:v>
                </c:pt>
                <c:pt idx="218">
                  <c:v>5.6100498110932</c:v>
                </c:pt>
                <c:pt idx="219">
                  <c:v>8.7746932938439</c:v>
                </c:pt>
                <c:pt idx="220">
                  <c:v>7.1923715552647</c:v>
                </c:pt>
                <c:pt idx="221">
                  <c:v>7.0485241199092</c:v>
                </c:pt>
                <c:pt idx="222">
                  <c:v>5.0346600864484</c:v>
                </c:pt>
                <c:pt idx="223">
                  <c:v>4.0277280697179</c:v>
                </c:pt>
                <c:pt idx="224">
                  <c:v>2.4454063227503</c:v>
                </c:pt>
                <c:pt idx="225">
                  <c:v>0.86308458417114</c:v>
                </c:pt>
                <c:pt idx="226">
                  <c:v>4.1715754994811</c:v>
                </c:pt>
                <c:pt idx="227">
                  <c:v>6.6169818278237</c:v>
                </c:pt>
                <c:pt idx="228">
                  <c:v>7.0485241227054</c:v>
                </c:pt>
                <c:pt idx="229">
                  <c:v>3.8838806343625</c:v>
                </c:pt>
                <c:pt idx="230">
                  <c:v>6.9046766901461</c:v>
                </c:pt>
                <c:pt idx="231">
                  <c:v>5.8977446678233</c:v>
                </c:pt>
                <c:pt idx="232">
                  <c:v>1.7261691739346</c:v>
                </c:pt>
                <c:pt idx="233">
                  <c:v>7.1923715552647</c:v>
                </c:pt>
                <c:pt idx="234">
                  <c:v>6.4731343980605</c:v>
                </c:pt>
                <c:pt idx="235">
                  <c:v>8.1993035719952</c:v>
                </c:pt>
                <c:pt idx="236">
                  <c:v>5.1785075162115</c:v>
                </c:pt>
                <c:pt idx="237">
                  <c:v>4.1715754966849</c:v>
                </c:pt>
                <c:pt idx="238">
                  <c:v>7.480066414791</c:v>
                </c:pt>
                <c:pt idx="239">
                  <c:v>6.4731343952644</c:v>
                </c:pt>
                <c:pt idx="240">
                  <c:v>5.8977446678233</c:v>
                </c:pt>
                <c:pt idx="241">
                  <c:v>4.0277280641256</c:v>
                </c:pt>
                <c:pt idx="242">
                  <c:v>2.876948617632</c:v>
                </c:pt>
                <c:pt idx="243">
                  <c:v>1.8700166009016</c:v>
                </c:pt>
                <c:pt idx="244">
                  <c:v>6.0415921031788</c:v>
                </c:pt>
                <c:pt idx="245">
                  <c:v>8.9185407264032</c:v>
                </c:pt>
                <c:pt idx="246">
                  <c:v>11.65164190868</c:v>
                </c:pt>
                <c:pt idx="247">
                  <c:v>6.1854395385343</c:v>
                </c:pt>
                <c:pt idx="248">
                  <c:v>4.4592703618035</c:v>
                </c:pt>
                <c:pt idx="249">
                  <c:v>3.7400332045993</c:v>
                </c:pt>
                <c:pt idx="250">
                  <c:v>5.4662023785339</c:v>
                </c:pt>
                <c:pt idx="251">
                  <c:v>2.4454063255464</c:v>
                </c:pt>
                <c:pt idx="252">
                  <c:v>5.6100498082971</c:v>
                </c:pt>
                <c:pt idx="253">
                  <c:v>5.3223549459746</c:v>
                </c:pt>
                <c:pt idx="254">
                  <c:v>7.0485241227054</c:v>
                </c:pt>
                <c:pt idx="255">
                  <c:v>4.7469652213298</c:v>
                </c:pt>
                <c:pt idx="256">
                  <c:v>4.8908126538891</c:v>
                </c:pt>
                <c:pt idx="257">
                  <c:v>2.3015588957833</c:v>
                </c:pt>
                <c:pt idx="258">
                  <c:v>2.157711463224</c:v>
                </c:pt>
                <c:pt idx="259">
                  <c:v>1.2946268790529</c:v>
                </c:pt>
                <c:pt idx="260">
                  <c:v>3.7400332045993</c:v>
                </c:pt>
                <c:pt idx="261">
                  <c:v>5.6100498082971</c:v>
                </c:pt>
                <c:pt idx="262">
                  <c:v>3.0207960529875</c:v>
                </c:pt>
                <c:pt idx="263">
                  <c:v>5.6100498082971</c:v>
                </c:pt>
                <c:pt idx="264">
                  <c:v>5.9182943042417</c:v>
                </c:pt>
                <c:pt idx="265">
                  <c:v>8.7746932938439</c:v>
                </c:pt>
                <c:pt idx="266">
                  <c:v>6.4731343952644</c:v>
                </c:pt>
                <c:pt idx="267">
                  <c:v>5.4662023785339</c:v>
                </c:pt>
                <c:pt idx="268">
                  <c:v>4.1715754994811</c:v>
                </c:pt>
                <c:pt idx="269">
                  <c:v>5.4662023785339</c:v>
                </c:pt>
                <c:pt idx="270">
                  <c:v>2.157711463224</c:v>
                </c:pt>
                <c:pt idx="271">
                  <c:v>3.8838806371586</c:v>
                </c:pt>
                <c:pt idx="272">
                  <c:v>5.8977446678233</c:v>
                </c:pt>
                <c:pt idx="273">
                  <c:v>6.4731343924682</c:v>
                </c:pt>
                <c:pt idx="274">
                  <c:v>4.6031177943628</c:v>
                </c:pt>
                <c:pt idx="275">
                  <c:v>6.0415921031788</c:v>
                </c:pt>
                <c:pt idx="276">
                  <c:v>8.4869984287253</c:v>
                </c:pt>
                <c:pt idx="277">
                  <c:v>9.0623881561663</c:v>
                </c:pt>
                <c:pt idx="278">
                  <c:v>8.1993035664028</c:v>
                </c:pt>
                <c:pt idx="279">
                  <c:v>6.7608292575868</c:v>
                </c:pt>
                <c:pt idx="280">
                  <c:v>2.3015588929871</c:v>
                </c:pt>
                <c:pt idx="281">
                  <c:v>7.0485241199092</c:v>
                </c:pt>
                <c:pt idx="282">
                  <c:v>8.7746932938439</c:v>
                </c:pt>
                <c:pt idx="283">
                  <c:v>3.59618577204</c:v>
                </c:pt>
                <c:pt idx="284">
                  <c:v>5.4662023757378</c:v>
                </c:pt>
                <c:pt idx="285">
                  <c:v>6.9046766901461</c:v>
                </c:pt>
                <c:pt idx="286">
                  <c:v>11.939336776594</c:v>
                </c:pt>
                <c:pt idx="287">
                  <c:v>6.3292869682974</c:v>
                </c:pt>
                <c:pt idx="288">
                  <c:v>8.0554561394359</c:v>
                </c:pt>
                <c:pt idx="289">
                  <c:v>10.644709894745</c:v>
                </c:pt>
                <c:pt idx="290">
                  <c:v>8.3842502686033</c:v>
                </c:pt>
                <c:pt idx="291">
                  <c:v>7.1923715496724</c:v>
                </c:pt>
                <c:pt idx="292">
                  <c:v>11.220099613798</c:v>
                </c:pt>
                <c:pt idx="293">
                  <c:v>14.672437961667</c:v>
                </c:pt>
                <c:pt idx="294">
                  <c:v>8.199303569199</c:v>
                </c:pt>
                <c:pt idx="295">
                  <c:v>3.5961857748362</c:v>
                </c:pt>
                <c:pt idx="296">
                  <c:v>2.0138640306647</c:v>
                </c:pt>
                <c:pt idx="297">
                  <c:v>4.7469652241259</c:v>
                </c:pt>
                <c:pt idx="298">
                  <c:v>10.21316760266</c:v>
                </c:pt>
                <c:pt idx="299">
                  <c:v>9.2062355887256</c:v>
                </c:pt>
                <c:pt idx="300">
                  <c:v>13.090116220292</c:v>
                </c:pt>
                <c:pt idx="301">
                  <c:v>7.0485241227054</c:v>
                </c:pt>
                <c:pt idx="302">
                  <c:v>7.1923715496724</c:v>
                </c:pt>
                <c:pt idx="303">
                  <c:v>5.6100498110932</c:v>
                </c:pt>
                <c:pt idx="304">
                  <c:v>12.083184200765</c:v>
                </c:pt>
                <c:pt idx="305">
                  <c:v>4.7469652213298</c:v>
                </c:pt>
                <c:pt idx="306">
                  <c:v>11.363947046357</c:v>
                </c:pt>
                <c:pt idx="307">
                  <c:v>5.4662023757378</c:v>
                </c:pt>
                <c:pt idx="308">
                  <c:v>12.083184203561</c:v>
                </c:pt>
                <c:pt idx="309">
                  <c:v>12.370879065884</c:v>
                </c:pt>
                <c:pt idx="310">
                  <c:v>17.980928879773</c:v>
                </c:pt>
                <c:pt idx="311">
                  <c:v>18.700166031385</c:v>
                </c:pt>
                <c:pt idx="312">
                  <c:v>7.3362189850279</c:v>
                </c:pt>
                <c:pt idx="313">
                  <c:v>10.644709891949</c:v>
                </c:pt>
                <c:pt idx="314">
                  <c:v>6.6169818250275</c:v>
                </c:pt>
                <c:pt idx="315">
                  <c:v>6.0415921031788</c:v>
                </c:pt>
                <c:pt idx="316">
                  <c:v>14.240895666785</c:v>
                </c:pt>
                <c:pt idx="317">
                  <c:v>13.665505947733</c:v>
                </c:pt>
                <c:pt idx="318">
                  <c:v>7.1923715524685</c:v>
                </c:pt>
                <c:pt idx="319">
                  <c:v>7.9116087068766</c:v>
                </c:pt>
                <c:pt idx="320">
                  <c:v>10.644709891949</c:v>
                </c:pt>
                <c:pt idx="321">
                  <c:v>4.8908126538891</c:v>
                </c:pt>
                <c:pt idx="322">
                  <c:v>4.7469652269221</c:v>
                </c:pt>
                <c:pt idx="323">
                  <c:v>4.7469652213298</c:v>
                </c:pt>
                <c:pt idx="324">
                  <c:v>6.6169818250275</c:v>
                </c:pt>
                <c:pt idx="325">
                  <c:v>4.6031177915666</c:v>
                </c:pt>
                <c:pt idx="326">
                  <c:v>4.6031177887705</c:v>
                </c:pt>
                <c:pt idx="327">
                  <c:v>22.152504373662</c:v>
                </c:pt>
                <c:pt idx="328">
                  <c:v>14.672437958871</c:v>
                </c:pt>
                <c:pt idx="329">
                  <c:v>9.9254727431336</c:v>
                </c:pt>
                <c:pt idx="330">
                  <c:v>5.7538972380602</c:v>
                </c:pt>
                <c:pt idx="331">
                  <c:v>12.227031638917</c:v>
                </c:pt>
                <c:pt idx="332">
                  <c:v>3.0207960501913</c:v>
                </c:pt>
                <c:pt idx="333">
                  <c:v>5.3223549459746</c:v>
                </c:pt>
                <c:pt idx="334">
                  <c:v>14.672437961667</c:v>
                </c:pt>
                <c:pt idx="335">
                  <c:v>9.781625304982</c:v>
                </c:pt>
                <c:pt idx="336">
                  <c:v>8.3431509989621</c:v>
                </c:pt>
                <c:pt idx="337">
                  <c:v>6.4731343980605</c:v>
                </c:pt>
                <c:pt idx="338">
                  <c:v>5.4662023813301</c:v>
                </c:pt>
                <c:pt idx="339">
                  <c:v>5.4662023757378</c:v>
                </c:pt>
                <c:pt idx="340">
                  <c:v>13.953200807259</c:v>
                </c:pt>
                <c:pt idx="341">
                  <c:v>16.542454562569</c:v>
                </c:pt>
                <c:pt idx="342">
                  <c:v>8.7746932938439</c:v>
                </c:pt>
                <c:pt idx="343">
                  <c:v>5.3223549459746</c:v>
                </c:pt>
                <c:pt idx="344">
                  <c:v>14.240895666785</c:v>
                </c:pt>
                <c:pt idx="345">
                  <c:v>13.953200804463</c:v>
                </c:pt>
                <c:pt idx="346">
                  <c:v>10.069320170101</c:v>
                </c:pt>
                <c:pt idx="347">
                  <c:v>4.8908126510929</c:v>
                </c:pt>
                <c:pt idx="348">
                  <c:v>10.788557330101</c:v>
                </c:pt>
                <c:pt idx="349">
                  <c:v>15.103980253753</c:v>
                </c:pt>
                <c:pt idx="350">
                  <c:v>17.549386584892</c:v>
                </c:pt>
                <c:pt idx="351">
                  <c:v>14.240895669582</c:v>
                </c:pt>
                <c:pt idx="352">
                  <c:v>11.651641914272</c:v>
                </c:pt>
                <c:pt idx="353">
                  <c:v>6.7608292575868</c:v>
                </c:pt>
                <c:pt idx="354">
                  <c:v>8.0554561366397</c:v>
                </c:pt>
                <c:pt idx="355">
                  <c:v>5.4662023785339</c:v>
                </c:pt>
                <c:pt idx="356">
                  <c:v>8.4869984259291</c:v>
                </c:pt>
                <c:pt idx="357">
                  <c:v>10.069320170101</c:v>
                </c:pt>
                <c:pt idx="358">
                  <c:v>4.7469652269221</c:v>
                </c:pt>
                <c:pt idx="359">
                  <c:v>6.0415921031788</c:v>
                </c:pt>
                <c:pt idx="360">
                  <c:v>23.447131255511</c:v>
                </c:pt>
                <c:pt idx="361">
                  <c:v>9.6377778752188</c:v>
                </c:pt>
                <c:pt idx="362">
                  <c:v>10.02822090725</c:v>
                </c:pt>
              </c:numCache>
            </c:numRef>
          </c:xVal>
          <c:yVal>
            <c:numRef>
              <c:f>'Chart Data'!$D$2:$D$364</c:f>
              <c:numCache>
                <c:formatCode>0.0</c:formatCode>
                <c:ptCount val="363"/>
                <c:pt idx="0">
                  <c:v>6.9631725</c:v>
                </c:pt>
                <c:pt idx="1">
                  <c:v>3.45823</c:v>
                </c:pt>
                <c:pt idx="2">
                  <c:v>6.33128</c:v>
                </c:pt>
                <c:pt idx="3">
                  <c:v>5.3051125</c:v>
                </c:pt>
                <c:pt idx="4">
                  <c:v>2.212132875</c:v>
                </c:pt>
                <c:pt idx="5">
                  <c:v>6.50232875</c:v>
                </c:pt>
                <c:pt idx="6">
                  <c:v>1.90859625</c:v>
                </c:pt>
                <c:pt idx="7">
                  <c:v>1.534085</c:v>
                </c:pt>
                <c:pt idx="8">
                  <c:v>2.4031375</c:v>
                </c:pt>
                <c:pt idx="9">
                  <c:v>3.60349875</c:v>
                </c:pt>
                <c:pt idx="10">
                  <c:v>3.91155875</c:v>
                </c:pt>
                <c:pt idx="11">
                  <c:v>5.62464125</c:v>
                </c:pt>
                <c:pt idx="12">
                  <c:v>7.14051625</c:v>
                </c:pt>
                <c:pt idx="13">
                  <c:v>4.1349325</c:v>
                </c:pt>
                <c:pt idx="14">
                  <c:v>2.5513375</c:v>
                </c:pt>
                <c:pt idx="15">
                  <c:v>6.63233625</c:v>
                </c:pt>
                <c:pt idx="16">
                  <c:v>3.8534225</c:v>
                </c:pt>
                <c:pt idx="17">
                  <c:v>6.07771375</c:v>
                </c:pt>
                <c:pt idx="18">
                  <c:v>5.22216625</c:v>
                </c:pt>
                <c:pt idx="19">
                  <c:v>3.84844125</c:v>
                </c:pt>
                <c:pt idx="20">
                  <c:v>3.94700125</c:v>
                </c:pt>
                <c:pt idx="21">
                  <c:v>3.04498375</c:v>
                </c:pt>
                <c:pt idx="22">
                  <c:v>3.65750625</c:v>
                </c:pt>
                <c:pt idx="23">
                  <c:v>2.53721425</c:v>
                </c:pt>
                <c:pt idx="24">
                  <c:v>6.55322375</c:v>
                </c:pt>
                <c:pt idx="25">
                  <c:v>4.80064875</c:v>
                </c:pt>
                <c:pt idx="26">
                  <c:v>5.3927625</c:v>
                </c:pt>
                <c:pt idx="27">
                  <c:v>6.56980125</c:v>
                </c:pt>
                <c:pt idx="28">
                  <c:v>6.63119625</c:v>
                </c:pt>
                <c:pt idx="29">
                  <c:v>2.53269</c:v>
                </c:pt>
                <c:pt idx="30">
                  <c:v>3.11411125</c:v>
                </c:pt>
                <c:pt idx="31">
                  <c:v>4.7052075</c:v>
                </c:pt>
                <c:pt idx="32">
                  <c:v>5.9300125</c:v>
                </c:pt>
                <c:pt idx="33">
                  <c:v>4.541895</c:v>
                </c:pt>
                <c:pt idx="34">
                  <c:v>4.56875</c:v>
                </c:pt>
                <c:pt idx="35">
                  <c:v>2.54392625</c:v>
                </c:pt>
                <c:pt idx="36">
                  <c:v>2.217201</c:v>
                </c:pt>
                <c:pt idx="37">
                  <c:v>5.176875</c:v>
                </c:pt>
                <c:pt idx="38">
                  <c:v>3.40236875</c:v>
                </c:pt>
                <c:pt idx="39">
                  <c:v>3.26513875</c:v>
                </c:pt>
                <c:pt idx="40">
                  <c:v>1.26307475</c:v>
                </c:pt>
                <c:pt idx="41">
                  <c:v>1.779645375</c:v>
                </c:pt>
                <c:pt idx="42">
                  <c:v>5.2823225</c:v>
                </c:pt>
                <c:pt idx="43">
                  <c:v>4.296845</c:v>
                </c:pt>
                <c:pt idx="44">
                  <c:v>2.225195</c:v>
                </c:pt>
                <c:pt idx="45">
                  <c:v>4.53728625</c:v>
                </c:pt>
                <c:pt idx="46">
                  <c:v>6.3388175</c:v>
                </c:pt>
                <c:pt idx="47">
                  <c:v>6.0890225</c:v>
                </c:pt>
                <c:pt idx="48">
                  <c:v>3.15987</c:v>
                </c:pt>
                <c:pt idx="49">
                  <c:v>1.7973825</c:v>
                </c:pt>
                <c:pt idx="50">
                  <c:v>3.77628125</c:v>
                </c:pt>
                <c:pt idx="51">
                  <c:v>3.12930875</c:v>
                </c:pt>
                <c:pt idx="52">
                  <c:v>5.2380075</c:v>
                </c:pt>
                <c:pt idx="53">
                  <c:v>5.101895</c:v>
                </c:pt>
                <c:pt idx="54">
                  <c:v>7.02467</c:v>
                </c:pt>
                <c:pt idx="55">
                  <c:v>2.982615</c:v>
                </c:pt>
                <c:pt idx="56">
                  <c:v>3.03988625</c:v>
                </c:pt>
                <c:pt idx="57">
                  <c:v>5.068225</c:v>
                </c:pt>
                <c:pt idx="58">
                  <c:v>5.832585</c:v>
                </c:pt>
                <c:pt idx="59">
                  <c:v>6.8056725</c:v>
                </c:pt>
                <c:pt idx="60">
                  <c:v>1.157780375</c:v>
                </c:pt>
                <c:pt idx="61">
                  <c:v>3.6896875</c:v>
                </c:pt>
                <c:pt idx="62">
                  <c:v>6.91762625</c:v>
                </c:pt>
                <c:pt idx="63">
                  <c:v>6.64310625</c:v>
                </c:pt>
                <c:pt idx="64">
                  <c:v>7.08334</c:v>
                </c:pt>
                <c:pt idx="65">
                  <c:v>1.77760375</c:v>
                </c:pt>
                <c:pt idx="66">
                  <c:v>4.01505875</c:v>
                </c:pt>
                <c:pt idx="67">
                  <c:v>5.253525</c:v>
                </c:pt>
                <c:pt idx="68">
                  <c:v>7.46525375</c:v>
                </c:pt>
                <c:pt idx="69">
                  <c:v>5.71052875</c:v>
                </c:pt>
                <c:pt idx="70">
                  <c:v>3.09321375</c:v>
                </c:pt>
                <c:pt idx="71">
                  <c:v>6.1057975</c:v>
                </c:pt>
                <c:pt idx="72">
                  <c:v>6.6528625</c:v>
                </c:pt>
                <c:pt idx="73">
                  <c:v>4.9788125</c:v>
                </c:pt>
                <c:pt idx="74">
                  <c:v>2.194044</c:v>
                </c:pt>
                <c:pt idx="75">
                  <c:v>7.31771625</c:v>
                </c:pt>
                <c:pt idx="76">
                  <c:v>6.02802</c:v>
                </c:pt>
                <c:pt idx="77">
                  <c:v>5.93639625</c:v>
                </c:pt>
                <c:pt idx="78">
                  <c:v>4.2575</c:v>
                </c:pt>
                <c:pt idx="79">
                  <c:v>7.50130875</c:v>
                </c:pt>
                <c:pt idx="80">
                  <c:v>5.14418875</c:v>
                </c:pt>
                <c:pt idx="81">
                  <c:v>7.1944225</c:v>
                </c:pt>
                <c:pt idx="82">
                  <c:v>2.16675</c:v>
                </c:pt>
                <c:pt idx="83">
                  <c:v>1.367335375</c:v>
                </c:pt>
                <c:pt idx="84">
                  <c:v>1.492396625</c:v>
                </c:pt>
                <c:pt idx="85">
                  <c:v>4.41272</c:v>
                </c:pt>
                <c:pt idx="86">
                  <c:v>6.8501425</c:v>
                </c:pt>
                <c:pt idx="87">
                  <c:v>6.23364625</c:v>
                </c:pt>
                <c:pt idx="88">
                  <c:v>6.3705175</c:v>
                </c:pt>
                <c:pt idx="89">
                  <c:v>3.94841375</c:v>
                </c:pt>
                <c:pt idx="90">
                  <c:v>7.75639625</c:v>
                </c:pt>
                <c:pt idx="91">
                  <c:v>5.72645125</c:v>
                </c:pt>
                <c:pt idx="92">
                  <c:v>2.65415625</c:v>
                </c:pt>
                <c:pt idx="93">
                  <c:v>5.02208</c:v>
                </c:pt>
                <c:pt idx="94">
                  <c:v>4.03068525</c:v>
                </c:pt>
                <c:pt idx="95">
                  <c:v>2.8358175</c:v>
                </c:pt>
                <c:pt idx="96">
                  <c:v>2.4974425</c:v>
                </c:pt>
                <c:pt idx="97">
                  <c:v>2.318755</c:v>
                </c:pt>
                <c:pt idx="98">
                  <c:v>1.538681625</c:v>
                </c:pt>
                <c:pt idx="99">
                  <c:v>2.084965375</c:v>
                </c:pt>
                <c:pt idx="100">
                  <c:v>1.38835225</c:v>
                </c:pt>
                <c:pt idx="101">
                  <c:v>3.4334175</c:v>
                </c:pt>
                <c:pt idx="102">
                  <c:v>4.7669075</c:v>
                </c:pt>
                <c:pt idx="103">
                  <c:v>6.9057525</c:v>
                </c:pt>
                <c:pt idx="104">
                  <c:v>3.0430225</c:v>
                </c:pt>
                <c:pt idx="105">
                  <c:v>4.27101375</c:v>
                </c:pt>
                <c:pt idx="106">
                  <c:v>7.3544275</c:v>
                </c:pt>
                <c:pt idx="107">
                  <c:v>4.826047375</c:v>
                </c:pt>
                <c:pt idx="108">
                  <c:v>2.9583025</c:v>
                </c:pt>
                <c:pt idx="109">
                  <c:v>6.56241</c:v>
                </c:pt>
                <c:pt idx="110">
                  <c:v>1.8100625</c:v>
                </c:pt>
                <c:pt idx="111">
                  <c:v>3.27954125</c:v>
                </c:pt>
                <c:pt idx="112">
                  <c:v>1.477387125</c:v>
                </c:pt>
                <c:pt idx="113">
                  <c:v>2.35678375</c:v>
                </c:pt>
                <c:pt idx="114">
                  <c:v>4.85937</c:v>
                </c:pt>
                <c:pt idx="115">
                  <c:v>2.4771075</c:v>
                </c:pt>
                <c:pt idx="116">
                  <c:v>4.78264375</c:v>
                </c:pt>
                <c:pt idx="117">
                  <c:v>7.1365</c:v>
                </c:pt>
                <c:pt idx="118">
                  <c:v>2.0373125</c:v>
                </c:pt>
                <c:pt idx="119">
                  <c:v>4.22022625</c:v>
                </c:pt>
                <c:pt idx="120">
                  <c:v>2.78884625</c:v>
                </c:pt>
                <c:pt idx="121">
                  <c:v>1.68608875</c:v>
                </c:pt>
                <c:pt idx="122">
                  <c:v>3.97866125</c:v>
                </c:pt>
                <c:pt idx="123">
                  <c:v>1.6194275</c:v>
                </c:pt>
                <c:pt idx="124">
                  <c:v>0.901057125</c:v>
                </c:pt>
                <c:pt idx="125">
                  <c:v>2.88862</c:v>
                </c:pt>
                <c:pt idx="126">
                  <c:v>3.43694625</c:v>
                </c:pt>
                <c:pt idx="127">
                  <c:v>2.551255125</c:v>
                </c:pt>
                <c:pt idx="128">
                  <c:v>1.68439</c:v>
                </c:pt>
                <c:pt idx="129">
                  <c:v>3.55877625</c:v>
                </c:pt>
                <c:pt idx="130">
                  <c:v>4.13528875</c:v>
                </c:pt>
                <c:pt idx="131">
                  <c:v>1.78817375</c:v>
                </c:pt>
                <c:pt idx="132">
                  <c:v>1.06705125</c:v>
                </c:pt>
                <c:pt idx="133">
                  <c:v>3.21330625</c:v>
                </c:pt>
                <c:pt idx="134">
                  <c:v>4.7103725</c:v>
                </c:pt>
                <c:pt idx="135">
                  <c:v>6.144415</c:v>
                </c:pt>
                <c:pt idx="136">
                  <c:v>3.6656575</c:v>
                </c:pt>
                <c:pt idx="137">
                  <c:v>4.33732375</c:v>
                </c:pt>
                <c:pt idx="138">
                  <c:v>6.39822</c:v>
                </c:pt>
                <c:pt idx="139">
                  <c:v>2.76818375</c:v>
                </c:pt>
                <c:pt idx="140">
                  <c:v>3.833225</c:v>
                </c:pt>
                <c:pt idx="141">
                  <c:v>2.70629875</c:v>
                </c:pt>
                <c:pt idx="142">
                  <c:v>2.48882375</c:v>
                </c:pt>
                <c:pt idx="143">
                  <c:v>2.23284875</c:v>
                </c:pt>
                <c:pt idx="144">
                  <c:v>2.25484625</c:v>
                </c:pt>
                <c:pt idx="145">
                  <c:v>3.77669125</c:v>
                </c:pt>
                <c:pt idx="146">
                  <c:v>1.223785625</c:v>
                </c:pt>
                <c:pt idx="147">
                  <c:v>0.42538125</c:v>
                </c:pt>
                <c:pt idx="148">
                  <c:v>1.84105675</c:v>
                </c:pt>
                <c:pt idx="149">
                  <c:v>4.93623125</c:v>
                </c:pt>
                <c:pt idx="150">
                  <c:v>1.90661</c:v>
                </c:pt>
                <c:pt idx="151">
                  <c:v>1.94065875</c:v>
                </c:pt>
                <c:pt idx="152">
                  <c:v>5.60180375</c:v>
                </c:pt>
                <c:pt idx="153">
                  <c:v>3.7346425</c:v>
                </c:pt>
                <c:pt idx="154">
                  <c:v>1.1441375</c:v>
                </c:pt>
                <c:pt idx="155">
                  <c:v>0.37476125</c:v>
                </c:pt>
                <c:pt idx="156">
                  <c:v>0.82489175</c:v>
                </c:pt>
                <c:pt idx="157">
                  <c:v>1.399984125</c:v>
                </c:pt>
                <c:pt idx="158">
                  <c:v>2.66630375</c:v>
                </c:pt>
                <c:pt idx="159">
                  <c:v>2.33820625</c:v>
                </c:pt>
                <c:pt idx="160">
                  <c:v>3.85898875</c:v>
                </c:pt>
                <c:pt idx="161">
                  <c:v>2.469381</c:v>
                </c:pt>
                <c:pt idx="162">
                  <c:v>0.760352</c:v>
                </c:pt>
                <c:pt idx="163">
                  <c:v>1.84258875</c:v>
                </c:pt>
                <c:pt idx="164">
                  <c:v>1.39123</c:v>
                </c:pt>
                <c:pt idx="165">
                  <c:v>1.261745875</c:v>
                </c:pt>
                <c:pt idx="166">
                  <c:v>1.420845</c:v>
                </c:pt>
                <c:pt idx="167">
                  <c:v>1.630803625</c:v>
                </c:pt>
                <c:pt idx="168">
                  <c:v>3.713805</c:v>
                </c:pt>
                <c:pt idx="169">
                  <c:v>3.46671</c:v>
                </c:pt>
                <c:pt idx="170">
                  <c:v>6.39588875</c:v>
                </c:pt>
                <c:pt idx="171">
                  <c:v>6.04556875</c:v>
                </c:pt>
                <c:pt idx="172">
                  <c:v>5.0381875</c:v>
                </c:pt>
                <c:pt idx="173">
                  <c:v>2.05636275</c:v>
                </c:pt>
                <c:pt idx="174">
                  <c:v>0.736977875</c:v>
                </c:pt>
                <c:pt idx="175">
                  <c:v>2.20940875</c:v>
                </c:pt>
                <c:pt idx="176">
                  <c:v>2.96843625</c:v>
                </c:pt>
                <c:pt idx="177">
                  <c:v>0.923711625</c:v>
                </c:pt>
                <c:pt idx="178">
                  <c:v>0.749183625</c:v>
                </c:pt>
                <c:pt idx="179">
                  <c:v>0.830682625</c:v>
                </c:pt>
                <c:pt idx="180">
                  <c:v>2.054468625</c:v>
                </c:pt>
                <c:pt idx="181">
                  <c:v>0.59227125</c:v>
                </c:pt>
                <c:pt idx="182">
                  <c:v>1.05106725</c:v>
                </c:pt>
                <c:pt idx="183">
                  <c:v>0.870326125</c:v>
                </c:pt>
                <c:pt idx="184">
                  <c:v>1.95877125</c:v>
                </c:pt>
                <c:pt idx="185">
                  <c:v>3.53693875</c:v>
                </c:pt>
                <c:pt idx="186">
                  <c:v>0.72794175</c:v>
                </c:pt>
                <c:pt idx="187">
                  <c:v>1.303589375</c:v>
                </c:pt>
                <c:pt idx="188">
                  <c:v>0.350957625</c:v>
                </c:pt>
                <c:pt idx="189">
                  <c:v>0.810689625</c:v>
                </c:pt>
                <c:pt idx="190">
                  <c:v>2.12311625</c:v>
                </c:pt>
                <c:pt idx="191">
                  <c:v>2.47412375</c:v>
                </c:pt>
                <c:pt idx="192">
                  <c:v>0.991541125</c:v>
                </c:pt>
                <c:pt idx="193">
                  <c:v>0.084267375</c:v>
                </c:pt>
                <c:pt idx="194">
                  <c:v>0.34953725</c:v>
                </c:pt>
                <c:pt idx="195">
                  <c:v>1.21984625</c:v>
                </c:pt>
                <c:pt idx="196">
                  <c:v>2.76352875</c:v>
                </c:pt>
                <c:pt idx="197">
                  <c:v>0.938830625</c:v>
                </c:pt>
                <c:pt idx="198">
                  <c:v>0.802417125</c:v>
                </c:pt>
                <c:pt idx="199">
                  <c:v>1.23428875</c:v>
                </c:pt>
                <c:pt idx="200">
                  <c:v>1.543617625</c:v>
                </c:pt>
                <c:pt idx="201">
                  <c:v>1.905965</c:v>
                </c:pt>
                <c:pt idx="202">
                  <c:v>3.2223975</c:v>
                </c:pt>
                <c:pt idx="203">
                  <c:v>3.49279325</c:v>
                </c:pt>
                <c:pt idx="204">
                  <c:v>1.42953275</c:v>
                </c:pt>
                <c:pt idx="205">
                  <c:v>1.188845</c:v>
                </c:pt>
                <c:pt idx="206">
                  <c:v>1.6363875</c:v>
                </c:pt>
                <c:pt idx="207">
                  <c:v>1.076505625</c:v>
                </c:pt>
                <c:pt idx="208">
                  <c:v>0.5609325</c:v>
                </c:pt>
                <c:pt idx="209">
                  <c:v>0.367201625</c:v>
                </c:pt>
                <c:pt idx="210">
                  <c:v>3.118045</c:v>
                </c:pt>
                <c:pt idx="211">
                  <c:v>2.81504375</c:v>
                </c:pt>
                <c:pt idx="212">
                  <c:v>1.80877375</c:v>
                </c:pt>
                <c:pt idx="213">
                  <c:v>1.28979625</c:v>
                </c:pt>
                <c:pt idx="214">
                  <c:v>1.85708625</c:v>
                </c:pt>
                <c:pt idx="215">
                  <c:v>1.006684375</c:v>
                </c:pt>
                <c:pt idx="216">
                  <c:v>0.77382375</c:v>
                </c:pt>
                <c:pt idx="217">
                  <c:v>1.1210775</c:v>
                </c:pt>
                <c:pt idx="218">
                  <c:v>2.3132325</c:v>
                </c:pt>
                <c:pt idx="219">
                  <c:v>4.27352875</c:v>
                </c:pt>
                <c:pt idx="220">
                  <c:v>3.09806875</c:v>
                </c:pt>
                <c:pt idx="221">
                  <c:v>2.40447</c:v>
                </c:pt>
                <c:pt idx="222">
                  <c:v>1.424593375</c:v>
                </c:pt>
                <c:pt idx="223">
                  <c:v>0.946965125</c:v>
                </c:pt>
                <c:pt idx="224">
                  <c:v>0.54929025</c:v>
                </c:pt>
                <c:pt idx="225">
                  <c:v>1.20172675</c:v>
                </c:pt>
                <c:pt idx="226">
                  <c:v>1.107805125</c:v>
                </c:pt>
                <c:pt idx="227">
                  <c:v>2.185335</c:v>
                </c:pt>
                <c:pt idx="228">
                  <c:v>1.82880125</c:v>
                </c:pt>
                <c:pt idx="229">
                  <c:v>2.029070625</c:v>
                </c:pt>
                <c:pt idx="230">
                  <c:v>0.68932725</c:v>
                </c:pt>
                <c:pt idx="231">
                  <c:v>1.04787775</c:v>
                </c:pt>
                <c:pt idx="232">
                  <c:v>0.352810875</c:v>
                </c:pt>
                <c:pt idx="233">
                  <c:v>1.49036375</c:v>
                </c:pt>
                <c:pt idx="234">
                  <c:v>2.03236</c:v>
                </c:pt>
                <c:pt idx="235">
                  <c:v>2.404715</c:v>
                </c:pt>
                <c:pt idx="236">
                  <c:v>1.027685125</c:v>
                </c:pt>
                <c:pt idx="237">
                  <c:v>0.659942</c:v>
                </c:pt>
                <c:pt idx="238">
                  <c:v>2.79201625</c:v>
                </c:pt>
                <c:pt idx="239">
                  <c:v>2.163995</c:v>
                </c:pt>
                <c:pt idx="240">
                  <c:v>1.3588445</c:v>
                </c:pt>
                <c:pt idx="241">
                  <c:v>1.7461075</c:v>
                </c:pt>
                <c:pt idx="242">
                  <c:v>1.689806125</c:v>
                </c:pt>
                <c:pt idx="243">
                  <c:v>0.975727875</c:v>
                </c:pt>
                <c:pt idx="244">
                  <c:v>1.24485125</c:v>
                </c:pt>
                <c:pt idx="245">
                  <c:v>2.50877625</c:v>
                </c:pt>
                <c:pt idx="246">
                  <c:v>5.22163875</c:v>
                </c:pt>
                <c:pt idx="247">
                  <c:v>1.5416525</c:v>
                </c:pt>
                <c:pt idx="248">
                  <c:v>1.1036385</c:v>
                </c:pt>
                <c:pt idx="249">
                  <c:v>0.775347625</c:v>
                </c:pt>
                <c:pt idx="250">
                  <c:v>2.10771625</c:v>
                </c:pt>
                <c:pt idx="251">
                  <c:v>0.978151375</c:v>
                </c:pt>
                <c:pt idx="252">
                  <c:v>1.084855625</c:v>
                </c:pt>
                <c:pt idx="253">
                  <c:v>2.51749375</c:v>
                </c:pt>
                <c:pt idx="254">
                  <c:v>3.71004125</c:v>
                </c:pt>
                <c:pt idx="255">
                  <c:v>1.631392875</c:v>
                </c:pt>
                <c:pt idx="256">
                  <c:v>3.84597875</c:v>
                </c:pt>
                <c:pt idx="257">
                  <c:v>2.82993375</c:v>
                </c:pt>
                <c:pt idx="258">
                  <c:v>0.912031875</c:v>
                </c:pt>
                <c:pt idx="259">
                  <c:v>1.189269375</c:v>
                </c:pt>
                <c:pt idx="260">
                  <c:v>1.63841325</c:v>
                </c:pt>
                <c:pt idx="261">
                  <c:v>1.20249375</c:v>
                </c:pt>
                <c:pt idx="262">
                  <c:v>1.4804825</c:v>
                </c:pt>
                <c:pt idx="263">
                  <c:v>1.83584125</c:v>
                </c:pt>
                <c:pt idx="264">
                  <c:v>1.61410725</c:v>
                </c:pt>
                <c:pt idx="265">
                  <c:v>0.8367555</c:v>
                </c:pt>
                <c:pt idx="266">
                  <c:v>0.901062375</c:v>
                </c:pt>
                <c:pt idx="267">
                  <c:v>0.289822375</c:v>
                </c:pt>
                <c:pt idx="268">
                  <c:v>0.760654625</c:v>
                </c:pt>
                <c:pt idx="269">
                  <c:v>1.019948625</c:v>
                </c:pt>
                <c:pt idx="270">
                  <c:v>1.0699125</c:v>
                </c:pt>
                <c:pt idx="271">
                  <c:v>1.354960875</c:v>
                </c:pt>
                <c:pt idx="272">
                  <c:v>3.8976375</c:v>
                </c:pt>
                <c:pt idx="273">
                  <c:v>3.332005</c:v>
                </c:pt>
                <c:pt idx="274">
                  <c:v>1.69888</c:v>
                </c:pt>
                <c:pt idx="275">
                  <c:v>2.53727</c:v>
                </c:pt>
                <c:pt idx="276">
                  <c:v>3.5419275</c:v>
                </c:pt>
                <c:pt idx="277">
                  <c:v>4.49502875</c:v>
                </c:pt>
                <c:pt idx="278">
                  <c:v>1.48153875</c:v>
                </c:pt>
                <c:pt idx="279">
                  <c:v>1.62692625</c:v>
                </c:pt>
                <c:pt idx="280">
                  <c:v>3.19072</c:v>
                </c:pt>
                <c:pt idx="281">
                  <c:v>3.7864425</c:v>
                </c:pt>
                <c:pt idx="282">
                  <c:v>2.24288</c:v>
                </c:pt>
                <c:pt idx="283">
                  <c:v>3.5101825</c:v>
                </c:pt>
                <c:pt idx="284">
                  <c:v>2.65931</c:v>
                </c:pt>
                <c:pt idx="285">
                  <c:v>1.447311375</c:v>
                </c:pt>
                <c:pt idx="286">
                  <c:v>1.5137075</c:v>
                </c:pt>
                <c:pt idx="287">
                  <c:v>2.184515</c:v>
                </c:pt>
                <c:pt idx="288">
                  <c:v>4.66277375</c:v>
                </c:pt>
                <c:pt idx="289">
                  <c:v>5.29155625</c:v>
                </c:pt>
                <c:pt idx="290">
                  <c:v>5.08811875</c:v>
                </c:pt>
                <c:pt idx="291">
                  <c:v>4.32747375</c:v>
                </c:pt>
                <c:pt idx="292">
                  <c:v>5.80197625</c:v>
                </c:pt>
                <c:pt idx="293">
                  <c:v>7.04646875</c:v>
                </c:pt>
                <c:pt idx="294">
                  <c:v>3.63760625</c:v>
                </c:pt>
                <c:pt idx="295">
                  <c:v>0.99710425</c:v>
                </c:pt>
                <c:pt idx="296">
                  <c:v>2.773935</c:v>
                </c:pt>
                <c:pt idx="297">
                  <c:v>3.05522125</c:v>
                </c:pt>
                <c:pt idx="298">
                  <c:v>6.04729125</c:v>
                </c:pt>
                <c:pt idx="299">
                  <c:v>5.54116625</c:v>
                </c:pt>
                <c:pt idx="300">
                  <c:v>6.4216875</c:v>
                </c:pt>
                <c:pt idx="301">
                  <c:v>5.55441875</c:v>
                </c:pt>
                <c:pt idx="302">
                  <c:v>4.4383625</c:v>
                </c:pt>
                <c:pt idx="303">
                  <c:v>1.819016125</c:v>
                </c:pt>
                <c:pt idx="304">
                  <c:v>5.7554925</c:v>
                </c:pt>
                <c:pt idx="305">
                  <c:v>2.68628875</c:v>
                </c:pt>
                <c:pt idx="306">
                  <c:v>7.20599125</c:v>
                </c:pt>
                <c:pt idx="307">
                  <c:v>2.382846875</c:v>
                </c:pt>
                <c:pt idx="308">
                  <c:v>6.7970125</c:v>
                </c:pt>
                <c:pt idx="309">
                  <c:v>2.43137</c:v>
                </c:pt>
                <c:pt idx="310">
                  <c:v>5.4137775</c:v>
                </c:pt>
                <c:pt idx="311">
                  <c:v>6.0339275</c:v>
                </c:pt>
                <c:pt idx="312">
                  <c:v>4.74614125</c:v>
                </c:pt>
                <c:pt idx="313">
                  <c:v>7.688325</c:v>
                </c:pt>
                <c:pt idx="314">
                  <c:v>4.9856725</c:v>
                </c:pt>
                <c:pt idx="315">
                  <c:v>4.7062675</c:v>
                </c:pt>
                <c:pt idx="316">
                  <c:v>6.95137</c:v>
                </c:pt>
                <c:pt idx="317">
                  <c:v>6.91171125</c:v>
                </c:pt>
                <c:pt idx="318">
                  <c:v>3.31206125</c:v>
                </c:pt>
                <c:pt idx="319">
                  <c:v>4.0655375</c:v>
                </c:pt>
                <c:pt idx="320">
                  <c:v>1.2232625</c:v>
                </c:pt>
                <c:pt idx="321">
                  <c:v>0.2132405</c:v>
                </c:pt>
                <c:pt idx="322">
                  <c:v>0.7166835</c:v>
                </c:pt>
                <c:pt idx="323">
                  <c:v>1.99051875</c:v>
                </c:pt>
                <c:pt idx="324">
                  <c:v>4.96533375</c:v>
                </c:pt>
                <c:pt idx="325">
                  <c:v>2.7055425</c:v>
                </c:pt>
                <c:pt idx="326">
                  <c:v>2.51585625</c:v>
                </c:pt>
                <c:pt idx="327">
                  <c:v>8.07725875</c:v>
                </c:pt>
                <c:pt idx="328">
                  <c:v>7.9872925</c:v>
                </c:pt>
                <c:pt idx="329">
                  <c:v>5.43729875</c:v>
                </c:pt>
                <c:pt idx="330">
                  <c:v>2.79911875</c:v>
                </c:pt>
                <c:pt idx="331">
                  <c:v>7.421945</c:v>
                </c:pt>
                <c:pt idx="332">
                  <c:v>0.828162875</c:v>
                </c:pt>
                <c:pt idx="333">
                  <c:v>1.95982</c:v>
                </c:pt>
                <c:pt idx="334">
                  <c:v>5.392885</c:v>
                </c:pt>
                <c:pt idx="335">
                  <c:v>4.43510875</c:v>
                </c:pt>
                <c:pt idx="336">
                  <c:v>3.53070125</c:v>
                </c:pt>
                <c:pt idx="337">
                  <c:v>4.2678775</c:v>
                </c:pt>
                <c:pt idx="338">
                  <c:v>2.83272</c:v>
                </c:pt>
                <c:pt idx="339">
                  <c:v>3.48195</c:v>
                </c:pt>
                <c:pt idx="340">
                  <c:v>6.43588375</c:v>
                </c:pt>
                <c:pt idx="341">
                  <c:v>7.73421</c:v>
                </c:pt>
                <c:pt idx="342">
                  <c:v>2.99127125</c:v>
                </c:pt>
                <c:pt idx="343">
                  <c:v>1.538257875</c:v>
                </c:pt>
                <c:pt idx="344">
                  <c:v>6.5388575</c:v>
                </c:pt>
                <c:pt idx="345">
                  <c:v>6.46840375</c:v>
                </c:pt>
                <c:pt idx="346">
                  <c:v>4.08136375</c:v>
                </c:pt>
                <c:pt idx="347">
                  <c:v>3.30268</c:v>
                </c:pt>
                <c:pt idx="348">
                  <c:v>7.7130875</c:v>
                </c:pt>
                <c:pt idx="349">
                  <c:v>8.2180075</c:v>
                </c:pt>
                <c:pt idx="350">
                  <c:v>7.9233175</c:v>
                </c:pt>
                <c:pt idx="351">
                  <c:v>7.46250375</c:v>
                </c:pt>
                <c:pt idx="352">
                  <c:v>5.50858</c:v>
                </c:pt>
                <c:pt idx="353">
                  <c:v>4.71334875</c:v>
                </c:pt>
                <c:pt idx="354">
                  <c:v>6.46722625</c:v>
                </c:pt>
                <c:pt idx="355">
                  <c:v>2.9626625</c:v>
                </c:pt>
                <c:pt idx="356">
                  <c:v>2.30173</c:v>
                </c:pt>
                <c:pt idx="357">
                  <c:v>5.185788875</c:v>
                </c:pt>
                <c:pt idx="358">
                  <c:v>1.413326875</c:v>
                </c:pt>
                <c:pt idx="359">
                  <c:v>4.65185625</c:v>
                </c:pt>
                <c:pt idx="360">
                  <c:v>7.0672675</c:v>
                </c:pt>
                <c:pt idx="361">
                  <c:v>5.608805</c:v>
                </c:pt>
                <c:pt idx="362">
                  <c:v>5.01510375</c:v>
                </c:pt>
              </c:numCache>
            </c:numRef>
          </c:yVal>
        </c:ser>
        <c:ser>
          <c:idx val="2"/>
          <c:order val="2"/>
          <c:tx>
            <c:v>Jan–Aug 2026</c:v>
          </c:tx>
          <c:spPr>
            <a:solidFill xmlns:a="http://schemas.openxmlformats.org/drawingml/2006/main">
              <a:srgbClr val="7051A1"/>
            </a:solidFill>
            <a:ln xmlns:a="http://schemas.openxmlformats.org/drawingml/2006/main" w="0">
              <a:noFill/>
            </a:ln>
          </c:spPr>
          <c:marker>
            <c:symbol val="circle"/>
            <c:size val="3"/>
          </c:marker>
          <c:xVal>
            <c:numRef>
              <c:f>'Chart Data'!$E$2:$E$241</c:f>
              <c:numCache>
                <c:formatCode>General</c:formatCode>
                <c:ptCount val="240"/>
                <c:pt idx="0">
                  <c:v>8.6308458668769</c:v>
                </c:pt>
                <c:pt idx="1">
                  <c:v>7.0485241199092</c:v>
                </c:pt>
                <c:pt idx="2">
                  <c:v>5.4662023813301</c:v>
                </c:pt>
                <c:pt idx="3">
                  <c:v>8.6308458640807</c:v>
                </c:pt>
                <c:pt idx="4">
                  <c:v>10.357015035219</c:v>
                </c:pt>
                <c:pt idx="5">
                  <c:v>4.4592703590073</c:v>
                </c:pt>
                <c:pt idx="6">
                  <c:v>8.7746932938439</c:v>
                </c:pt>
                <c:pt idx="7">
                  <c:v>10.932404759864</c:v>
                </c:pt>
                <c:pt idx="8">
                  <c:v>21.720962084373</c:v>
                </c:pt>
                <c:pt idx="9">
                  <c:v>8.9185407208108</c:v>
                </c:pt>
                <c:pt idx="10">
                  <c:v>14.672437964463</c:v>
                </c:pt>
                <c:pt idx="11">
                  <c:v>12.514726495647</c:v>
                </c:pt>
                <c:pt idx="12">
                  <c:v>11.22009961939</c:v>
                </c:pt>
                <c:pt idx="13">
                  <c:v>11.076252189627</c:v>
                </c:pt>
                <c:pt idx="14">
                  <c:v>15.679369978398</c:v>
                </c:pt>
                <c:pt idx="15">
                  <c:v>13.809353377496</c:v>
                </c:pt>
                <c:pt idx="16">
                  <c:v>16.973996860247</c:v>
                </c:pt>
                <c:pt idx="17">
                  <c:v>12.370879063088</c:v>
                </c:pt>
                <c:pt idx="18">
                  <c:v>13.809353377496</c:v>
                </c:pt>
                <c:pt idx="19">
                  <c:v>6.9046766901461</c:v>
                </c:pt>
                <c:pt idx="20">
                  <c:v>9.9254727403374</c:v>
                </c:pt>
                <c:pt idx="21">
                  <c:v>15.679369978398</c:v>
                </c:pt>
                <c:pt idx="22">
                  <c:v>15.823217413753</c:v>
                </c:pt>
                <c:pt idx="23">
                  <c:v>8.918540723607</c:v>
                </c:pt>
                <c:pt idx="24">
                  <c:v>9.7816253105743</c:v>
                </c:pt>
                <c:pt idx="25">
                  <c:v>12.227031630528</c:v>
                </c:pt>
                <c:pt idx="26">
                  <c:v>14.816285394226</c:v>
                </c:pt>
                <c:pt idx="27">
                  <c:v>7.3362189850279</c:v>
                </c:pt>
                <c:pt idx="28">
                  <c:v>7.3362189794355</c:v>
                </c:pt>
                <c:pt idx="29">
                  <c:v>6.4731343952644</c:v>
                </c:pt>
                <c:pt idx="30">
                  <c:v>12.946268787733</c:v>
                </c:pt>
                <c:pt idx="31">
                  <c:v>6.0415921003826</c:v>
                </c:pt>
                <c:pt idx="32">
                  <c:v>9.3500830156926</c:v>
                </c:pt>
                <c:pt idx="33">
                  <c:v>4.3154229320404</c:v>
                </c:pt>
                <c:pt idx="34">
                  <c:v>5.4662023757378</c:v>
                </c:pt>
                <c:pt idx="35">
                  <c:v>6.4731343952644</c:v>
                </c:pt>
                <c:pt idx="36">
                  <c:v>7.6239138445541</c:v>
                </c:pt>
                <c:pt idx="37">
                  <c:v>13.090116225884</c:v>
                </c:pt>
                <c:pt idx="38">
                  <c:v>7.6239138473503</c:v>
                </c:pt>
                <c:pt idx="39">
                  <c:v>6.1854395301458</c:v>
                </c:pt>
                <c:pt idx="40">
                  <c:v>10.932404757068</c:v>
                </c:pt>
                <c:pt idx="41">
                  <c:v>6.4731343952644</c:v>
                </c:pt>
                <c:pt idx="42">
                  <c:v>4.8908126538891</c:v>
                </c:pt>
                <c:pt idx="43">
                  <c:v>2.4454063255464</c:v>
                </c:pt>
                <c:pt idx="44">
                  <c:v>4.1715754966849</c:v>
                </c:pt>
                <c:pt idx="45">
                  <c:v>5.0346600836522</c:v>
                </c:pt>
                <c:pt idx="46">
                  <c:v>6.1854395329419</c:v>
                </c:pt>
                <c:pt idx="47">
                  <c:v>7.3362189794355</c:v>
                </c:pt>
                <c:pt idx="48">
                  <c:v>14.384743104937</c:v>
                </c:pt>
                <c:pt idx="49">
                  <c:v>2.7331011878689</c:v>
                </c:pt>
                <c:pt idx="50">
                  <c:v>12.514726498443</c:v>
                </c:pt>
                <c:pt idx="51">
                  <c:v>8.6308458612846</c:v>
                </c:pt>
                <c:pt idx="52">
                  <c:v>12.370879065884</c:v>
                </c:pt>
                <c:pt idx="53">
                  <c:v>12.946268790529</c:v>
                </c:pt>
                <c:pt idx="54">
                  <c:v>7.0485241199092</c:v>
                </c:pt>
                <c:pt idx="55">
                  <c:v>8.199303569199</c:v>
                </c:pt>
                <c:pt idx="56">
                  <c:v>3.8838806371586</c:v>
                </c:pt>
                <c:pt idx="57">
                  <c:v>6.9046766901461</c:v>
                </c:pt>
                <c:pt idx="58">
                  <c:v>10.644709894745</c:v>
                </c:pt>
                <c:pt idx="59">
                  <c:v>14.384743102141</c:v>
                </c:pt>
                <c:pt idx="60">
                  <c:v>5.7538972436525</c:v>
                </c:pt>
                <c:pt idx="61">
                  <c:v>6.1854395329419</c:v>
                </c:pt>
                <c:pt idx="62">
                  <c:v>7.1923715524685</c:v>
                </c:pt>
                <c:pt idx="63">
                  <c:v>4.3154229320404</c:v>
                </c:pt>
                <c:pt idx="64">
                  <c:v>3.7400332073955</c:v>
                </c:pt>
                <c:pt idx="65">
                  <c:v>12.65857392541</c:v>
                </c:pt>
                <c:pt idx="66">
                  <c:v>15.679369978398</c:v>
                </c:pt>
                <c:pt idx="67">
                  <c:v>9.9254727403374</c:v>
                </c:pt>
                <c:pt idx="68">
                  <c:v>8.1993035664028</c:v>
                </c:pt>
                <c:pt idx="69">
                  <c:v>6.7608292575868</c:v>
                </c:pt>
                <c:pt idx="70">
                  <c:v>22.296351800629</c:v>
                </c:pt>
                <c:pt idx="71">
                  <c:v>7.9116087040804</c:v>
                </c:pt>
                <c:pt idx="72">
                  <c:v>11.939336773798</c:v>
                </c:pt>
                <c:pt idx="73">
                  <c:v>16.973996863043</c:v>
                </c:pt>
                <c:pt idx="74">
                  <c:v>13.521658515174</c:v>
                </c:pt>
                <c:pt idx="75">
                  <c:v>8.6308458584884</c:v>
                </c:pt>
                <c:pt idx="76">
                  <c:v>1.4384743116122</c:v>
                </c:pt>
                <c:pt idx="77">
                  <c:v>5.6100498082971</c:v>
                </c:pt>
                <c:pt idx="78">
                  <c:v>3.1646434799545</c:v>
                </c:pt>
                <c:pt idx="79">
                  <c:v>14.960132826786</c:v>
                </c:pt>
                <c:pt idx="80">
                  <c:v>11.651641911476</c:v>
                </c:pt>
                <c:pt idx="81">
                  <c:v>5.8977446706195</c:v>
                </c:pt>
                <c:pt idx="82">
                  <c:v>6.4731343952644</c:v>
                </c:pt>
                <c:pt idx="83">
                  <c:v>5.7538972408564</c:v>
                </c:pt>
                <c:pt idx="84">
                  <c:v>22.008656943899</c:v>
                </c:pt>
                <c:pt idx="85">
                  <c:v>7.9116087068766</c:v>
                </c:pt>
                <c:pt idx="86">
                  <c:v>8.0554561394359</c:v>
                </c:pt>
                <c:pt idx="87">
                  <c:v>7.6239138473503</c:v>
                </c:pt>
                <c:pt idx="88">
                  <c:v>14.240895669582</c:v>
                </c:pt>
                <c:pt idx="89">
                  <c:v>20.282487769964</c:v>
                </c:pt>
                <c:pt idx="90">
                  <c:v>12.227031636121</c:v>
                </c:pt>
                <c:pt idx="91">
                  <c:v>9.3500830156926</c:v>
                </c:pt>
                <c:pt idx="92">
                  <c:v>13.8093533747</c:v>
                </c:pt>
                <c:pt idx="93">
                  <c:v>9.0623881533701</c:v>
                </c:pt>
                <c:pt idx="94">
                  <c:v>14.528590531904</c:v>
                </c:pt>
                <c:pt idx="95">
                  <c:v>10.069320170101</c:v>
                </c:pt>
                <c:pt idx="96">
                  <c:v>13.953200807259</c:v>
                </c:pt>
                <c:pt idx="97">
                  <c:v>9.9254727431336</c:v>
                </c:pt>
                <c:pt idx="98">
                  <c:v>1.8700166036977</c:v>
                </c:pt>
                <c:pt idx="99">
                  <c:v>10.213167605456</c:v>
                </c:pt>
                <c:pt idx="100">
                  <c:v>14.097048239818</c:v>
                </c:pt>
                <c:pt idx="101">
                  <c:v>15.391675113279</c:v>
                </c:pt>
                <c:pt idx="102">
                  <c:v>7.0485241227054</c:v>
                </c:pt>
                <c:pt idx="103">
                  <c:v>9.0623881533701</c:v>
                </c:pt>
                <c:pt idx="104">
                  <c:v>5.7538972408564</c:v>
                </c:pt>
                <c:pt idx="105">
                  <c:v>14.240895669582</c:v>
                </c:pt>
                <c:pt idx="106">
                  <c:v>6.1854395329419</c:v>
                </c:pt>
                <c:pt idx="107">
                  <c:v>2.7331011878689</c:v>
                </c:pt>
                <c:pt idx="108">
                  <c:v>10.069320170101</c:v>
                </c:pt>
                <c:pt idx="109">
                  <c:v>7.0485241227054</c:v>
                </c:pt>
                <c:pt idx="110">
                  <c:v>2.7331011878689</c:v>
                </c:pt>
                <c:pt idx="111">
                  <c:v>10.069320167304</c:v>
                </c:pt>
                <c:pt idx="112">
                  <c:v>12.227031633325</c:v>
                </c:pt>
                <c:pt idx="113">
                  <c:v>6.4731343952644</c:v>
                </c:pt>
                <c:pt idx="114">
                  <c:v>9.3500830156926</c:v>
                </c:pt>
                <c:pt idx="115">
                  <c:v>15.103980253753</c:v>
                </c:pt>
                <c:pt idx="116">
                  <c:v>8.3431509989621</c:v>
                </c:pt>
                <c:pt idx="117">
                  <c:v>3.4523383422769</c:v>
                </c:pt>
                <c:pt idx="118">
                  <c:v>5.4662023785339</c:v>
                </c:pt>
                <c:pt idx="119">
                  <c:v>2.4454063255464</c:v>
                </c:pt>
                <c:pt idx="120">
                  <c:v>10.357015035219</c:v>
                </c:pt>
                <c:pt idx="121">
                  <c:v>8.918540723607</c:v>
                </c:pt>
                <c:pt idx="122">
                  <c:v>11.507794478917</c:v>
                </c:pt>
                <c:pt idx="123">
                  <c:v>6.4731343924682</c:v>
                </c:pt>
                <c:pt idx="124">
                  <c:v>3.8838806371586</c:v>
                </c:pt>
                <c:pt idx="125">
                  <c:v>3.4523383422769</c:v>
                </c:pt>
                <c:pt idx="126">
                  <c:v>9.781625304982</c:v>
                </c:pt>
                <c:pt idx="127">
                  <c:v>5.6100498082971</c:v>
                </c:pt>
                <c:pt idx="128">
                  <c:v>8.9185407180147</c:v>
                </c:pt>
                <c:pt idx="129">
                  <c:v>6.0415921003826</c:v>
                </c:pt>
                <c:pt idx="130">
                  <c:v>5.8977446706195</c:v>
                </c:pt>
                <c:pt idx="131">
                  <c:v>4.7469652213298</c:v>
                </c:pt>
                <c:pt idx="132">
                  <c:v>6.4731343952644</c:v>
                </c:pt>
                <c:pt idx="133">
                  <c:v>9.7816253077781</c:v>
                </c:pt>
                <c:pt idx="134">
                  <c:v>6.9046766929423</c:v>
                </c:pt>
                <c:pt idx="135">
                  <c:v>11.507794481713</c:v>
                </c:pt>
                <c:pt idx="136">
                  <c:v>11.651641905884</c:v>
                </c:pt>
                <c:pt idx="137">
                  <c:v>11.363947046357</c:v>
                </c:pt>
                <c:pt idx="138">
                  <c:v>10.069320167304</c:v>
                </c:pt>
                <c:pt idx="139">
                  <c:v>7.7677612771134</c:v>
                </c:pt>
                <c:pt idx="140">
                  <c:v>2.8769486204282</c:v>
                </c:pt>
                <c:pt idx="141">
                  <c:v>5.1785075162115</c:v>
                </c:pt>
                <c:pt idx="142">
                  <c:v>5.4662023785339</c:v>
                </c:pt>
                <c:pt idx="143">
                  <c:v>1.2946268790529</c:v>
                </c:pt>
                <c:pt idx="144">
                  <c:v>9.2062355831333</c:v>
                </c:pt>
                <c:pt idx="145">
                  <c:v>6.3292869655012</c:v>
                </c:pt>
                <c:pt idx="146">
                  <c:v>5.0346600864484</c:v>
                </c:pt>
                <c:pt idx="147">
                  <c:v>4.1715754994811</c:v>
                </c:pt>
                <c:pt idx="148">
                  <c:v>4.7469652213298</c:v>
                </c:pt>
                <c:pt idx="149">
                  <c:v>5.0346600836522</c:v>
                </c:pt>
                <c:pt idx="150">
                  <c:v>3.8838806371586</c:v>
                </c:pt>
                <c:pt idx="151">
                  <c:v>4.4592703618035</c:v>
                </c:pt>
                <c:pt idx="152">
                  <c:v>9.4939304482519</c:v>
                </c:pt>
                <c:pt idx="153">
                  <c:v>6.0415921003826</c:v>
                </c:pt>
                <c:pt idx="154">
                  <c:v>6.6169818278237</c:v>
                </c:pt>
                <c:pt idx="155">
                  <c:v>5.0346600836522</c:v>
                </c:pt>
                <c:pt idx="156">
                  <c:v>5.4662023785339</c:v>
                </c:pt>
                <c:pt idx="157">
                  <c:v>3.3084909097176</c:v>
                </c:pt>
                <c:pt idx="158">
                  <c:v>11.076252186831</c:v>
                </c:pt>
                <c:pt idx="159">
                  <c:v>7.7677612771134</c:v>
                </c:pt>
                <c:pt idx="160">
                  <c:v>7.1923715524685</c:v>
                </c:pt>
                <c:pt idx="161">
                  <c:v>7.3362189822317</c:v>
                </c:pt>
                <c:pt idx="162">
                  <c:v>5.1785075190077</c:v>
                </c:pt>
                <c:pt idx="163">
                  <c:v>9.637777878015</c:v>
                </c:pt>
                <c:pt idx="164">
                  <c:v>6.3292869682974</c:v>
                </c:pt>
                <c:pt idx="165">
                  <c:v>11.507794478917</c:v>
                </c:pt>
                <c:pt idx="166">
                  <c:v>6.0415921003826</c:v>
                </c:pt>
                <c:pt idx="167">
                  <c:v>7.9116087068766</c:v>
                </c:pt>
                <c:pt idx="168">
                  <c:v>1.8700166009016</c:v>
                </c:pt>
                <c:pt idx="169">
                  <c:v>13.521658515174</c:v>
                </c:pt>
                <c:pt idx="170">
                  <c:v>6.1854395385343</c:v>
                </c:pt>
                <c:pt idx="171">
                  <c:v>4.3154229292442</c:v>
                </c:pt>
                <c:pt idx="172">
                  <c:v>7.480066414791</c:v>
                </c:pt>
                <c:pt idx="173">
                  <c:v>5.8977446762118</c:v>
                </c:pt>
                <c:pt idx="174">
                  <c:v>7.3362189822317</c:v>
                </c:pt>
                <c:pt idx="175">
                  <c:v>6.3292869655012</c:v>
                </c:pt>
                <c:pt idx="176">
                  <c:v>8.3431509989621</c:v>
                </c:pt>
                <c:pt idx="177">
                  <c:v>11.220099616594</c:v>
                </c:pt>
                <c:pt idx="178">
                  <c:v>10.213167599864</c:v>
                </c:pt>
                <c:pt idx="179">
                  <c:v>7.7677612715211</c:v>
                </c:pt>
                <c:pt idx="180">
                  <c:v>6.6169818278237</c:v>
                </c:pt>
                <c:pt idx="181">
                  <c:v>4.7469652241259</c:v>
                </c:pt>
                <c:pt idx="182">
                  <c:v>5.7538972408564</c:v>
                </c:pt>
                <c:pt idx="183">
                  <c:v>8.7746932910477</c:v>
                </c:pt>
                <c:pt idx="184">
                  <c:v>4.6031177887705</c:v>
                </c:pt>
                <c:pt idx="185">
                  <c:v>2.876948617632</c:v>
                </c:pt>
                <c:pt idx="186">
                  <c:v>5.4662023785339</c:v>
                </c:pt>
                <c:pt idx="187">
                  <c:v>8.4869984315214</c:v>
                </c:pt>
                <c:pt idx="188">
                  <c:v>7.0485241227054</c:v>
                </c:pt>
                <c:pt idx="189">
                  <c:v>5.7538972408564</c:v>
                </c:pt>
                <c:pt idx="190">
                  <c:v>1.7261691711384</c:v>
                </c:pt>
                <c:pt idx="191">
                  <c:v>3.7400332073955</c:v>
                </c:pt>
                <c:pt idx="192">
                  <c:v>4.8908126538891</c:v>
                </c:pt>
                <c:pt idx="193">
                  <c:v>5.6100498110932</c:v>
                </c:pt>
                <c:pt idx="194">
                  <c:v>3.7400332073955</c:v>
                </c:pt>
                <c:pt idx="195">
                  <c:v>9.637777878015</c:v>
                </c:pt>
                <c:pt idx="196">
                  <c:v>11.22009961939</c:v>
                </c:pt>
                <c:pt idx="197">
                  <c:v>2.3015588957833</c:v>
                </c:pt>
                <c:pt idx="198">
                  <c:v>9.637777878015</c:v>
                </c:pt>
                <c:pt idx="199">
                  <c:v>10.644709894745</c:v>
                </c:pt>
                <c:pt idx="200">
                  <c:v>2.4454063227503</c:v>
                </c:pt>
                <c:pt idx="201">
                  <c:v>3.3084909125138</c:v>
                </c:pt>
                <c:pt idx="202">
                  <c:v>5.7538972436525</c:v>
                </c:pt>
                <c:pt idx="203">
                  <c:v>5.7538972408564</c:v>
                </c:pt>
                <c:pt idx="204">
                  <c:v>7.7677612743172</c:v>
                </c:pt>
                <c:pt idx="205">
                  <c:v>11.36394705195</c:v>
                </c:pt>
                <c:pt idx="206">
                  <c:v>7.7677612771134</c:v>
                </c:pt>
                <c:pt idx="207">
                  <c:v>2.5892537525134</c:v>
                </c:pt>
                <c:pt idx="208">
                  <c:v>4.0277280669218</c:v>
                </c:pt>
                <c:pt idx="209">
                  <c:v>12.227031633325</c:v>
                </c:pt>
                <c:pt idx="210">
                  <c:v>12.083184206358</c:v>
                </c:pt>
                <c:pt idx="211">
                  <c:v>6.3292869627051</c:v>
                </c:pt>
                <c:pt idx="212">
                  <c:v>5.1785075162115</c:v>
                </c:pt>
                <c:pt idx="213">
                  <c:v>3.7400332045993</c:v>
                </c:pt>
                <c:pt idx="214">
                  <c:v>2.0138640334609</c:v>
                </c:pt>
                <c:pt idx="215">
                  <c:v>2.7331011878689</c:v>
                </c:pt>
                <c:pt idx="216">
                  <c:v>4.7469652269221</c:v>
                </c:pt>
                <c:pt idx="217">
                  <c:v>3.1646434799545</c:v>
                </c:pt>
                <c:pt idx="218">
                  <c:v>6.9046766901461</c:v>
                </c:pt>
                <c:pt idx="219">
                  <c:v>3.8838806371586</c:v>
                </c:pt>
                <c:pt idx="220">
                  <c:v>2.3015588957833</c:v>
                </c:pt>
                <c:pt idx="221">
                  <c:v>3.7400332073955</c:v>
                </c:pt>
                <c:pt idx="222">
                  <c:v>6.7608292575868</c:v>
                </c:pt>
                <c:pt idx="223">
                  <c:v>4.0277280697179</c:v>
                </c:pt>
                <c:pt idx="224">
                  <c:v>8.7746932882515</c:v>
                </c:pt>
                <c:pt idx="225">
                  <c:v>6.0415921031788</c:v>
                </c:pt>
                <c:pt idx="226">
                  <c:v>6.6169818278237</c:v>
                </c:pt>
                <c:pt idx="227">
                  <c:v>3.59618577204</c:v>
                </c:pt>
                <c:pt idx="228">
                  <c:v>5.8977446706195</c:v>
                </c:pt>
                <c:pt idx="229">
                  <c:v>3.0207960529875</c:v>
                </c:pt>
                <c:pt idx="230">
                  <c:v>5.4662023757378</c:v>
                </c:pt>
                <c:pt idx="231">
                  <c:v>4.0277280669218</c:v>
                </c:pt>
                <c:pt idx="232">
                  <c:v>4.7469652213298</c:v>
                </c:pt>
                <c:pt idx="233">
                  <c:v>1.2946268790529</c:v>
                </c:pt>
                <c:pt idx="234">
                  <c:v>7.480066414791</c:v>
                </c:pt>
                <c:pt idx="235">
                  <c:v>5.6100498110932</c:v>
                </c:pt>
                <c:pt idx="236">
                  <c:v>2.876948617632</c:v>
                </c:pt>
                <c:pt idx="237">
                  <c:v>6.0415921003826</c:v>
                </c:pt>
                <c:pt idx="238">
                  <c:v>9.6377778808112</c:v>
                </c:pt>
                <c:pt idx="239">
                  <c:v>7.6239138445541</c:v>
                </c:pt>
              </c:numCache>
            </c:numRef>
          </c:xVal>
          <c:yVal>
            <c:numRef>
              <c:f>'Chart Data'!$F$2:$F$241</c:f>
              <c:numCache>
                <c:formatCode>0.0</c:formatCode>
                <c:ptCount val="240"/>
                <c:pt idx="0">
                  <c:v>3.12303675</c:v>
                </c:pt>
                <c:pt idx="1">
                  <c:v>0.705233625</c:v>
                </c:pt>
                <c:pt idx="2">
                  <c:v>0.568280625</c:v>
                </c:pt>
                <c:pt idx="3">
                  <c:v>1.355389625</c:v>
                </c:pt>
                <c:pt idx="4">
                  <c:v>6.90640125</c:v>
                </c:pt>
                <c:pt idx="5">
                  <c:v>5.2480325</c:v>
                </c:pt>
                <c:pt idx="6">
                  <c:v>3.08464</c:v>
                </c:pt>
                <c:pt idx="7">
                  <c:v>7.59684375</c:v>
                </c:pt>
                <c:pt idx="8">
                  <c:v>7.377305</c:v>
                </c:pt>
                <c:pt idx="9">
                  <c:v>1.973242125</c:v>
                </c:pt>
                <c:pt idx="10">
                  <c:v>7.9298925</c:v>
                </c:pt>
                <c:pt idx="11">
                  <c:v>7.38851875</c:v>
                </c:pt>
                <c:pt idx="12">
                  <c:v>6.97033125</c:v>
                </c:pt>
                <c:pt idx="13">
                  <c:v>6.56796375</c:v>
                </c:pt>
                <c:pt idx="14">
                  <c:v>6.02745</c:v>
                </c:pt>
                <c:pt idx="15">
                  <c:v>6.7150625</c:v>
                </c:pt>
                <c:pt idx="16">
                  <c:v>6.2022575</c:v>
                </c:pt>
                <c:pt idx="17">
                  <c:v>5.10462375</c:v>
                </c:pt>
                <c:pt idx="18">
                  <c:v>6.15613375</c:v>
                </c:pt>
                <c:pt idx="19">
                  <c:v>3.433945</c:v>
                </c:pt>
                <c:pt idx="20">
                  <c:v>6.07615</c:v>
                </c:pt>
                <c:pt idx="21">
                  <c:v>7.648585</c:v>
                </c:pt>
                <c:pt idx="22">
                  <c:v>6.98526625</c:v>
                </c:pt>
                <c:pt idx="23">
                  <c:v>1.324663625</c:v>
                </c:pt>
                <c:pt idx="24">
                  <c:v>4.75243</c:v>
                </c:pt>
                <c:pt idx="25">
                  <c:v>5.2993925</c:v>
                </c:pt>
                <c:pt idx="26">
                  <c:v>3.678895</c:v>
                </c:pt>
                <c:pt idx="27">
                  <c:v>2.492645</c:v>
                </c:pt>
                <c:pt idx="28">
                  <c:v>2.15013375</c:v>
                </c:pt>
                <c:pt idx="29">
                  <c:v>1.5350515</c:v>
                </c:pt>
                <c:pt idx="30">
                  <c:v>3.59258</c:v>
                </c:pt>
                <c:pt idx="31">
                  <c:v>1.6010675</c:v>
                </c:pt>
                <c:pt idx="32">
                  <c:v>3.238761375</c:v>
                </c:pt>
                <c:pt idx="33">
                  <c:v>0.797231875</c:v>
                </c:pt>
                <c:pt idx="34">
                  <c:v>1.14266975</c:v>
                </c:pt>
                <c:pt idx="35">
                  <c:v>1.705329375</c:v>
                </c:pt>
                <c:pt idx="36">
                  <c:v>4.568815</c:v>
                </c:pt>
                <c:pt idx="37">
                  <c:v>4.04754</c:v>
                </c:pt>
                <c:pt idx="38">
                  <c:v>3.03467625</c:v>
                </c:pt>
                <c:pt idx="39">
                  <c:v>3.56323</c:v>
                </c:pt>
                <c:pt idx="40">
                  <c:v>7.24015375</c:v>
                </c:pt>
                <c:pt idx="41">
                  <c:v>5.3553075</c:v>
                </c:pt>
                <c:pt idx="42">
                  <c:v>1.19845725</c:v>
                </c:pt>
                <c:pt idx="43">
                  <c:v>2.68596125</c:v>
                </c:pt>
                <c:pt idx="44">
                  <c:v>3.05754875</c:v>
                </c:pt>
                <c:pt idx="45">
                  <c:v>1.5536675</c:v>
                </c:pt>
                <c:pt idx="46">
                  <c:v>3.52055</c:v>
                </c:pt>
                <c:pt idx="47">
                  <c:v>6.044765</c:v>
                </c:pt>
                <c:pt idx="48">
                  <c:v>6.85883625</c:v>
                </c:pt>
                <c:pt idx="49">
                  <c:v>1.8681375</c:v>
                </c:pt>
                <c:pt idx="50">
                  <c:v>6.62322125</c:v>
                </c:pt>
                <c:pt idx="51">
                  <c:v>3.41670625</c:v>
                </c:pt>
                <c:pt idx="52">
                  <c:v>5.779375</c:v>
                </c:pt>
                <c:pt idx="53">
                  <c:v>6.22704125</c:v>
                </c:pt>
                <c:pt idx="54">
                  <c:v>2.924415</c:v>
                </c:pt>
                <c:pt idx="55">
                  <c:v>5.77723875</c:v>
                </c:pt>
                <c:pt idx="56">
                  <c:v>1.190810875</c:v>
                </c:pt>
                <c:pt idx="57">
                  <c:v>2.5246675</c:v>
                </c:pt>
                <c:pt idx="58">
                  <c:v>5.5684275</c:v>
                </c:pt>
                <c:pt idx="59">
                  <c:v>4.82023375</c:v>
                </c:pt>
                <c:pt idx="60">
                  <c:v>3.68227</c:v>
                </c:pt>
                <c:pt idx="61">
                  <c:v>1.54376</c:v>
                </c:pt>
                <c:pt idx="62">
                  <c:v>1.8039265</c:v>
                </c:pt>
                <c:pt idx="63">
                  <c:v>0.676476625</c:v>
                </c:pt>
                <c:pt idx="64">
                  <c:v>2.198307625</c:v>
                </c:pt>
                <c:pt idx="65">
                  <c:v>6.91594375</c:v>
                </c:pt>
                <c:pt idx="66">
                  <c:v>7.1941</c:v>
                </c:pt>
                <c:pt idx="67">
                  <c:v>6.90126875</c:v>
                </c:pt>
                <c:pt idx="68">
                  <c:v>5.856205</c:v>
                </c:pt>
                <c:pt idx="69">
                  <c:v>5.2557025</c:v>
                </c:pt>
                <c:pt idx="70">
                  <c:v>7.06305125</c:v>
                </c:pt>
                <c:pt idx="71">
                  <c:v>3.6184225</c:v>
                </c:pt>
                <c:pt idx="72">
                  <c:v>7.85802</c:v>
                </c:pt>
                <c:pt idx="73">
                  <c:v>8.03725</c:v>
                </c:pt>
                <c:pt idx="74">
                  <c:v>6.46236875</c:v>
                </c:pt>
                <c:pt idx="75">
                  <c:v>3.71136625</c:v>
                </c:pt>
                <c:pt idx="76">
                  <c:v>1.67890875</c:v>
                </c:pt>
                <c:pt idx="77">
                  <c:v>5.45323</c:v>
                </c:pt>
                <c:pt idx="78">
                  <c:v>3.32231625</c:v>
                </c:pt>
                <c:pt idx="79">
                  <c:v>7.333435</c:v>
                </c:pt>
                <c:pt idx="80">
                  <c:v>5.46313625</c:v>
                </c:pt>
                <c:pt idx="81">
                  <c:v>2.6160025</c:v>
                </c:pt>
                <c:pt idx="82">
                  <c:v>3.74246875</c:v>
                </c:pt>
                <c:pt idx="83">
                  <c:v>6.46852375</c:v>
                </c:pt>
                <c:pt idx="84">
                  <c:v>7.23062625</c:v>
                </c:pt>
                <c:pt idx="85">
                  <c:v>4.29533625</c:v>
                </c:pt>
                <c:pt idx="86">
                  <c:v>5.92757625</c:v>
                </c:pt>
                <c:pt idx="87">
                  <c:v>6.61794875</c:v>
                </c:pt>
                <c:pt idx="88">
                  <c:v>7.3387875</c:v>
                </c:pt>
                <c:pt idx="89">
                  <c:v>5.68517</c:v>
                </c:pt>
                <c:pt idx="90">
                  <c:v>6.76833875</c:v>
                </c:pt>
                <c:pt idx="91">
                  <c:v>5.612155</c:v>
                </c:pt>
                <c:pt idx="92">
                  <c:v>7.16398625</c:v>
                </c:pt>
                <c:pt idx="93">
                  <c:v>6.01032875</c:v>
                </c:pt>
                <c:pt idx="94">
                  <c:v>4.64319625</c:v>
                </c:pt>
                <c:pt idx="95">
                  <c:v>5.71569625</c:v>
                </c:pt>
                <c:pt idx="96">
                  <c:v>7.120235</c:v>
                </c:pt>
                <c:pt idx="97">
                  <c:v>5.168597125</c:v>
                </c:pt>
                <c:pt idx="98">
                  <c:v>1.9807475</c:v>
                </c:pt>
                <c:pt idx="99">
                  <c:v>6.04768125</c:v>
                </c:pt>
                <c:pt idx="100">
                  <c:v>7.82501125</c:v>
                </c:pt>
                <c:pt idx="101">
                  <c:v>7.742305</c:v>
                </c:pt>
                <c:pt idx="102">
                  <c:v>6.3452725</c:v>
                </c:pt>
                <c:pt idx="103">
                  <c:v>4.42227875</c:v>
                </c:pt>
                <c:pt idx="104">
                  <c:v>2.8871825</c:v>
                </c:pt>
                <c:pt idx="105">
                  <c:v>4.79272375</c:v>
                </c:pt>
                <c:pt idx="106">
                  <c:v>3.57103625</c:v>
                </c:pt>
                <c:pt idx="107">
                  <c:v>1.6326115</c:v>
                </c:pt>
                <c:pt idx="108">
                  <c:v>5.07931625</c:v>
                </c:pt>
                <c:pt idx="109">
                  <c:v>5.7299625</c:v>
                </c:pt>
                <c:pt idx="110">
                  <c:v>2.75083</c:v>
                </c:pt>
                <c:pt idx="111">
                  <c:v>5.62944125</c:v>
                </c:pt>
                <c:pt idx="112">
                  <c:v>2.46298625</c:v>
                </c:pt>
                <c:pt idx="113">
                  <c:v>3.5723225</c:v>
                </c:pt>
                <c:pt idx="114">
                  <c:v>5.85043875</c:v>
                </c:pt>
                <c:pt idx="115">
                  <c:v>5.69832375</c:v>
                </c:pt>
                <c:pt idx="116">
                  <c:v>1.2623785</c:v>
                </c:pt>
                <c:pt idx="117">
                  <c:v>1.47489875</c:v>
                </c:pt>
                <c:pt idx="118">
                  <c:v>1.62207875</c:v>
                </c:pt>
                <c:pt idx="119">
                  <c:v>1.42648975</c:v>
                </c:pt>
                <c:pt idx="120">
                  <c:v>5.3223475</c:v>
                </c:pt>
                <c:pt idx="121">
                  <c:v>5.529075</c:v>
                </c:pt>
                <c:pt idx="122">
                  <c:v>3.704496875</c:v>
                </c:pt>
                <c:pt idx="123">
                  <c:v>1.11244875</c:v>
                </c:pt>
                <c:pt idx="124">
                  <c:v>1.35273675</c:v>
                </c:pt>
                <c:pt idx="125">
                  <c:v>3.5141875</c:v>
                </c:pt>
                <c:pt idx="126">
                  <c:v>3.71908375</c:v>
                </c:pt>
                <c:pt idx="127">
                  <c:v>2.29510375</c:v>
                </c:pt>
                <c:pt idx="128">
                  <c:v>2.16414125</c:v>
                </c:pt>
                <c:pt idx="129">
                  <c:v>3.9655525</c:v>
                </c:pt>
                <c:pt idx="130">
                  <c:v>5.73636875</c:v>
                </c:pt>
                <c:pt idx="131">
                  <c:v>1.89436</c:v>
                </c:pt>
                <c:pt idx="132">
                  <c:v>4.1044475</c:v>
                </c:pt>
                <c:pt idx="133">
                  <c:v>5.08504875</c:v>
                </c:pt>
                <c:pt idx="134">
                  <c:v>4.308525</c:v>
                </c:pt>
                <c:pt idx="135">
                  <c:v>5.7731725</c:v>
                </c:pt>
                <c:pt idx="136">
                  <c:v>3.23667375</c:v>
                </c:pt>
                <c:pt idx="137">
                  <c:v>3.26084</c:v>
                </c:pt>
                <c:pt idx="138">
                  <c:v>4.20349875</c:v>
                </c:pt>
                <c:pt idx="139">
                  <c:v>2.0841575</c:v>
                </c:pt>
                <c:pt idx="140">
                  <c:v>1.2283955</c:v>
                </c:pt>
                <c:pt idx="141">
                  <c:v>1.2407675</c:v>
                </c:pt>
                <c:pt idx="142">
                  <c:v>1.120625375</c:v>
                </c:pt>
                <c:pt idx="143">
                  <c:v>0.60697875</c:v>
                </c:pt>
                <c:pt idx="144">
                  <c:v>1.9274675</c:v>
                </c:pt>
                <c:pt idx="145">
                  <c:v>2.04767875</c:v>
                </c:pt>
                <c:pt idx="146">
                  <c:v>2.29577625</c:v>
                </c:pt>
                <c:pt idx="147">
                  <c:v>4.68586625</c:v>
                </c:pt>
                <c:pt idx="148">
                  <c:v>1.56638</c:v>
                </c:pt>
                <c:pt idx="149">
                  <c:v>3.32918375</c:v>
                </c:pt>
                <c:pt idx="150">
                  <c:v>2.0666425</c:v>
                </c:pt>
                <c:pt idx="151">
                  <c:v>2.4247275</c:v>
                </c:pt>
                <c:pt idx="152">
                  <c:v>5.1322475</c:v>
                </c:pt>
                <c:pt idx="153">
                  <c:v>5.2085075</c:v>
                </c:pt>
                <c:pt idx="154">
                  <c:v>1.6393185</c:v>
                </c:pt>
                <c:pt idx="155">
                  <c:v>3.04028875</c:v>
                </c:pt>
                <c:pt idx="156">
                  <c:v>2.76524625</c:v>
                </c:pt>
                <c:pt idx="157">
                  <c:v>3.06709375</c:v>
                </c:pt>
                <c:pt idx="158">
                  <c:v>3.6555625</c:v>
                </c:pt>
                <c:pt idx="159">
                  <c:v>3.1819475</c:v>
                </c:pt>
                <c:pt idx="160">
                  <c:v>2.50808625</c:v>
                </c:pt>
                <c:pt idx="161">
                  <c:v>2.8795425</c:v>
                </c:pt>
                <c:pt idx="162">
                  <c:v>1.58962375</c:v>
                </c:pt>
                <c:pt idx="163">
                  <c:v>4.67829125</c:v>
                </c:pt>
                <c:pt idx="164">
                  <c:v>3.38567125</c:v>
                </c:pt>
                <c:pt idx="165">
                  <c:v>6.0213625</c:v>
                </c:pt>
                <c:pt idx="166">
                  <c:v>1.564667875</c:v>
                </c:pt>
                <c:pt idx="167">
                  <c:v>2.257630875</c:v>
                </c:pt>
                <c:pt idx="168">
                  <c:v>1.02887575</c:v>
                </c:pt>
                <c:pt idx="169">
                  <c:v>4.84572875</c:v>
                </c:pt>
                <c:pt idx="170">
                  <c:v>1.207919875</c:v>
                </c:pt>
                <c:pt idx="171">
                  <c:v>1.7455275</c:v>
                </c:pt>
                <c:pt idx="172">
                  <c:v>1.376082625</c:v>
                </c:pt>
                <c:pt idx="173">
                  <c:v>1.157520375</c:v>
                </c:pt>
                <c:pt idx="174">
                  <c:v>1.58244125</c:v>
                </c:pt>
                <c:pt idx="175">
                  <c:v>1.098538875</c:v>
                </c:pt>
                <c:pt idx="176">
                  <c:v>2.641295</c:v>
                </c:pt>
                <c:pt idx="177">
                  <c:v>4.54631625</c:v>
                </c:pt>
                <c:pt idx="178">
                  <c:v>4.2444325</c:v>
                </c:pt>
                <c:pt idx="179">
                  <c:v>3.61915375</c:v>
                </c:pt>
                <c:pt idx="180">
                  <c:v>2.12256125</c:v>
                </c:pt>
                <c:pt idx="181">
                  <c:v>1.686322875</c:v>
                </c:pt>
                <c:pt idx="182">
                  <c:v>0.42009225</c:v>
                </c:pt>
                <c:pt idx="183">
                  <c:v>0.838716625</c:v>
                </c:pt>
                <c:pt idx="184">
                  <c:v>0.715668375</c:v>
                </c:pt>
                <c:pt idx="185">
                  <c:v>0.20122925</c:v>
                </c:pt>
                <c:pt idx="186">
                  <c:v>1.47864075</c:v>
                </c:pt>
                <c:pt idx="187">
                  <c:v>0.83360125</c:v>
                </c:pt>
                <c:pt idx="188">
                  <c:v>1.1691795</c:v>
                </c:pt>
                <c:pt idx="189">
                  <c:v>2.07077125</c:v>
                </c:pt>
                <c:pt idx="190">
                  <c:v>0.7272555</c:v>
                </c:pt>
                <c:pt idx="191">
                  <c:v>0.249819</c:v>
                </c:pt>
                <c:pt idx="192">
                  <c:v>0.7326615</c:v>
                </c:pt>
                <c:pt idx="193">
                  <c:v>0.5684735</c:v>
                </c:pt>
                <c:pt idx="194">
                  <c:v>0.558448</c:v>
                </c:pt>
                <c:pt idx="195">
                  <c:v>3.32744625</c:v>
                </c:pt>
                <c:pt idx="196">
                  <c:v>2.11161</c:v>
                </c:pt>
                <c:pt idx="197">
                  <c:v>1.41887475</c:v>
                </c:pt>
                <c:pt idx="198">
                  <c:v>4.50665</c:v>
                </c:pt>
                <c:pt idx="199">
                  <c:v>2.5103945</c:v>
                </c:pt>
                <c:pt idx="200">
                  <c:v>0.55540575</c:v>
                </c:pt>
                <c:pt idx="201">
                  <c:v>0.5805255</c:v>
                </c:pt>
                <c:pt idx="202">
                  <c:v>0.682469875</c:v>
                </c:pt>
                <c:pt idx="203">
                  <c:v>0.493516625</c:v>
                </c:pt>
                <c:pt idx="204">
                  <c:v>1.642583125</c:v>
                </c:pt>
                <c:pt idx="205">
                  <c:v>3.19862</c:v>
                </c:pt>
                <c:pt idx="206">
                  <c:v>1.80757875</c:v>
                </c:pt>
                <c:pt idx="207">
                  <c:v>0.9085175</c:v>
                </c:pt>
                <c:pt idx="208">
                  <c:v>1.709405625</c:v>
                </c:pt>
                <c:pt idx="209">
                  <c:v>3.6458775</c:v>
                </c:pt>
                <c:pt idx="210">
                  <c:v>3.97447125</c:v>
                </c:pt>
                <c:pt idx="211">
                  <c:v>0.873257125</c:v>
                </c:pt>
                <c:pt idx="212">
                  <c:v>1.296819375</c:v>
                </c:pt>
                <c:pt idx="213">
                  <c:v>1.093554875</c:v>
                </c:pt>
                <c:pt idx="214">
                  <c:v>0.573016875</c:v>
                </c:pt>
                <c:pt idx="215">
                  <c:v>0.607760625</c:v>
                </c:pt>
                <c:pt idx="216">
                  <c:v>2.053487</c:v>
                </c:pt>
                <c:pt idx="217">
                  <c:v>1.423578</c:v>
                </c:pt>
                <c:pt idx="218">
                  <c:v>4.22174625</c:v>
                </c:pt>
                <c:pt idx="219">
                  <c:v>1.95980625</c:v>
                </c:pt>
                <c:pt idx="220">
                  <c:v>1.695215625</c:v>
                </c:pt>
                <c:pt idx="221">
                  <c:v>0.65500875</c:v>
                </c:pt>
                <c:pt idx="222">
                  <c:v>1.50329625</c:v>
                </c:pt>
                <c:pt idx="223">
                  <c:v>1.337093875</c:v>
                </c:pt>
                <c:pt idx="224">
                  <c:v>1.396063875</c:v>
                </c:pt>
                <c:pt idx="225">
                  <c:v>1.18249225</c:v>
                </c:pt>
                <c:pt idx="226">
                  <c:v>0.58265775</c:v>
                </c:pt>
                <c:pt idx="227">
                  <c:v>1.233000875</c:v>
                </c:pt>
                <c:pt idx="228">
                  <c:v>0.64333975</c:v>
                </c:pt>
                <c:pt idx="229">
                  <c:v>0.662488</c:v>
                </c:pt>
                <c:pt idx="230">
                  <c:v>1.760264125</c:v>
                </c:pt>
                <c:pt idx="231">
                  <c:v>2.065435</c:v>
                </c:pt>
                <c:pt idx="232">
                  <c:v>0.572504</c:v>
                </c:pt>
                <c:pt idx="233">
                  <c:v>0.613752125</c:v>
                </c:pt>
                <c:pt idx="234">
                  <c:v>2.068235</c:v>
                </c:pt>
                <c:pt idx="235">
                  <c:v>1.31140925</c:v>
                </c:pt>
                <c:pt idx="236">
                  <c:v>0.506634125</c:v>
                </c:pt>
                <c:pt idx="237">
                  <c:v>1.96170625</c:v>
                </c:pt>
                <c:pt idx="238">
                  <c:v>4.58149625</c:v>
                </c:pt>
                <c:pt idx="239">
                  <c:v>4.18723</c:v>
                </c:pt>
              </c:numCache>
            </c:numRef>
          </c:y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9"/>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WEST wind output (GW)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valAx>
      <c:valAx>
        <c:axId val="48650112"/>
        <c:scaling>
          <c:orientation val="minMax"/>
          <c:max val="25"/>
          <c:min val="0"/>
        </c:scaling>
        <c:delete val="0"/>
        <c:axPos val="b"/>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Chicago airport ground wind (mph)</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Demand and renewable forecasts</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scatterChart>
        <c:scatterStyle val="line"/>
        <c:varyColors val="0"/>
        <c:ser>
          <c:idx val="0"/>
          <c:order val="0"/>
          <c:tx>
            <c:v>MidAtl load</c:v>
          </c:tx>
          <c:spPr>
            <a:solidFill xmlns:a="http://schemas.openxmlformats.org/drawingml/2006/main">
              <a:srgbClr val="8D9AA5"/>
            </a:solidFill>
            <a:ln xmlns:a="http://schemas.openxmlformats.org/drawingml/2006/main" w="28575">
              <a:solidFill>
                <a:srgbClr val="176DA5"/>
              </a:solidFill>
              <a:prstDash val="solid"/>
            </a:ln>
          </c:spPr>
          <c:marker>
            <c:symbol val="none"/>
            <c:size val="4"/>
          </c:marker>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0.0</c:formatCode>
                <c:ptCount val="24"/>
                <c:pt idx="0">
                  <c:v>23.528</c:v>
                </c:pt>
                <c:pt idx="1">
                  <c:v>22.475</c:v>
                </c:pt>
                <c:pt idx="2">
                  <c:v>21.931</c:v>
                </c:pt>
                <c:pt idx="3">
                  <c:v>21.697</c:v>
                </c:pt>
                <c:pt idx="4">
                  <c:v>21.971</c:v>
                </c:pt>
                <c:pt idx="5">
                  <c:v>23.385</c:v>
                </c:pt>
                <c:pt idx="6">
                  <c:v>25.597</c:v>
                </c:pt>
                <c:pt idx="7">
                  <c:v>27.051</c:v>
                </c:pt>
                <c:pt idx="8">
                  <c:v>27.561</c:v>
                </c:pt>
                <c:pt idx="9">
                  <c:v>27.565</c:v>
                </c:pt>
                <c:pt idx="10">
                  <c:v>27.595</c:v>
                </c:pt>
                <c:pt idx="11">
                  <c:v>27.656</c:v>
                </c:pt>
                <c:pt idx="12">
                  <c:v>27.986</c:v>
                </c:pt>
                <c:pt idx="13">
                  <c:v>28.508</c:v>
                </c:pt>
                <c:pt idx="14">
                  <c:v>29.107</c:v>
                </c:pt>
                <c:pt idx="15">
                  <c:v>30.008</c:v>
                </c:pt>
                <c:pt idx="16">
                  <c:v>31.198</c:v>
                </c:pt>
                <c:pt idx="17">
                  <c:v>31.812</c:v>
                </c:pt>
                <c:pt idx="18">
                  <c:v>31.79</c:v>
                </c:pt>
                <c:pt idx="19">
                  <c:v>31.477</c:v>
                </c:pt>
                <c:pt idx="20">
                  <c:v>30.507</c:v>
                </c:pt>
                <c:pt idx="21">
                  <c:v>28.969</c:v>
                </c:pt>
                <c:pt idx="22">
                  <c:v>27.329</c:v>
                </c:pt>
                <c:pt idx="23">
                  <c:v>25.558</c:v>
                </c:pt>
              </c:numCache>
            </c:numRef>
          </c:yVal>
        </c:ser>
        <c:ser>
          <c:idx val="1"/>
          <c:order val="1"/>
          <c:tx>
            <c:v>DOM load</c:v>
          </c:tx>
          <c:spPr>
            <a:solidFill xmlns:a="http://schemas.openxmlformats.org/drawingml/2006/main">
              <a:srgbClr val="8D9AA5"/>
            </a:solidFill>
            <a:ln xmlns:a="http://schemas.openxmlformats.org/drawingml/2006/main" w="28575">
              <a:solidFill>
                <a:srgbClr val="B07016"/>
              </a:solidFill>
              <a:prstDash val="solid"/>
            </a:ln>
          </c:spPr>
          <c:marker>
            <c:symbol val="none"/>
            <c:size val="4"/>
          </c:marker>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0.0</c:formatCode>
                <c:ptCount val="24"/>
                <c:pt idx="0">
                  <c:v>14.131</c:v>
                </c:pt>
                <c:pt idx="1">
                  <c:v>13.68</c:v>
                </c:pt>
                <c:pt idx="2">
                  <c:v>13.457</c:v>
                </c:pt>
                <c:pt idx="3">
                  <c:v>13.292</c:v>
                </c:pt>
                <c:pt idx="4">
                  <c:v>13.465</c:v>
                </c:pt>
                <c:pt idx="5">
                  <c:v>13.869</c:v>
                </c:pt>
                <c:pt idx="6">
                  <c:v>14.666</c:v>
                </c:pt>
                <c:pt idx="7">
                  <c:v>15.121</c:v>
                </c:pt>
                <c:pt idx="8">
                  <c:v>15.238</c:v>
                </c:pt>
                <c:pt idx="9">
                  <c:v>15.457</c:v>
                </c:pt>
                <c:pt idx="10">
                  <c:v>15.906</c:v>
                </c:pt>
                <c:pt idx="11">
                  <c:v>16.407</c:v>
                </c:pt>
                <c:pt idx="12">
                  <c:v>17.089</c:v>
                </c:pt>
                <c:pt idx="13">
                  <c:v>17.719</c:v>
                </c:pt>
                <c:pt idx="14">
                  <c:v>18.396</c:v>
                </c:pt>
                <c:pt idx="15">
                  <c:v>18.849</c:v>
                </c:pt>
                <c:pt idx="16">
                  <c:v>19.168</c:v>
                </c:pt>
                <c:pt idx="17">
                  <c:v>19.254</c:v>
                </c:pt>
                <c:pt idx="18">
                  <c:v>18.949</c:v>
                </c:pt>
                <c:pt idx="19">
                  <c:v>18.552</c:v>
                </c:pt>
                <c:pt idx="20">
                  <c:v>17.997</c:v>
                </c:pt>
                <c:pt idx="21">
                  <c:v>17.246</c:v>
                </c:pt>
                <c:pt idx="22">
                  <c:v>16.451</c:v>
                </c:pt>
                <c:pt idx="23">
                  <c:v>15.646</c:v>
                </c:pt>
              </c:numCache>
            </c:numRef>
          </c:yVal>
        </c:ser>
        <c:ser>
          <c:idx val="2"/>
          <c:order val="2"/>
          <c:tx>
            <c:v>ComEd load</c:v>
          </c:tx>
          <c:spPr>
            <a:solidFill xmlns:a="http://schemas.openxmlformats.org/drawingml/2006/main">
              <a:srgbClr val="8D9AA5"/>
            </a:solidFill>
            <a:ln xmlns:a="http://schemas.openxmlformats.org/drawingml/2006/main" w="28575">
              <a:solidFill>
                <a:srgbClr val="7051A1"/>
              </a:solidFill>
              <a:prstDash val="solid"/>
            </a:ln>
          </c:spPr>
          <c:marker>
            <c:symbol val="none"/>
            <c:size val="4"/>
          </c:marker>
          <c:xVal>
            <c:numRef>
              <c:f>'Chart Data'!$E$2:$E$25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Data'!$F$2:$F$25</c:f>
              <c:numCache>
                <c:formatCode>0.0</c:formatCode>
                <c:ptCount val="24"/>
                <c:pt idx="0">
                  <c:v>9.118</c:v>
                </c:pt>
                <c:pt idx="1">
                  <c:v>8.775</c:v>
                </c:pt>
                <c:pt idx="2">
                  <c:v>8.504</c:v>
                </c:pt>
                <c:pt idx="3">
                  <c:v>8.361</c:v>
                </c:pt>
                <c:pt idx="4">
                  <c:v>8.263</c:v>
                </c:pt>
                <c:pt idx="5">
                  <c:v>8.402</c:v>
                </c:pt>
                <c:pt idx="6">
                  <c:v>8.861</c:v>
                </c:pt>
                <c:pt idx="7">
                  <c:v>9.57</c:v>
                </c:pt>
                <c:pt idx="8">
                  <c:v>9.989</c:v>
                </c:pt>
                <c:pt idx="9">
                  <c:v>10.029</c:v>
                </c:pt>
                <c:pt idx="10">
                  <c:v>10.022</c:v>
                </c:pt>
                <c:pt idx="11">
                  <c:v>10.001</c:v>
                </c:pt>
                <c:pt idx="12">
                  <c:v>9.951</c:v>
                </c:pt>
                <c:pt idx="13">
                  <c:v>9.886</c:v>
                </c:pt>
                <c:pt idx="14">
                  <c:v>9.906</c:v>
                </c:pt>
                <c:pt idx="15">
                  <c:v>9.826</c:v>
                </c:pt>
                <c:pt idx="16">
                  <c:v>9.798</c:v>
                </c:pt>
                <c:pt idx="17">
                  <c:v>9.882</c:v>
                </c:pt>
                <c:pt idx="18">
                  <c:v>10.004</c:v>
                </c:pt>
                <c:pt idx="19">
                  <c:v>10.17</c:v>
                </c:pt>
                <c:pt idx="20">
                  <c:v>10.197</c:v>
                </c:pt>
                <c:pt idx="21">
                  <c:v>10.09</c:v>
                </c:pt>
                <c:pt idx="22">
                  <c:v>9.825</c:v>
                </c:pt>
                <c:pt idx="23">
                  <c:v>9.417</c:v>
                </c:pt>
              </c:numCache>
            </c:numRef>
          </c:yVal>
        </c:ser>
        <c:ser>
          <c:idx val="3"/>
          <c:order val="3"/>
          <c:tx>
            <c:v>PJM wind</c:v>
          </c:tx>
          <c:spPr>
            <a:solidFill xmlns:a="http://schemas.openxmlformats.org/drawingml/2006/main">
              <a:srgbClr val="8D9AA5"/>
            </a:solidFill>
            <a:ln xmlns:a="http://schemas.openxmlformats.org/drawingml/2006/main" w="28575">
              <a:solidFill>
                <a:srgbClr val="268376"/>
              </a:solidFill>
              <a:prstDash val="solid"/>
            </a:ln>
          </c:spPr>
          <c:marker>
            <c:symbol val="none"/>
            <c:size val="4"/>
          </c:marker>
          <c:xVal>
            <c:numRef>
              <c:f>'Chart Data'!$G$2:$G$25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Data'!$H$2:$H$25</c:f>
              <c:numCache>
                <c:formatCode>0.0</c:formatCode>
                <c:ptCount val="24"/>
                <c:pt idx="0">
                  <c:v>8.863633</c:v>
                </c:pt>
                <c:pt idx="1">
                  <c:v>8.980282</c:v>
                </c:pt>
                <c:pt idx="2">
                  <c:v>9.036819</c:v>
                </c:pt>
                <c:pt idx="3">
                  <c:v>9.045599</c:v>
                </c:pt>
                <c:pt idx="4">
                  <c:v>9.033718</c:v>
                </c:pt>
                <c:pt idx="5">
                  <c:v>9.09243</c:v>
                </c:pt>
                <c:pt idx="6">
                  <c:v>9.174</c:v>
                </c:pt>
                <c:pt idx="7">
                  <c:v>9.207393</c:v>
                </c:pt>
                <c:pt idx="8">
                  <c:v>9.196115</c:v>
                </c:pt>
                <c:pt idx="9">
                  <c:v>9.168266</c:v>
                </c:pt>
                <c:pt idx="10">
                  <c:v>9.199321</c:v>
                </c:pt>
                <c:pt idx="11">
                  <c:v>9.239099</c:v>
                </c:pt>
                <c:pt idx="12">
                  <c:v>9.305564</c:v>
                </c:pt>
                <c:pt idx="13">
                  <c:v>9.363282</c:v>
                </c:pt>
                <c:pt idx="14">
                  <c:v>9.384942</c:v>
                </c:pt>
                <c:pt idx="15">
                  <c:v>9.402414</c:v>
                </c:pt>
                <c:pt idx="16">
                  <c:v>9.367737</c:v>
                </c:pt>
                <c:pt idx="17">
                  <c:v>9.281982</c:v>
                </c:pt>
                <c:pt idx="18">
                  <c:v>9.247002</c:v>
                </c:pt>
                <c:pt idx="19">
                  <c:v>9.227792</c:v>
                </c:pt>
                <c:pt idx="20">
                  <c:v>9.190654</c:v>
                </c:pt>
                <c:pt idx="21">
                  <c:v>9.003816</c:v>
                </c:pt>
                <c:pt idx="22">
                  <c:v>8.797793</c:v>
                </c:pt>
                <c:pt idx="23">
                  <c:v>8.517168</c:v>
                </c:pt>
              </c:numCache>
            </c:numRef>
          </c:yVal>
        </c:ser>
        <c:ser>
          <c:idx val="4"/>
          <c:order val="4"/>
          <c:tx>
            <c:v>PJM solar</c:v>
          </c:tx>
          <c:spPr>
            <a:solidFill xmlns:a="http://schemas.openxmlformats.org/drawingml/2006/main">
              <a:srgbClr val="8D9AA5"/>
            </a:solidFill>
            <a:ln xmlns:a="http://schemas.openxmlformats.org/drawingml/2006/main" w="28575">
              <a:solidFill>
                <a:srgbClr val="C89538"/>
              </a:solidFill>
              <a:prstDash val="solid"/>
            </a:ln>
          </c:spPr>
          <c:marker>
            <c:symbol val="none"/>
            <c:size val="4"/>
          </c:marker>
          <c:xVal>
            <c:numRef>
              <c:f>'Chart Data'!$I$2:$I$25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Data'!$J$2:$J$25</c:f>
              <c:numCache>
                <c:formatCode>0.0</c:formatCode>
                <c:ptCount val="24"/>
                <c:pt idx="0">
                  <c:v>0</c:v>
                </c:pt>
                <c:pt idx="1">
                  <c:v>0</c:v>
                </c:pt>
                <c:pt idx="2">
                  <c:v>0</c:v>
                </c:pt>
                <c:pt idx="3">
                  <c:v>0</c:v>
                </c:pt>
                <c:pt idx="4">
                  <c:v>0</c:v>
                </c:pt>
                <c:pt idx="5">
                  <c:v>0</c:v>
                </c:pt>
                <c:pt idx="6">
                  <c:v>0</c:v>
                </c:pt>
                <c:pt idx="7">
                  <c:v>0.114302</c:v>
                </c:pt>
                <c:pt idx="8">
                  <c:v>2.067865</c:v>
                </c:pt>
                <c:pt idx="9">
                  <c:v>5.495091</c:v>
                </c:pt>
                <c:pt idx="10">
                  <c:v>7.144479</c:v>
                </c:pt>
                <c:pt idx="11">
                  <c:v>7.72272</c:v>
                </c:pt>
                <c:pt idx="12">
                  <c:v>7.927646</c:v>
                </c:pt>
                <c:pt idx="13">
                  <c:v>7.878888</c:v>
                </c:pt>
                <c:pt idx="14">
                  <c:v>8.028611</c:v>
                </c:pt>
                <c:pt idx="15">
                  <c:v>7.934792</c:v>
                </c:pt>
                <c:pt idx="16">
                  <c:v>6.894257</c:v>
                </c:pt>
                <c:pt idx="17">
                  <c:v>3.545087</c:v>
                </c:pt>
                <c:pt idx="18">
                  <c:v>0.453864</c:v>
                </c:pt>
                <c:pt idx="19">
                  <c:v>0.000835</c:v>
                </c:pt>
                <c:pt idx="20">
                  <c:v>0</c:v>
                </c:pt>
                <c:pt idx="21">
                  <c:v>0</c:v>
                </c:pt>
                <c:pt idx="22">
                  <c:v>0</c:v>
                </c:pt>
                <c:pt idx="23">
                  <c:v>0</c:v>
                </c:pt>
              </c:numCache>
            </c:numRef>
          </c:yVal>
        </c:ser>
        <c:ser>
          <c:idx val="5"/>
          <c:order val="5"/>
          <c:tx>
            <c:v>PJM customer solar</c:v>
          </c:tx>
          <c:spPr>
            <a:solidFill xmlns:a="http://schemas.openxmlformats.org/drawingml/2006/main">
              <a:srgbClr val="8D9AA5"/>
            </a:solidFill>
            <a:ln xmlns:a="http://schemas.openxmlformats.org/drawingml/2006/main" w="28575">
              <a:solidFill>
                <a:srgbClr val="8D9AA5"/>
              </a:solidFill>
              <a:prstDash val="solid"/>
            </a:ln>
          </c:spPr>
          <c:marker>
            <c:symbol val="none"/>
            <c:size val="4"/>
          </c:marker>
          <c:xVal>
            <c:numRef>
              <c:f>'Chart Data'!$K$2:$K$25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Data'!$L$2:$L$25</c:f>
              <c:numCache>
                <c:formatCode>0.0</c:formatCode>
                <c:ptCount val="24"/>
                <c:pt idx="0">
                  <c:v>0</c:v>
                </c:pt>
                <c:pt idx="1">
                  <c:v>0</c:v>
                </c:pt>
                <c:pt idx="2">
                  <c:v>0</c:v>
                </c:pt>
                <c:pt idx="3">
                  <c:v>0</c:v>
                </c:pt>
                <c:pt idx="4">
                  <c:v>0</c:v>
                </c:pt>
                <c:pt idx="5">
                  <c:v>0</c:v>
                </c:pt>
                <c:pt idx="6">
                  <c:v>0</c:v>
                </c:pt>
                <c:pt idx="7">
                  <c:v>0.17545</c:v>
                </c:pt>
                <c:pt idx="8">
                  <c:v>1.577105</c:v>
                </c:pt>
                <c:pt idx="9">
                  <c:v>2.635379</c:v>
                </c:pt>
                <c:pt idx="10">
                  <c:v>3.407619</c:v>
                </c:pt>
                <c:pt idx="11">
                  <c:v>5.448364</c:v>
                </c:pt>
                <c:pt idx="12">
                  <c:v>5.618983</c:v>
                </c:pt>
                <c:pt idx="13">
                  <c:v>5.336635</c:v>
                </c:pt>
                <c:pt idx="14">
                  <c:v>5.06724</c:v>
                </c:pt>
                <c:pt idx="15">
                  <c:v>3.777458</c:v>
                </c:pt>
                <c:pt idx="16">
                  <c:v>2.042428</c:v>
                </c:pt>
                <c:pt idx="17">
                  <c:v>0.182675</c:v>
                </c:pt>
                <c:pt idx="18">
                  <c:v>0.000773</c:v>
                </c:pt>
                <c:pt idx="19">
                  <c:v>0</c:v>
                </c:pt>
                <c:pt idx="20">
                  <c:v>0</c:v>
                </c:pt>
                <c:pt idx="21">
                  <c:v>0</c:v>
                </c:pt>
                <c:pt idx="22">
                  <c:v>0</c:v>
                </c:pt>
                <c:pt idx="23">
                  <c:v>0</c:v>
                </c:pt>
              </c:numCache>
            </c:numRef>
          </c:y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Average power (GW)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Hour starting, Eastern</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0"/>
        <c:majorUnit val="4"/>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A: 80 MWh bought at $17.10</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scatterChart>
        <c:scatterStyle val="line"/>
        <c:varyColors val="0"/>
        <c:ser>
          <c:idx val="0"/>
          <c:order val="0"/>
          <c:tx>
            <c:v>Estimated outcomes</c:v>
          </c:tx>
          <c:spPr>
            <a:solidFill xmlns:a="http://schemas.openxmlformats.org/drawingml/2006/main">
              <a:srgbClr val="8D9AA5"/>
            </a:solidFill>
            <a:ln xmlns:a="http://schemas.openxmlformats.org/drawingml/2006/main" w="28575">
              <a:solidFill>
                <a:srgbClr val="176DA5"/>
              </a:solidFill>
              <a:prstDash val="solid"/>
            </a:ln>
          </c:spPr>
          <c:marker>
            <c:symbol val="none"/>
            <c:size val="4"/>
          </c:marker>
          <c:xVal>
            <c:numRef>
              <c:f>'Chart Data'!$A$2:$A$129</c:f>
              <c:numCache>
                <c:formatCode>General</c:formatCode>
                <c:ptCount val="128"/>
                <c:pt idx="0">
                  <c:v>-3650.152162</c:v>
                </c:pt>
                <c:pt idx="1">
                  <c:v>-3593.36854025</c:v>
                </c:pt>
                <c:pt idx="2">
                  <c:v>-3316.7617895</c:v>
                </c:pt>
                <c:pt idx="3">
                  <c:v>-3300.4192435</c:v>
                </c:pt>
                <c:pt idx="4">
                  <c:v>-3295.3950075</c:v>
                </c:pt>
                <c:pt idx="5">
                  <c:v>-3180.51424</c:v>
                </c:pt>
                <c:pt idx="6">
                  <c:v>-3151.6384007895</c:v>
                </c:pt>
                <c:pt idx="7">
                  <c:v>-3099.81247075</c:v>
                </c:pt>
                <c:pt idx="8">
                  <c:v>-3059.28319175</c:v>
                </c:pt>
                <c:pt idx="9">
                  <c:v>-2991.23595025</c:v>
                </c:pt>
                <c:pt idx="10">
                  <c:v>-2791.923443</c:v>
                </c:pt>
                <c:pt idx="11">
                  <c:v>-2545.2862081579</c:v>
                </c:pt>
                <c:pt idx="12">
                  <c:v>-2332.74560125</c:v>
                </c:pt>
                <c:pt idx="13">
                  <c:v>-2320.90496275</c:v>
                </c:pt>
                <c:pt idx="14">
                  <c:v>-2315.2472847368</c:v>
                </c:pt>
                <c:pt idx="15">
                  <c:v>-2158.7420785</c:v>
                </c:pt>
                <c:pt idx="16">
                  <c:v>-2047.0626578947</c:v>
                </c:pt>
                <c:pt idx="17">
                  <c:v>-1932.6227405</c:v>
                </c:pt>
                <c:pt idx="18">
                  <c:v>-1859.44425125</c:v>
                </c:pt>
                <c:pt idx="19">
                  <c:v>-1852.66548</c:v>
                </c:pt>
                <c:pt idx="20">
                  <c:v>-1848.96862075</c:v>
                </c:pt>
                <c:pt idx="21">
                  <c:v>-1823.624727</c:v>
                </c:pt>
                <c:pt idx="22">
                  <c:v>-1744.388007</c:v>
                </c:pt>
                <c:pt idx="23">
                  <c:v>-1571.7697873684</c:v>
                </c:pt>
                <c:pt idx="24">
                  <c:v>-1515.6363295</c:v>
                </c:pt>
                <c:pt idx="25">
                  <c:v>-1509.1822607895</c:v>
                </c:pt>
                <c:pt idx="26">
                  <c:v>-1509.1522331579</c:v>
                </c:pt>
                <c:pt idx="27">
                  <c:v>-1306.2391775</c:v>
                </c:pt>
                <c:pt idx="28">
                  <c:v>-1234.93237175</c:v>
                </c:pt>
                <c:pt idx="29">
                  <c:v>-1227.5110578947</c:v>
                </c:pt>
                <c:pt idx="30">
                  <c:v>-1201.24914025</c:v>
                </c:pt>
                <c:pt idx="31">
                  <c:v>-1173.7076447368</c:v>
                </c:pt>
                <c:pt idx="32">
                  <c:v>-1173.5302665789</c:v>
                </c:pt>
                <c:pt idx="33">
                  <c:v>-1162.9048463158</c:v>
                </c:pt>
                <c:pt idx="34">
                  <c:v>-1143.35120725</c:v>
                </c:pt>
                <c:pt idx="35">
                  <c:v>-1129.5743586842</c:v>
                </c:pt>
                <c:pt idx="36">
                  <c:v>-1125.07380975</c:v>
                </c:pt>
                <c:pt idx="37">
                  <c:v>-1116.28413075</c:v>
                </c:pt>
                <c:pt idx="38">
                  <c:v>-1077.989227</c:v>
                </c:pt>
                <c:pt idx="39">
                  <c:v>-1060.58063</c:v>
                </c:pt>
                <c:pt idx="40">
                  <c:v>-1052.09254425</c:v>
                </c:pt>
                <c:pt idx="41">
                  <c:v>-1045.73545075</c:v>
                </c:pt>
                <c:pt idx="42">
                  <c:v>-1019.7301813158</c:v>
                </c:pt>
                <c:pt idx="43">
                  <c:v>-992.28540131579</c:v>
                </c:pt>
                <c:pt idx="44">
                  <c:v>-897.03896325</c:v>
                </c:pt>
                <c:pt idx="45">
                  <c:v>-879.72490125</c:v>
                </c:pt>
                <c:pt idx="46">
                  <c:v>-877.84027425</c:v>
                </c:pt>
                <c:pt idx="47">
                  <c:v>-864.04123025</c:v>
                </c:pt>
                <c:pt idx="48">
                  <c:v>-817.3645675</c:v>
                </c:pt>
                <c:pt idx="49">
                  <c:v>-782.4309815</c:v>
                </c:pt>
                <c:pt idx="50">
                  <c:v>-765.99070225</c:v>
                </c:pt>
                <c:pt idx="51">
                  <c:v>-688.91789631579</c:v>
                </c:pt>
                <c:pt idx="52">
                  <c:v>-683.84161725</c:v>
                </c:pt>
                <c:pt idx="53">
                  <c:v>-675.77468473684</c:v>
                </c:pt>
                <c:pt idx="54">
                  <c:v>-666.3292075</c:v>
                </c:pt>
                <c:pt idx="55">
                  <c:v>-666.24681947368</c:v>
                </c:pt>
                <c:pt idx="56">
                  <c:v>-657.01472</c:v>
                </c:pt>
                <c:pt idx="57">
                  <c:v>-624.25797263158</c:v>
                </c:pt>
                <c:pt idx="58">
                  <c:v>-617.88113825</c:v>
                </c:pt>
                <c:pt idx="59">
                  <c:v>-580.44030210526</c:v>
                </c:pt>
                <c:pt idx="60">
                  <c:v>-556.46829625</c:v>
                </c:pt>
                <c:pt idx="61">
                  <c:v>-556.0946835</c:v>
                </c:pt>
                <c:pt idx="62">
                  <c:v>-479.930982</c:v>
                </c:pt>
                <c:pt idx="63">
                  <c:v>-474.72495157895</c:v>
                </c:pt>
                <c:pt idx="64">
                  <c:v>-466.070774</c:v>
                </c:pt>
                <c:pt idx="65">
                  <c:v>-453.0938115</c:v>
                </c:pt>
                <c:pt idx="66">
                  <c:v>-395.38569078947</c:v>
                </c:pt>
                <c:pt idx="67">
                  <c:v>-394.10700775</c:v>
                </c:pt>
                <c:pt idx="68">
                  <c:v>-307.1629035</c:v>
                </c:pt>
                <c:pt idx="69">
                  <c:v>-277.01086525</c:v>
                </c:pt>
                <c:pt idx="70">
                  <c:v>-271.8760035</c:v>
                </c:pt>
                <c:pt idx="71">
                  <c:v>-253.97918925</c:v>
                </c:pt>
                <c:pt idx="72">
                  <c:v>-220.12298425</c:v>
                </c:pt>
                <c:pt idx="73">
                  <c:v>-216.03184225</c:v>
                </c:pt>
                <c:pt idx="74">
                  <c:v>-210.77612825</c:v>
                </c:pt>
                <c:pt idx="75">
                  <c:v>-204.64427575</c:v>
                </c:pt>
                <c:pt idx="76">
                  <c:v>-147.3701335</c:v>
                </c:pt>
                <c:pt idx="77">
                  <c:v>-75.160699736842</c:v>
                </c:pt>
                <c:pt idx="78">
                  <c:v>-64.44584275</c:v>
                </c:pt>
                <c:pt idx="79">
                  <c:v>-48.003249736842</c:v>
                </c:pt>
                <c:pt idx="80">
                  <c:v>-23.332633157895</c:v>
                </c:pt>
                <c:pt idx="81">
                  <c:v>24.384743421053</c:v>
                </c:pt>
                <c:pt idx="82">
                  <c:v>44.363742</c:v>
                </c:pt>
                <c:pt idx="83">
                  <c:v>149.319742</c:v>
                </c:pt>
                <c:pt idx="84">
                  <c:v>165.181571</c:v>
                </c:pt>
                <c:pt idx="85">
                  <c:v>370.37873325</c:v>
                </c:pt>
                <c:pt idx="86">
                  <c:v>666.32868289474</c:v>
                </c:pt>
                <c:pt idx="87">
                  <c:v>692.24169625</c:v>
                </c:pt>
                <c:pt idx="88">
                  <c:v>696.41886</c:v>
                </c:pt>
                <c:pt idx="89">
                  <c:v>797.39427325</c:v>
                </c:pt>
                <c:pt idx="90">
                  <c:v>800.666393</c:v>
                </c:pt>
                <c:pt idx="91">
                  <c:v>902.87431175</c:v>
                </c:pt>
                <c:pt idx="92">
                  <c:v>931.15758289474</c:v>
                </c:pt>
                <c:pt idx="93">
                  <c:v>949.0508665</c:v>
                </c:pt>
                <c:pt idx="94">
                  <c:v>1024.62642625</c:v>
                </c:pt>
                <c:pt idx="95">
                  <c:v>1069.622391</c:v>
                </c:pt>
                <c:pt idx="96">
                  <c:v>1083.3249897368</c:v>
                </c:pt>
                <c:pt idx="97">
                  <c:v>1266.1008552632</c:v>
                </c:pt>
                <c:pt idx="98">
                  <c:v>1316.2289821053</c:v>
                </c:pt>
                <c:pt idx="99">
                  <c:v>1342.6641410526</c:v>
                </c:pt>
                <c:pt idx="100">
                  <c:v>1484.9592905</c:v>
                </c:pt>
                <c:pt idx="101">
                  <c:v>1523.99379175</c:v>
                </c:pt>
                <c:pt idx="102">
                  <c:v>1677.34508275</c:v>
                </c:pt>
                <c:pt idx="103">
                  <c:v>1862.21925475</c:v>
                </c:pt>
                <c:pt idx="104">
                  <c:v>2012.191497</c:v>
                </c:pt>
                <c:pt idx="105">
                  <c:v>2033.15761875</c:v>
                </c:pt>
                <c:pt idx="106">
                  <c:v>2048.58686025</c:v>
                </c:pt>
                <c:pt idx="107">
                  <c:v>2186.41057525</c:v>
                </c:pt>
                <c:pt idx="108">
                  <c:v>2190.5228707895</c:v>
                </c:pt>
                <c:pt idx="109">
                  <c:v>2219.8721121053</c:v>
                </c:pt>
                <c:pt idx="110">
                  <c:v>2464.22014425</c:v>
                </c:pt>
                <c:pt idx="111">
                  <c:v>2889.86478975</c:v>
                </c:pt>
                <c:pt idx="112">
                  <c:v>3132.7688265789</c:v>
                </c:pt>
                <c:pt idx="113">
                  <c:v>3378.384592</c:v>
                </c:pt>
                <c:pt idx="114">
                  <c:v>3577.2834973684</c:v>
                </c:pt>
                <c:pt idx="115">
                  <c:v>3691.6190834211</c:v>
                </c:pt>
                <c:pt idx="116">
                  <c:v>4049.0540385</c:v>
                </c:pt>
                <c:pt idx="117">
                  <c:v>4109.0644885</c:v>
                </c:pt>
                <c:pt idx="118">
                  <c:v>5325.3036831579</c:v>
                </c:pt>
                <c:pt idx="119">
                  <c:v>5895.5365539474</c:v>
                </c:pt>
                <c:pt idx="120">
                  <c:v>6294.8995435</c:v>
                </c:pt>
                <c:pt idx="121">
                  <c:v>7056.46852075</c:v>
                </c:pt>
                <c:pt idx="122">
                  <c:v>7880.08750525</c:v>
                </c:pt>
                <c:pt idx="123">
                  <c:v>9660.87930275</c:v>
                </c:pt>
                <c:pt idx="124">
                  <c:v>9687.50865125</c:v>
                </c:pt>
                <c:pt idx="125">
                  <c:v>10295.6579795</c:v>
                </c:pt>
                <c:pt idx="126">
                  <c:v>12299.475784</c:v>
                </c:pt>
                <c:pt idx="127">
                  <c:v>19748.470112368</c:v>
                </c:pt>
              </c:numCache>
            </c:numRef>
          </c:xVal>
          <c:yVal>
            <c:numRef>
              <c:f>'Chart Data'!$B$2:$B$129</c:f>
              <c:numCache>
                <c:formatCode>0%</c:formatCode>
                <c:ptCount val="128"/>
                <c:pt idx="0">
                  <c:v>0.0078125</c:v>
                </c:pt>
                <c:pt idx="1">
                  <c:v>0.015625</c:v>
                </c:pt>
                <c:pt idx="2">
                  <c:v>0.0234375</c:v>
                </c:pt>
                <c:pt idx="3">
                  <c:v>0.03125</c:v>
                </c:pt>
                <c:pt idx="4">
                  <c:v>0.0390625</c:v>
                </c:pt>
                <c:pt idx="5">
                  <c:v>0.046875</c:v>
                </c:pt>
                <c:pt idx="6">
                  <c:v>0.0546875</c:v>
                </c:pt>
                <c:pt idx="7">
                  <c:v>0.0625</c:v>
                </c:pt>
                <c:pt idx="8">
                  <c:v>0.0703125</c:v>
                </c:pt>
                <c:pt idx="9">
                  <c:v>0.078125</c:v>
                </c:pt>
                <c:pt idx="10">
                  <c:v>0.0859375</c:v>
                </c:pt>
                <c:pt idx="11">
                  <c:v>0.09375</c:v>
                </c:pt>
                <c:pt idx="12">
                  <c:v>0.1015625</c:v>
                </c:pt>
                <c:pt idx="13">
                  <c:v>0.109375</c:v>
                </c:pt>
                <c:pt idx="14">
                  <c:v>0.1171875</c:v>
                </c:pt>
                <c:pt idx="15">
                  <c:v>0.125</c:v>
                </c:pt>
                <c:pt idx="16">
                  <c:v>0.1328125</c:v>
                </c:pt>
                <c:pt idx="17">
                  <c:v>0.140625</c:v>
                </c:pt>
                <c:pt idx="18">
                  <c:v>0.1484375</c:v>
                </c:pt>
                <c:pt idx="19">
                  <c:v>0.15625</c:v>
                </c:pt>
                <c:pt idx="20">
                  <c:v>0.1640625</c:v>
                </c:pt>
                <c:pt idx="21">
                  <c:v>0.171875</c:v>
                </c:pt>
                <c:pt idx="22">
                  <c:v>0.1796875</c:v>
                </c:pt>
                <c:pt idx="23">
                  <c:v>0.1875</c:v>
                </c:pt>
                <c:pt idx="24">
                  <c:v>0.1953125</c:v>
                </c:pt>
                <c:pt idx="25">
                  <c:v>0.203125</c:v>
                </c:pt>
                <c:pt idx="26">
                  <c:v>0.2109375</c:v>
                </c:pt>
                <c:pt idx="27">
                  <c:v>0.21875</c:v>
                </c:pt>
                <c:pt idx="28">
                  <c:v>0.2265625</c:v>
                </c:pt>
                <c:pt idx="29">
                  <c:v>0.234375</c:v>
                </c:pt>
                <c:pt idx="30">
                  <c:v>0.2421875</c:v>
                </c:pt>
                <c:pt idx="31">
                  <c:v>0.25</c:v>
                </c:pt>
                <c:pt idx="32">
                  <c:v>0.2578125</c:v>
                </c:pt>
                <c:pt idx="33">
                  <c:v>0.265625</c:v>
                </c:pt>
                <c:pt idx="34">
                  <c:v>0.2734375</c:v>
                </c:pt>
                <c:pt idx="35">
                  <c:v>0.28125</c:v>
                </c:pt>
                <c:pt idx="36">
                  <c:v>0.2890625</c:v>
                </c:pt>
                <c:pt idx="37">
                  <c:v>0.296875</c:v>
                </c:pt>
                <c:pt idx="38">
                  <c:v>0.3046875</c:v>
                </c:pt>
                <c:pt idx="39">
                  <c:v>0.3125</c:v>
                </c:pt>
                <c:pt idx="40">
                  <c:v>0.3203125</c:v>
                </c:pt>
                <c:pt idx="41">
                  <c:v>0.328125</c:v>
                </c:pt>
                <c:pt idx="42">
                  <c:v>0.3359375</c:v>
                </c:pt>
                <c:pt idx="43">
                  <c:v>0.34375</c:v>
                </c:pt>
                <c:pt idx="44">
                  <c:v>0.3515625</c:v>
                </c:pt>
                <c:pt idx="45">
                  <c:v>0.359375</c:v>
                </c:pt>
                <c:pt idx="46">
                  <c:v>0.3671875</c:v>
                </c:pt>
                <c:pt idx="47">
                  <c:v>0.375</c:v>
                </c:pt>
                <c:pt idx="48">
                  <c:v>0.3828125</c:v>
                </c:pt>
                <c:pt idx="49">
                  <c:v>0.390625</c:v>
                </c:pt>
                <c:pt idx="50">
                  <c:v>0.3984375</c:v>
                </c:pt>
                <c:pt idx="51">
                  <c:v>0.40625</c:v>
                </c:pt>
                <c:pt idx="52">
                  <c:v>0.4140625</c:v>
                </c:pt>
                <c:pt idx="53">
                  <c:v>0.421875</c:v>
                </c:pt>
                <c:pt idx="54">
                  <c:v>0.4296875</c:v>
                </c:pt>
                <c:pt idx="55">
                  <c:v>0.4375</c:v>
                </c:pt>
                <c:pt idx="56">
                  <c:v>0.4453125</c:v>
                </c:pt>
                <c:pt idx="57">
                  <c:v>0.453125</c:v>
                </c:pt>
                <c:pt idx="58">
                  <c:v>0.4609375</c:v>
                </c:pt>
                <c:pt idx="59">
                  <c:v>0.46875</c:v>
                </c:pt>
                <c:pt idx="60">
                  <c:v>0.4765625</c:v>
                </c:pt>
                <c:pt idx="61">
                  <c:v>0.484375</c:v>
                </c:pt>
                <c:pt idx="62">
                  <c:v>0.4921875</c:v>
                </c:pt>
                <c:pt idx="63">
                  <c:v>0.5</c:v>
                </c:pt>
                <c:pt idx="64">
                  <c:v>0.5078125</c:v>
                </c:pt>
                <c:pt idx="65">
                  <c:v>0.515625</c:v>
                </c:pt>
                <c:pt idx="66">
                  <c:v>0.5234375</c:v>
                </c:pt>
                <c:pt idx="67">
                  <c:v>0.53125</c:v>
                </c:pt>
                <c:pt idx="68">
                  <c:v>0.5390625</c:v>
                </c:pt>
                <c:pt idx="69">
                  <c:v>0.546875</c:v>
                </c:pt>
                <c:pt idx="70">
                  <c:v>0.5546875</c:v>
                </c:pt>
                <c:pt idx="71">
                  <c:v>0.5625</c:v>
                </c:pt>
                <c:pt idx="72">
                  <c:v>0.5703125</c:v>
                </c:pt>
                <c:pt idx="73">
                  <c:v>0.578125</c:v>
                </c:pt>
                <c:pt idx="74">
                  <c:v>0.5859375</c:v>
                </c:pt>
                <c:pt idx="75">
                  <c:v>0.59375</c:v>
                </c:pt>
                <c:pt idx="76">
                  <c:v>0.6015625</c:v>
                </c:pt>
                <c:pt idx="77">
                  <c:v>0.609375</c:v>
                </c:pt>
                <c:pt idx="78">
                  <c:v>0.6171875</c:v>
                </c:pt>
                <c:pt idx="79">
                  <c:v>0.625</c:v>
                </c:pt>
                <c:pt idx="80">
                  <c:v>0.6328125</c:v>
                </c:pt>
                <c:pt idx="81">
                  <c:v>0.640625</c:v>
                </c:pt>
                <c:pt idx="82">
                  <c:v>0.6484375</c:v>
                </c:pt>
                <c:pt idx="83">
                  <c:v>0.65625</c:v>
                </c:pt>
                <c:pt idx="84">
                  <c:v>0.6640625</c:v>
                </c:pt>
                <c:pt idx="85">
                  <c:v>0.671875</c:v>
                </c:pt>
                <c:pt idx="86">
                  <c:v>0.6796875</c:v>
                </c:pt>
                <c:pt idx="87">
                  <c:v>0.6875</c:v>
                </c:pt>
                <c:pt idx="88">
                  <c:v>0.6953125</c:v>
                </c:pt>
                <c:pt idx="89">
                  <c:v>0.703125</c:v>
                </c:pt>
                <c:pt idx="90">
                  <c:v>0.7109375</c:v>
                </c:pt>
                <c:pt idx="91">
                  <c:v>0.71875</c:v>
                </c:pt>
                <c:pt idx="92">
                  <c:v>0.7265625</c:v>
                </c:pt>
                <c:pt idx="93">
                  <c:v>0.734375</c:v>
                </c:pt>
                <c:pt idx="94">
                  <c:v>0.7421875</c:v>
                </c:pt>
                <c:pt idx="95">
                  <c:v>0.75</c:v>
                </c:pt>
                <c:pt idx="96">
                  <c:v>0.7578125</c:v>
                </c:pt>
                <c:pt idx="97">
                  <c:v>0.765625</c:v>
                </c:pt>
                <c:pt idx="98">
                  <c:v>0.7734375</c:v>
                </c:pt>
                <c:pt idx="99">
                  <c:v>0.78125</c:v>
                </c:pt>
                <c:pt idx="100">
                  <c:v>0.7890625</c:v>
                </c:pt>
                <c:pt idx="101">
                  <c:v>0.796875</c:v>
                </c:pt>
                <c:pt idx="102">
                  <c:v>0.8046875</c:v>
                </c:pt>
                <c:pt idx="103">
                  <c:v>0.8125</c:v>
                </c:pt>
                <c:pt idx="104">
                  <c:v>0.8203125</c:v>
                </c:pt>
                <c:pt idx="105">
                  <c:v>0.828125</c:v>
                </c:pt>
                <c:pt idx="106">
                  <c:v>0.8359375</c:v>
                </c:pt>
                <c:pt idx="107">
                  <c:v>0.84375</c:v>
                </c:pt>
                <c:pt idx="108">
                  <c:v>0.8515625</c:v>
                </c:pt>
                <c:pt idx="109">
                  <c:v>0.859375</c:v>
                </c:pt>
                <c:pt idx="110">
                  <c:v>0.8671875</c:v>
                </c:pt>
                <c:pt idx="111">
                  <c:v>0.875</c:v>
                </c:pt>
                <c:pt idx="112">
                  <c:v>0.8828125</c:v>
                </c:pt>
                <c:pt idx="113">
                  <c:v>0.890625</c:v>
                </c:pt>
                <c:pt idx="114">
                  <c:v>0.8984375</c:v>
                </c:pt>
                <c:pt idx="115">
                  <c:v>0.90625</c:v>
                </c:pt>
                <c:pt idx="116">
                  <c:v>0.9140625</c:v>
                </c:pt>
                <c:pt idx="117">
                  <c:v>0.921875</c:v>
                </c:pt>
                <c:pt idx="118">
                  <c:v>0.9296875</c:v>
                </c:pt>
                <c:pt idx="119">
                  <c:v>0.9375</c:v>
                </c:pt>
                <c:pt idx="120">
                  <c:v>0.9453125</c:v>
                </c:pt>
                <c:pt idx="121">
                  <c:v>0.953125</c:v>
                </c:pt>
                <c:pt idx="122">
                  <c:v>0.9609375</c:v>
                </c:pt>
                <c:pt idx="123">
                  <c:v>0.96875</c:v>
                </c:pt>
                <c:pt idx="124">
                  <c:v>0.9765625</c:v>
                </c:pt>
                <c:pt idx="125">
                  <c:v>0.984375</c:v>
                </c:pt>
                <c:pt idx="126">
                  <c:v>0.9921875</c:v>
                </c:pt>
                <c:pt idx="127">
                  <c:v>1</c:v>
                </c:pt>
              </c:numCache>
            </c:numRef>
          </c:yVal>
        </c:ser>
        <c:ser>
          <c:idx val="1"/>
          <c:order val="1"/>
          <c:tx>
            <c:v>Zero profit</c:v>
          </c:tx>
          <c:spPr>
            <a:solidFill xmlns:a="http://schemas.openxmlformats.org/drawingml/2006/main">
              <a:srgbClr val="8D9AA5"/>
            </a:solidFill>
            <a:ln xmlns:a="http://schemas.openxmlformats.org/drawingml/2006/main" w="28575">
              <a:solidFill>
                <a:srgbClr val="B24238"/>
              </a:solidFill>
              <a:prstDash val="solid"/>
            </a:ln>
          </c:spPr>
          <c:marker>
            <c:symbol val="none"/>
            <c:size val="4"/>
          </c:marker>
          <c:xVal>
            <c:numRef>
              <c:f>'Chart Data'!$C$2:$C$3</c:f>
              <c:numCache>
                <c:formatCode>General</c:formatCode>
                <c:ptCount val="2"/>
                <c:pt idx="0">
                  <c:v>0</c:v>
                </c:pt>
                <c:pt idx="1">
                  <c:v>0</c:v>
                </c:pt>
              </c:numCache>
            </c:numRef>
          </c:xVal>
          <c:yVal>
            <c:numRef>
              <c:f>'Chart Data'!$D$2:$D$3</c:f>
              <c:numCache>
                <c:formatCode>0%</c:formatCode>
                <c:ptCount val="2"/>
                <c:pt idx="0">
                  <c:v>0</c:v>
                </c:pt>
                <c:pt idx="1">
                  <c:v>1</c:v>
                </c:pt>
              </c:numCache>
            </c:numRef>
          </c:y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Share of outcomes at or below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valAx>
      <c:valAx>
        <c:axId val="48650112"/>
        <c:scaling>
          <c:orientation val="minMax"/>
          <c:max val="20000"/>
          <c:min val="-5000"/>
        </c:scaling>
        <c:delete val="0"/>
        <c:axPos val="b"/>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Cash after costs ($)</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5000"/>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5283B"/>
                </a:solidFill>
                <a:latin typeface="Helvetica Neue"/>
                <a:ea typeface="Helvetica Neue"/>
                <a:cs typeface="Helvetica Neue"/>
              </a:rPr>
              <a:t>C: 50 MWh sold at −$4.85</a:t>
            </a:r>
          </a:p>
        </c:rich>
      </c:tx>
      <c:overlay val="0"/>
      <c:txPr>
        <a:bodyPr xmlns:a="http://schemas.openxmlformats.org/drawingml/2006/main" anchorCtr="1"/>
        <a:lstStyle xmlns:a="http://schemas.openxmlformats.org/drawingml/2006/main"/>
        <a:p xmlns:a="http://schemas.openxmlformats.org/drawingml/2006/main">
          <a:pPr>
            <a:defRPr sz="1800" b="1">
              <a:solidFill>
                <a:srgbClr val="15283B"/>
              </a:solidFill>
              <a:latin typeface="Helvetica Neue"/>
              <a:ea typeface="Helvetica Neue"/>
              <a:cs typeface="Helvetica Neue"/>
            </a:defRPr>
          </a:pPr>
        </a:p>
      </c:txPr>
    </c:title>
    <c:plotArea>
      <c:scatterChart>
        <c:scatterStyle val="line"/>
        <c:varyColors val="0"/>
        <c:ser>
          <c:idx val="0"/>
          <c:order val="0"/>
          <c:tx>
            <c:v>Estimated outcomes</c:v>
          </c:tx>
          <c:spPr>
            <a:solidFill xmlns:a="http://schemas.openxmlformats.org/drawingml/2006/main">
              <a:srgbClr val="8D9AA5"/>
            </a:solidFill>
            <a:ln xmlns:a="http://schemas.openxmlformats.org/drawingml/2006/main" w="28575">
              <a:solidFill>
                <a:srgbClr val="7051A1"/>
              </a:solidFill>
              <a:prstDash val="solid"/>
            </a:ln>
          </c:spPr>
          <c:marker>
            <c:symbol val="none"/>
            <c:size val="4"/>
          </c:marker>
          <c:xVal>
            <c:numRef>
              <c:f>'Chart Data'!$A$2:$A$181</c:f>
              <c:numCache>
                <c:formatCode>General</c:formatCode>
                <c:ptCount val="180"/>
                <c:pt idx="0">
                  <c:v>-709.12649241071</c:v>
                </c:pt>
                <c:pt idx="1">
                  <c:v>-706.28701517857</c:v>
                </c:pt>
                <c:pt idx="2">
                  <c:v>-688.48419866071</c:v>
                </c:pt>
                <c:pt idx="3">
                  <c:v>-686.76026138393</c:v>
                </c:pt>
                <c:pt idx="4">
                  <c:v>-624.00231049107</c:v>
                </c:pt>
                <c:pt idx="5">
                  <c:v>-621.13783928571</c:v>
                </c:pt>
                <c:pt idx="6">
                  <c:v>-613.53433191964</c:v>
                </c:pt>
                <c:pt idx="7">
                  <c:v>-572.04251183036</c:v>
                </c:pt>
                <c:pt idx="8">
                  <c:v>-544.91886741071</c:v>
                </c:pt>
                <c:pt idx="9">
                  <c:v>-537.71632611607</c:v>
                </c:pt>
                <c:pt idx="10">
                  <c:v>-527.07741584821</c:v>
                </c:pt>
                <c:pt idx="11">
                  <c:v>-492.43247276786</c:v>
                </c:pt>
                <c:pt idx="12">
                  <c:v>-446.919184375</c:v>
                </c:pt>
                <c:pt idx="13">
                  <c:v>-402.65450290179</c:v>
                </c:pt>
                <c:pt idx="14">
                  <c:v>-400.25011607143</c:v>
                </c:pt>
                <c:pt idx="15">
                  <c:v>-397.56815625</c:v>
                </c:pt>
                <c:pt idx="16">
                  <c:v>-392.59817700893</c:v>
                </c:pt>
                <c:pt idx="17">
                  <c:v>-389.63499486607</c:v>
                </c:pt>
                <c:pt idx="18">
                  <c:v>-375.19125959821</c:v>
                </c:pt>
                <c:pt idx="19">
                  <c:v>-374.54553504464</c:v>
                </c:pt>
                <c:pt idx="20">
                  <c:v>-370.19484330357</c:v>
                </c:pt>
                <c:pt idx="21">
                  <c:v>-363.54109508929</c:v>
                </c:pt>
                <c:pt idx="22">
                  <c:v>-358.79423415179</c:v>
                </c:pt>
                <c:pt idx="23">
                  <c:v>-316.304859375</c:v>
                </c:pt>
                <c:pt idx="24">
                  <c:v>-305.09682410714</c:v>
                </c:pt>
                <c:pt idx="25">
                  <c:v>-257.52409330357</c:v>
                </c:pt>
                <c:pt idx="26">
                  <c:v>-227.32728125</c:v>
                </c:pt>
                <c:pt idx="27">
                  <c:v>-203.49347946429</c:v>
                </c:pt>
                <c:pt idx="28">
                  <c:v>-178.45148058036</c:v>
                </c:pt>
                <c:pt idx="29">
                  <c:v>-172.40955022321</c:v>
                </c:pt>
                <c:pt idx="30">
                  <c:v>-152.38038258929</c:v>
                </c:pt>
                <c:pt idx="31">
                  <c:v>-137.61629129464</c:v>
                </c:pt>
                <c:pt idx="32">
                  <c:v>-137.04902857143</c:v>
                </c:pt>
                <c:pt idx="33">
                  <c:v>-118.91159821429</c:v>
                </c:pt>
                <c:pt idx="34">
                  <c:v>-108.5141125</c:v>
                </c:pt>
                <c:pt idx="35">
                  <c:v>-103.75334129464</c:v>
                </c:pt>
                <c:pt idx="36">
                  <c:v>-94.789952678572</c:v>
                </c:pt>
                <c:pt idx="37">
                  <c:v>-85.732787946429</c:v>
                </c:pt>
                <c:pt idx="38">
                  <c:v>-58.742555357143</c:v>
                </c:pt>
                <c:pt idx="39">
                  <c:v>-49.366335491071</c:v>
                </c:pt>
                <c:pt idx="40">
                  <c:v>-36.702176116071</c:v>
                </c:pt>
                <c:pt idx="41">
                  <c:v>-24.767558035715</c:v>
                </c:pt>
                <c:pt idx="42">
                  <c:v>-20.4871375</c:v>
                </c:pt>
                <c:pt idx="43">
                  <c:v>18.674706473214</c:v>
                </c:pt>
                <c:pt idx="44">
                  <c:v>33.1843328125</c:v>
                </c:pt>
                <c:pt idx="45">
                  <c:v>35.396723883929</c:v>
                </c:pt>
                <c:pt idx="46">
                  <c:v>46.727935714286</c:v>
                </c:pt>
                <c:pt idx="47">
                  <c:v>52.062568973214</c:v>
                </c:pt>
                <c:pt idx="48">
                  <c:v>52.583834598214</c:v>
                </c:pt>
                <c:pt idx="49">
                  <c:v>56.114905803571</c:v>
                </c:pt>
                <c:pt idx="50">
                  <c:v>83.182166741071</c:v>
                </c:pt>
                <c:pt idx="51">
                  <c:v>91.081510491071</c:v>
                </c:pt>
                <c:pt idx="52">
                  <c:v>93.522989285714</c:v>
                </c:pt>
                <c:pt idx="53">
                  <c:v>101.84186763393</c:v>
                </c:pt>
                <c:pt idx="54">
                  <c:v>102.40026071429</c:v>
                </c:pt>
                <c:pt idx="55">
                  <c:v>104.13407388393</c:v>
                </c:pt>
                <c:pt idx="56">
                  <c:v>107.5637421875</c:v>
                </c:pt>
                <c:pt idx="57">
                  <c:v>107.69689642857</c:v>
                </c:pt>
                <c:pt idx="58">
                  <c:v>120.63527075893</c:v>
                </c:pt>
                <c:pt idx="59">
                  <c:v>125.14502299107</c:v>
                </c:pt>
                <c:pt idx="60">
                  <c:v>127.2415</c:v>
                </c:pt>
                <c:pt idx="61">
                  <c:v>128.69731004464</c:v>
                </c:pt>
                <c:pt idx="62">
                  <c:v>129.19264553571</c:v>
                </c:pt>
                <c:pt idx="63">
                  <c:v>131.28910892857</c:v>
                </c:pt>
                <c:pt idx="64">
                  <c:v>142.34197901786</c:v>
                </c:pt>
                <c:pt idx="65">
                  <c:v>147.55755825893</c:v>
                </c:pt>
                <c:pt idx="66">
                  <c:v>148.72564017857</c:v>
                </c:pt>
                <c:pt idx="67">
                  <c:v>148.77516450893</c:v>
                </c:pt>
                <c:pt idx="68">
                  <c:v>152.24642678571</c:v>
                </c:pt>
                <c:pt idx="69">
                  <c:v>152.96000401786</c:v>
                </c:pt>
                <c:pt idx="70">
                  <c:v>157.89382053571</c:v>
                </c:pt>
                <c:pt idx="71">
                  <c:v>165.74016004464</c:v>
                </c:pt>
                <c:pt idx="72">
                  <c:v>167.11391183036</c:v>
                </c:pt>
                <c:pt idx="73">
                  <c:v>168.259128125</c:v>
                </c:pt>
                <c:pt idx="74">
                  <c:v>172.49660892857</c:v>
                </c:pt>
                <c:pt idx="75">
                  <c:v>172.60672700893</c:v>
                </c:pt>
                <c:pt idx="76">
                  <c:v>172.71810602679</c:v>
                </c:pt>
                <c:pt idx="77">
                  <c:v>174.0019421875</c:v>
                </c:pt>
                <c:pt idx="78">
                  <c:v>181.59742767857</c:v>
                </c:pt>
                <c:pt idx="79">
                  <c:v>182.92675736607</c:v>
                </c:pt>
                <c:pt idx="80">
                  <c:v>183.43566138393</c:v>
                </c:pt>
                <c:pt idx="81">
                  <c:v>185.95937008929</c:v>
                </c:pt>
                <c:pt idx="82">
                  <c:v>192.62395</c:v>
                </c:pt>
                <c:pt idx="83">
                  <c:v>196.63072857143</c:v>
                </c:pt>
                <c:pt idx="84">
                  <c:v>199.39018973214</c:v>
                </c:pt>
                <c:pt idx="85">
                  <c:v>207.20849464286</c:v>
                </c:pt>
                <c:pt idx="86">
                  <c:v>209.77220959821</c:v>
                </c:pt>
                <c:pt idx="87">
                  <c:v>213.38285446429</c:v>
                </c:pt>
                <c:pt idx="88">
                  <c:v>221.033603125</c:v>
                </c:pt>
                <c:pt idx="89">
                  <c:v>227.34117633929</c:v>
                </c:pt>
                <c:pt idx="90">
                  <c:v>230.63538348214</c:v>
                </c:pt>
                <c:pt idx="91">
                  <c:v>236.99180357143</c:v>
                </c:pt>
                <c:pt idx="92">
                  <c:v>241.77576651786</c:v>
                </c:pt>
                <c:pt idx="93">
                  <c:v>249.49725736607</c:v>
                </c:pt>
                <c:pt idx="94">
                  <c:v>252.95833973214</c:v>
                </c:pt>
                <c:pt idx="95">
                  <c:v>253.19150848214</c:v>
                </c:pt>
                <c:pt idx="96">
                  <c:v>253.79207633929</c:v>
                </c:pt>
                <c:pt idx="97">
                  <c:v>254.09469017857</c:v>
                </c:pt>
                <c:pt idx="98">
                  <c:v>255.75115714286</c:v>
                </c:pt>
                <c:pt idx="99">
                  <c:v>258.22114285714</c:v>
                </c:pt>
                <c:pt idx="100">
                  <c:v>277.73269419643</c:v>
                </c:pt>
                <c:pt idx="101">
                  <c:v>279.92775357143</c:v>
                </c:pt>
                <c:pt idx="102">
                  <c:v>282.5040546875</c:v>
                </c:pt>
                <c:pt idx="103">
                  <c:v>288.62422566964</c:v>
                </c:pt>
                <c:pt idx="104">
                  <c:v>289.82754553571</c:v>
                </c:pt>
                <c:pt idx="105">
                  <c:v>292.34465</c:v>
                </c:pt>
                <c:pt idx="106">
                  <c:v>292.72590848214</c:v>
                </c:pt>
                <c:pt idx="107">
                  <c:v>296.22395580357</c:v>
                </c:pt>
                <c:pt idx="108">
                  <c:v>302.69277388393</c:v>
                </c:pt>
                <c:pt idx="109">
                  <c:v>303.8245703125</c:v>
                </c:pt>
                <c:pt idx="110">
                  <c:v>303.91117366071</c:v>
                </c:pt>
                <c:pt idx="111">
                  <c:v>311.04141875</c:v>
                </c:pt>
                <c:pt idx="112">
                  <c:v>315.15204107143</c:v>
                </c:pt>
                <c:pt idx="113">
                  <c:v>320.38737767857</c:v>
                </c:pt>
                <c:pt idx="114">
                  <c:v>330.53772723214</c:v>
                </c:pt>
                <c:pt idx="115">
                  <c:v>349.52140580357</c:v>
                </c:pt>
                <c:pt idx="116">
                  <c:v>350.11168370536</c:v>
                </c:pt>
                <c:pt idx="117">
                  <c:v>352.82458191964</c:v>
                </c:pt>
                <c:pt idx="118">
                  <c:v>356.27163147321</c:v>
                </c:pt>
                <c:pt idx="119">
                  <c:v>359.69664196429</c:v>
                </c:pt>
                <c:pt idx="120">
                  <c:v>363.81965513393</c:v>
                </c:pt>
                <c:pt idx="121">
                  <c:v>368.42361473214</c:v>
                </c:pt>
                <c:pt idx="122">
                  <c:v>375.32549040179</c:v>
                </c:pt>
                <c:pt idx="123">
                  <c:v>378.12683348214</c:v>
                </c:pt>
                <c:pt idx="124">
                  <c:v>395.60319352679</c:v>
                </c:pt>
                <c:pt idx="125">
                  <c:v>396.60779375</c:v>
                </c:pt>
                <c:pt idx="126">
                  <c:v>410.35774285714</c:v>
                </c:pt>
                <c:pt idx="127">
                  <c:v>412.47609196429</c:v>
                </c:pt>
                <c:pt idx="128">
                  <c:v>414.79171071429</c:v>
                </c:pt>
                <c:pt idx="129">
                  <c:v>416.55261227679</c:v>
                </c:pt>
                <c:pt idx="130">
                  <c:v>417.12669352679</c:v>
                </c:pt>
                <c:pt idx="131">
                  <c:v>431.30082321429</c:v>
                </c:pt>
                <c:pt idx="132">
                  <c:v>436.27662790179</c:v>
                </c:pt>
                <c:pt idx="133">
                  <c:v>439.19883973214</c:v>
                </c:pt>
                <c:pt idx="134">
                  <c:v>439.87445535714</c:v>
                </c:pt>
                <c:pt idx="135">
                  <c:v>446.76325491071</c:v>
                </c:pt>
                <c:pt idx="136">
                  <c:v>452.11380334821</c:v>
                </c:pt>
                <c:pt idx="137">
                  <c:v>453.46757834821</c:v>
                </c:pt>
                <c:pt idx="138">
                  <c:v>459.21261183036</c:v>
                </c:pt>
                <c:pt idx="139">
                  <c:v>459.98934553571</c:v>
                </c:pt>
                <c:pt idx="140">
                  <c:v>460.96413705357</c:v>
                </c:pt>
                <c:pt idx="141">
                  <c:v>461.83485625</c:v>
                </c:pt>
                <c:pt idx="142">
                  <c:v>472.12647433036</c:v>
                </c:pt>
                <c:pt idx="143">
                  <c:v>479.91848013393</c:v>
                </c:pt>
                <c:pt idx="144">
                  <c:v>489.476834375</c:v>
                </c:pt>
                <c:pt idx="145">
                  <c:v>498.97300022321</c:v>
                </c:pt>
                <c:pt idx="146">
                  <c:v>500.317284375</c:v>
                </c:pt>
                <c:pt idx="147">
                  <c:v>524.381371875</c:v>
                </c:pt>
                <c:pt idx="148">
                  <c:v>538.22460066964</c:v>
                </c:pt>
                <c:pt idx="149">
                  <c:v>547.91982075893</c:v>
                </c:pt>
                <c:pt idx="150">
                  <c:v>565.0182859375</c:v>
                </c:pt>
                <c:pt idx="151">
                  <c:v>596.5377234375</c:v>
                </c:pt>
                <c:pt idx="152">
                  <c:v>603.90378772321</c:v>
                </c:pt>
                <c:pt idx="153">
                  <c:v>639.36519553571</c:v>
                </c:pt>
                <c:pt idx="154">
                  <c:v>642.3613</c:v>
                </c:pt>
                <c:pt idx="155">
                  <c:v>651.93799598214</c:v>
                </c:pt>
                <c:pt idx="156">
                  <c:v>672.89157924107</c:v>
                </c:pt>
                <c:pt idx="157">
                  <c:v>740.32814285714</c:v>
                </c:pt>
                <c:pt idx="158">
                  <c:v>758.299815625</c:v>
                </c:pt>
                <c:pt idx="159">
                  <c:v>812.80123928571</c:v>
                </c:pt>
                <c:pt idx="160">
                  <c:v>820.85851875</c:v>
                </c:pt>
                <c:pt idx="161">
                  <c:v>832.07838571429</c:v>
                </c:pt>
                <c:pt idx="162">
                  <c:v>852.256809375</c:v>
                </c:pt>
                <c:pt idx="163">
                  <c:v>858.65464553571</c:v>
                </c:pt>
                <c:pt idx="164">
                  <c:v>865.70293392857</c:v>
                </c:pt>
                <c:pt idx="165">
                  <c:v>916.6847890625</c:v>
                </c:pt>
                <c:pt idx="166">
                  <c:v>930.07569464286</c:v>
                </c:pt>
                <c:pt idx="167">
                  <c:v>939.11328995536</c:v>
                </c:pt>
                <c:pt idx="168">
                  <c:v>986.04833303571</c:v>
                </c:pt>
                <c:pt idx="169">
                  <c:v>1049.833175</c:v>
                </c:pt>
                <c:pt idx="170">
                  <c:v>1081.8074613839</c:v>
                </c:pt>
                <c:pt idx="171">
                  <c:v>1100.0520830357</c:v>
                </c:pt>
                <c:pt idx="172">
                  <c:v>1101.6840551339</c:v>
                </c:pt>
                <c:pt idx="173">
                  <c:v>1193.7131584821</c:v>
                </c:pt>
                <c:pt idx="174">
                  <c:v>1236.2991462054</c:v>
                </c:pt>
                <c:pt idx="175">
                  <c:v>1253.6164473214</c:v>
                </c:pt>
                <c:pt idx="176">
                  <c:v>1357.0702261161</c:v>
                </c:pt>
                <c:pt idx="177">
                  <c:v>1892.4924662946</c:v>
                </c:pt>
                <c:pt idx="178">
                  <c:v>2052.7577950893</c:v>
                </c:pt>
                <c:pt idx="179">
                  <c:v>3046.6727174107</c:v>
                </c:pt>
              </c:numCache>
            </c:numRef>
          </c:xVal>
          <c:yVal>
            <c:numRef>
              <c:f>'Chart Data'!$B$2:$B$181</c:f>
              <c:numCache>
                <c:formatCode>0%</c:formatCode>
                <c:ptCount val="180"/>
                <c:pt idx="0">
                  <c:v>0.0055555555555556</c:v>
                </c:pt>
                <c:pt idx="1">
                  <c:v>0.011111111111111</c:v>
                </c:pt>
                <c:pt idx="2">
                  <c:v>0.016666666666667</c:v>
                </c:pt>
                <c:pt idx="3">
                  <c:v>0.022222222222222</c:v>
                </c:pt>
                <c:pt idx="4">
                  <c:v>0.027777777777778</c:v>
                </c:pt>
                <c:pt idx="5">
                  <c:v>0.033333333333333</c:v>
                </c:pt>
                <c:pt idx="6">
                  <c:v>0.038888888888889</c:v>
                </c:pt>
                <c:pt idx="7">
                  <c:v>0.044444444444444</c:v>
                </c:pt>
                <c:pt idx="8">
                  <c:v>0.05</c:v>
                </c:pt>
                <c:pt idx="9">
                  <c:v>0.055555555555556</c:v>
                </c:pt>
                <c:pt idx="10">
                  <c:v>0.061111111111111</c:v>
                </c:pt>
                <c:pt idx="11">
                  <c:v>0.066666666666667</c:v>
                </c:pt>
                <c:pt idx="12">
                  <c:v>0.072222222222222</c:v>
                </c:pt>
                <c:pt idx="13">
                  <c:v>0.077777777777778</c:v>
                </c:pt>
                <c:pt idx="14">
                  <c:v>0.083333333333333</c:v>
                </c:pt>
                <c:pt idx="15">
                  <c:v>0.088888888888889</c:v>
                </c:pt>
                <c:pt idx="16">
                  <c:v>0.094444444444444</c:v>
                </c:pt>
                <c:pt idx="17">
                  <c:v>0.1</c:v>
                </c:pt>
                <c:pt idx="18">
                  <c:v>0.10555555555556</c:v>
                </c:pt>
                <c:pt idx="19">
                  <c:v>0.11111111111111</c:v>
                </c:pt>
                <c:pt idx="20">
                  <c:v>0.11666666666667</c:v>
                </c:pt>
                <c:pt idx="21">
                  <c:v>0.12222222222222</c:v>
                </c:pt>
                <c:pt idx="22">
                  <c:v>0.12777777777778</c:v>
                </c:pt>
                <c:pt idx="23">
                  <c:v>0.13333333333333</c:v>
                </c:pt>
                <c:pt idx="24">
                  <c:v>0.13888888888889</c:v>
                </c:pt>
                <c:pt idx="25">
                  <c:v>0.14444444444444</c:v>
                </c:pt>
                <c:pt idx="26">
                  <c:v>0.15</c:v>
                </c:pt>
                <c:pt idx="27">
                  <c:v>0.15555555555556</c:v>
                </c:pt>
                <c:pt idx="28">
                  <c:v>0.16111111111111</c:v>
                </c:pt>
                <c:pt idx="29">
                  <c:v>0.16666666666667</c:v>
                </c:pt>
                <c:pt idx="30">
                  <c:v>0.17222222222222</c:v>
                </c:pt>
                <c:pt idx="31">
                  <c:v>0.17777777777778</c:v>
                </c:pt>
                <c:pt idx="32">
                  <c:v>0.18333333333333</c:v>
                </c:pt>
                <c:pt idx="33">
                  <c:v>0.18888888888889</c:v>
                </c:pt>
                <c:pt idx="34">
                  <c:v>0.19444444444444</c:v>
                </c:pt>
                <c:pt idx="35">
                  <c:v>0.2</c:v>
                </c:pt>
                <c:pt idx="36">
                  <c:v>0.20555555555556</c:v>
                </c:pt>
                <c:pt idx="37">
                  <c:v>0.21111111111111</c:v>
                </c:pt>
                <c:pt idx="38">
                  <c:v>0.21666666666667</c:v>
                </c:pt>
                <c:pt idx="39">
                  <c:v>0.22222222222222</c:v>
                </c:pt>
                <c:pt idx="40">
                  <c:v>0.22777777777778</c:v>
                </c:pt>
                <c:pt idx="41">
                  <c:v>0.23333333333333</c:v>
                </c:pt>
                <c:pt idx="42">
                  <c:v>0.23888888888889</c:v>
                </c:pt>
                <c:pt idx="43">
                  <c:v>0.24444444444444</c:v>
                </c:pt>
                <c:pt idx="44">
                  <c:v>0.25</c:v>
                </c:pt>
                <c:pt idx="45">
                  <c:v>0.25555555555556</c:v>
                </c:pt>
                <c:pt idx="46">
                  <c:v>0.26111111111111</c:v>
                </c:pt>
                <c:pt idx="47">
                  <c:v>0.26666666666667</c:v>
                </c:pt>
                <c:pt idx="48">
                  <c:v>0.27222222222222</c:v>
                </c:pt>
                <c:pt idx="49">
                  <c:v>0.27777777777778</c:v>
                </c:pt>
                <c:pt idx="50">
                  <c:v>0.28333333333333</c:v>
                </c:pt>
                <c:pt idx="51">
                  <c:v>0.28888888888889</c:v>
                </c:pt>
                <c:pt idx="52">
                  <c:v>0.29444444444444</c:v>
                </c:pt>
                <c:pt idx="53">
                  <c:v>0.3</c:v>
                </c:pt>
                <c:pt idx="54">
                  <c:v>0.30555555555556</c:v>
                </c:pt>
                <c:pt idx="55">
                  <c:v>0.31111111111111</c:v>
                </c:pt>
                <c:pt idx="56">
                  <c:v>0.31666666666667</c:v>
                </c:pt>
                <c:pt idx="57">
                  <c:v>0.32222222222222</c:v>
                </c:pt>
                <c:pt idx="58">
                  <c:v>0.32777777777778</c:v>
                </c:pt>
                <c:pt idx="59">
                  <c:v>0.33333333333333</c:v>
                </c:pt>
                <c:pt idx="60">
                  <c:v>0.33888888888889</c:v>
                </c:pt>
                <c:pt idx="61">
                  <c:v>0.34444444444444</c:v>
                </c:pt>
                <c:pt idx="62">
                  <c:v>0.35</c:v>
                </c:pt>
                <c:pt idx="63">
                  <c:v>0.35555555555556</c:v>
                </c:pt>
                <c:pt idx="64">
                  <c:v>0.36111111111111</c:v>
                </c:pt>
                <c:pt idx="65">
                  <c:v>0.36666666666667</c:v>
                </c:pt>
                <c:pt idx="66">
                  <c:v>0.37222222222222</c:v>
                </c:pt>
                <c:pt idx="67">
                  <c:v>0.37777777777778</c:v>
                </c:pt>
                <c:pt idx="68">
                  <c:v>0.38333333333333</c:v>
                </c:pt>
                <c:pt idx="69">
                  <c:v>0.38888888888889</c:v>
                </c:pt>
                <c:pt idx="70">
                  <c:v>0.39444444444444</c:v>
                </c:pt>
                <c:pt idx="71">
                  <c:v>0.4</c:v>
                </c:pt>
                <c:pt idx="72">
                  <c:v>0.40555555555556</c:v>
                </c:pt>
                <c:pt idx="73">
                  <c:v>0.41111111111111</c:v>
                </c:pt>
                <c:pt idx="74">
                  <c:v>0.41666666666667</c:v>
                </c:pt>
                <c:pt idx="75">
                  <c:v>0.42222222222222</c:v>
                </c:pt>
                <c:pt idx="76">
                  <c:v>0.42777777777778</c:v>
                </c:pt>
                <c:pt idx="77">
                  <c:v>0.43333333333333</c:v>
                </c:pt>
                <c:pt idx="78">
                  <c:v>0.43888888888889</c:v>
                </c:pt>
                <c:pt idx="79">
                  <c:v>0.44444444444444</c:v>
                </c:pt>
                <c:pt idx="80">
                  <c:v>0.45</c:v>
                </c:pt>
                <c:pt idx="81">
                  <c:v>0.45555555555556</c:v>
                </c:pt>
                <c:pt idx="82">
                  <c:v>0.46111111111111</c:v>
                </c:pt>
                <c:pt idx="83">
                  <c:v>0.46666666666667</c:v>
                </c:pt>
                <c:pt idx="84">
                  <c:v>0.47222222222222</c:v>
                </c:pt>
                <c:pt idx="85">
                  <c:v>0.47777777777778</c:v>
                </c:pt>
                <c:pt idx="86">
                  <c:v>0.48333333333333</c:v>
                </c:pt>
                <c:pt idx="87">
                  <c:v>0.48888888888889</c:v>
                </c:pt>
                <c:pt idx="88">
                  <c:v>0.49444444444444</c:v>
                </c:pt>
                <c:pt idx="89">
                  <c:v>0.5</c:v>
                </c:pt>
                <c:pt idx="90">
                  <c:v>0.50555555555556</c:v>
                </c:pt>
                <c:pt idx="91">
                  <c:v>0.51111111111111</c:v>
                </c:pt>
                <c:pt idx="92">
                  <c:v>0.51666666666667</c:v>
                </c:pt>
                <c:pt idx="93">
                  <c:v>0.52222222222222</c:v>
                </c:pt>
                <c:pt idx="94">
                  <c:v>0.52777777777778</c:v>
                </c:pt>
                <c:pt idx="95">
                  <c:v>0.53333333333333</c:v>
                </c:pt>
                <c:pt idx="96">
                  <c:v>0.53888888888889</c:v>
                </c:pt>
                <c:pt idx="97">
                  <c:v>0.54444444444444</c:v>
                </c:pt>
                <c:pt idx="98">
                  <c:v>0.55</c:v>
                </c:pt>
                <c:pt idx="99">
                  <c:v>0.55555555555556</c:v>
                </c:pt>
                <c:pt idx="100">
                  <c:v>0.56111111111111</c:v>
                </c:pt>
                <c:pt idx="101">
                  <c:v>0.56666666666667</c:v>
                </c:pt>
                <c:pt idx="102">
                  <c:v>0.57222222222222</c:v>
                </c:pt>
                <c:pt idx="103">
                  <c:v>0.57777777777778</c:v>
                </c:pt>
                <c:pt idx="104">
                  <c:v>0.58333333333333</c:v>
                </c:pt>
                <c:pt idx="105">
                  <c:v>0.58888888888889</c:v>
                </c:pt>
                <c:pt idx="106">
                  <c:v>0.59444444444444</c:v>
                </c:pt>
                <c:pt idx="107">
                  <c:v>0.6</c:v>
                </c:pt>
                <c:pt idx="108">
                  <c:v>0.60555555555556</c:v>
                </c:pt>
                <c:pt idx="109">
                  <c:v>0.61111111111111</c:v>
                </c:pt>
                <c:pt idx="110">
                  <c:v>0.61666666666667</c:v>
                </c:pt>
                <c:pt idx="111">
                  <c:v>0.62222222222222</c:v>
                </c:pt>
                <c:pt idx="112">
                  <c:v>0.62777777777778</c:v>
                </c:pt>
                <c:pt idx="113">
                  <c:v>0.63333333333333</c:v>
                </c:pt>
                <c:pt idx="114">
                  <c:v>0.63888888888889</c:v>
                </c:pt>
                <c:pt idx="115">
                  <c:v>0.64444444444444</c:v>
                </c:pt>
                <c:pt idx="116">
                  <c:v>0.65</c:v>
                </c:pt>
                <c:pt idx="117">
                  <c:v>0.65555555555556</c:v>
                </c:pt>
                <c:pt idx="118">
                  <c:v>0.66111111111111</c:v>
                </c:pt>
                <c:pt idx="119">
                  <c:v>0.66666666666667</c:v>
                </c:pt>
                <c:pt idx="120">
                  <c:v>0.67222222222222</c:v>
                </c:pt>
                <c:pt idx="121">
                  <c:v>0.67777777777778</c:v>
                </c:pt>
                <c:pt idx="122">
                  <c:v>0.68333333333333</c:v>
                </c:pt>
                <c:pt idx="123">
                  <c:v>0.68888888888889</c:v>
                </c:pt>
                <c:pt idx="124">
                  <c:v>0.69444444444444</c:v>
                </c:pt>
                <c:pt idx="125">
                  <c:v>0.7</c:v>
                </c:pt>
                <c:pt idx="126">
                  <c:v>0.70555555555556</c:v>
                </c:pt>
                <c:pt idx="127">
                  <c:v>0.71111111111111</c:v>
                </c:pt>
                <c:pt idx="128">
                  <c:v>0.71666666666667</c:v>
                </c:pt>
                <c:pt idx="129">
                  <c:v>0.72222222222222</c:v>
                </c:pt>
                <c:pt idx="130">
                  <c:v>0.72777777777778</c:v>
                </c:pt>
                <c:pt idx="131">
                  <c:v>0.73333333333333</c:v>
                </c:pt>
                <c:pt idx="132">
                  <c:v>0.73888888888889</c:v>
                </c:pt>
                <c:pt idx="133">
                  <c:v>0.74444444444444</c:v>
                </c:pt>
                <c:pt idx="134">
                  <c:v>0.75</c:v>
                </c:pt>
                <c:pt idx="135">
                  <c:v>0.75555555555556</c:v>
                </c:pt>
                <c:pt idx="136">
                  <c:v>0.76111111111111</c:v>
                </c:pt>
                <c:pt idx="137">
                  <c:v>0.76666666666667</c:v>
                </c:pt>
                <c:pt idx="138">
                  <c:v>0.77222222222222</c:v>
                </c:pt>
                <c:pt idx="139">
                  <c:v>0.77777777777778</c:v>
                </c:pt>
                <c:pt idx="140">
                  <c:v>0.78333333333333</c:v>
                </c:pt>
                <c:pt idx="141">
                  <c:v>0.78888888888889</c:v>
                </c:pt>
                <c:pt idx="142">
                  <c:v>0.79444444444444</c:v>
                </c:pt>
                <c:pt idx="143">
                  <c:v>0.8</c:v>
                </c:pt>
                <c:pt idx="144">
                  <c:v>0.80555555555556</c:v>
                </c:pt>
                <c:pt idx="145">
                  <c:v>0.81111111111111</c:v>
                </c:pt>
                <c:pt idx="146">
                  <c:v>0.81666666666667</c:v>
                </c:pt>
                <c:pt idx="147">
                  <c:v>0.82222222222222</c:v>
                </c:pt>
                <c:pt idx="148">
                  <c:v>0.82777777777778</c:v>
                </c:pt>
                <c:pt idx="149">
                  <c:v>0.83333333333333</c:v>
                </c:pt>
                <c:pt idx="150">
                  <c:v>0.83888888888889</c:v>
                </c:pt>
                <c:pt idx="151">
                  <c:v>0.84444444444444</c:v>
                </c:pt>
                <c:pt idx="152">
                  <c:v>0.85</c:v>
                </c:pt>
                <c:pt idx="153">
                  <c:v>0.85555555555556</c:v>
                </c:pt>
                <c:pt idx="154">
                  <c:v>0.86111111111111</c:v>
                </c:pt>
                <c:pt idx="155">
                  <c:v>0.86666666666667</c:v>
                </c:pt>
                <c:pt idx="156">
                  <c:v>0.87222222222222</c:v>
                </c:pt>
                <c:pt idx="157">
                  <c:v>0.87777777777778</c:v>
                </c:pt>
                <c:pt idx="158">
                  <c:v>0.88333333333333</c:v>
                </c:pt>
                <c:pt idx="159">
                  <c:v>0.88888888888889</c:v>
                </c:pt>
                <c:pt idx="160">
                  <c:v>0.89444444444444</c:v>
                </c:pt>
                <c:pt idx="161">
                  <c:v>0.9</c:v>
                </c:pt>
                <c:pt idx="162">
                  <c:v>0.90555555555556</c:v>
                </c:pt>
                <c:pt idx="163">
                  <c:v>0.91111111111111</c:v>
                </c:pt>
                <c:pt idx="164">
                  <c:v>0.91666666666667</c:v>
                </c:pt>
                <c:pt idx="165">
                  <c:v>0.92222222222222</c:v>
                </c:pt>
                <c:pt idx="166">
                  <c:v>0.92777777777778</c:v>
                </c:pt>
                <c:pt idx="167">
                  <c:v>0.93333333333333</c:v>
                </c:pt>
                <c:pt idx="168">
                  <c:v>0.93888888888889</c:v>
                </c:pt>
                <c:pt idx="169">
                  <c:v>0.94444444444444</c:v>
                </c:pt>
                <c:pt idx="170">
                  <c:v>0.95</c:v>
                </c:pt>
                <c:pt idx="171">
                  <c:v>0.95555555555556</c:v>
                </c:pt>
                <c:pt idx="172">
                  <c:v>0.96111111111111</c:v>
                </c:pt>
                <c:pt idx="173">
                  <c:v>0.96666666666667</c:v>
                </c:pt>
                <c:pt idx="174">
                  <c:v>0.97222222222222</c:v>
                </c:pt>
                <c:pt idx="175">
                  <c:v>0.97777777777778</c:v>
                </c:pt>
                <c:pt idx="176">
                  <c:v>0.98333333333333</c:v>
                </c:pt>
                <c:pt idx="177">
                  <c:v>0.98888888888889</c:v>
                </c:pt>
                <c:pt idx="178">
                  <c:v>0.99444444444444</c:v>
                </c:pt>
                <c:pt idx="179">
                  <c:v>1</c:v>
                </c:pt>
              </c:numCache>
            </c:numRef>
          </c:yVal>
        </c:ser>
        <c:ser>
          <c:idx val="1"/>
          <c:order val="1"/>
          <c:tx>
            <c:v>Zero profit</c:v>
          </c:tx>
          <c:spPr>
            <a:solidFill xmlns:a="http://schemas.openxmlformats.org/drawingml/2006/main">
              <a:srgbClr val="8D9AA5"/>
            </a:solidFill>
            <a:ln xmlns:a="http://schemas.openxmlformats.org/drawingml/2006/main" w="28575">
              <a:solidFill>
                <a:srgbClr val="B24238"/>
              </a:solidFill>
              <a:prstDash val="solid"/>
            </a:ln>
          </c:spPr>
          <c:marker>
            <c:symbol val="none"/>
            <c:size val="4"/>
          </c:marker>
          <c:xVal>
            <c:numRef>
              <c:f>'Chart Data'!$C$2:$C$3</c:f>
              <c:numCache>
                <c:formatCode>General</c:formatCode>
                <c:ptCount val="2"/>
                <c:pt idx="0">
                  <c:v>0</c:v>
                </c:pt>
                <c:pt idx="1">
                  <c:v>0</c:v>
                </c:pt>
              </c:numCache>
            </c:numRef>
          </c:xVal>
          <c:yVal>
            <c:numRef>
              <c:f>'Chart Data'!$D$2:$D$3</c:f>
              <c:numCache>
                <c:formatCode>0%</c:formatCode>
                <c:ptCount val="2"/>
                <c:pt idx="0">
                  <c:v>0</c:v>
                </c:pt>
                <c:pt idx="1">
                  <c:v>1</c:v>
                </c:pt>
              </c:numCache>
            </c:numRef>
          </c:y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5283B"/>
                  </a:solidFill>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6668">
              <a:solidFill>
                <a:srgbClr val="DCE2E7"/>
              </a:solidFill>
            </a:ln>
          </c:spPr>
        </c:majorGridlines>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Share of outcomes at or below</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66777"/>
                </a:solidFill>
                <a:latin typeface="Helvetica Neue"/>
                <a:ea typeface="Helvetica Neue"/>
                <a:cs typeface="Helvetica Neue"/>
              </a:defRPr>
            </a:pPr>
          </a:p>
        </c:txPr>
        <c:crossAx val="48650112"/>
        <c:crossesAt val="0"/>
      </c:valAx>
      <c:valAx>
        <c:axId val="48650112"/>
        <c:scaling>
          <c:orientation val="minMax"/>
          <c:max val="3500"/>
          <c:min val="-1000"/>
        </c:scaling>
        <c:delete val="0"/>
        <c:axPos val="b"/>
        <c:title>
          <c:tx>
            <c:rich>
              <a:bodyPr xmlns:a="http://schemas.openxmlformats.org/drawingml/2006/main"/>
              <a:lstStyle xmlns:a="http://schemas.openxmlformats.org/drawingml/2006/main"/>
              <a:p xmlns:a="http://schemas.openxmlformats.org/drawingml/2006/main">
                <a:r>
                  <a:rPr sz="1650">
                    <a:solidFill>
                      <a:srgbClr val="566777"/>
                    </a:solidFill>
                    <a:latin typeface="Helvetica Neue"/>
                    <a:ea typeface="Helvetica Neue"/>
                    <a:cs typeface="Helvetica Neue"/>
                  </a:rPr>
                  <a:t>Cash after costs ($)</a:t>
                </a:r>
              </a:p>
            </c:rich>
          </c:tx>
          <c:overlay val="0"/>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title>
        <c:numFmt formatCode="General"/>
        <c:majorTickMark val="none"/>
        <c:minorTickMark val="none"/>
        <c:tickLblPos val="low"/>
        <c:spPr>
          <a:ln xmlns:a="http://schemas.openxmlformats.org/drawingml/2006/main" w="9525">
            <a:solidFill>
              <a:srgbClr val="DCE2E7"/>
            </a:solidFill>
          </a:ln>
        </c:spPr>
        <c:txPr>
          <a:bodyPr xmlns:a="http://schemas.openxmlformats.org/drawingml/2006/main" anchorCtr="1"/>
          <a:lstStyle xmlns:a="http://schemas.openxmlformats.org/drawingml/2006/main"/>
          <a:p xmlns:a="http://schemas.openxmlformats.org/drawingml/2006/main">
            <a:pPr>
              <a:defRPr sz="1650">
                <a:solidFill>
                  <a:srgbClr val="566777"/>
                </a:solidFill>
                <a:latin typeface="Helvetica Neue"/>
                <a:ea typeface="Helvetica Neue"/>
                <a:cs typeface="Helvetica Neue"/>
              </a:defRPr>
            </a:pPr>
          </a:p>
        </c:txPr>
        <c:crossAx val="48672768"/>
        <c:crossesAt val="-1000"/>
        <c:majorUnit val="1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07F2CF-25E8-4984-A6D0-C67A5B300AFA}"/>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first, A needs more cash, B no bid</a:t>
            </a:r>
          </a:p>
        </p:txBody>
      </p:sp>
      <p:sp>
        <p:nvSpPr>
          <p:cNvPr id="2" name="">
            <a:extLst xmlns:a="http://schemas.openxmlformats.org/drawingml/2006/main">
              <a:ext uri="{FF2B5EF4-FFF2-40B4-BE49-F238E27FC236}">
                <a16:creationId xmlns:a16="http://schemas.microsoft.com/office/drawing/2014/main" id="{E5F740B1-04E0-4DE0-93B6-2BE058C5FEFF}"/>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Conditional case for 16 October 2026. Price worksheet: 14 October. Forecast saved: 15 October.</a:t>
            </a:r>
          </a:p>
        </p:txBody>
      </p:sp>
      <p:sp>
        <p:nvSpPr>
          <p:cNvPr id="3" name="">
            <a:extLst xmlns:a="http://schemas.openxmlformats.org/drawingml/2006/main">
              <a:ext uri="{FF2B5EF4-FFF2-40B4-BE49-F238E27FC236}">
                <a16:creationId xmlns:a16="http://schemas.microsoft.com/office/drawing/2014/main" id="{7F78651B-A3C2-45C7-9885-37991CEF97AD}"/>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01</a:t>
            </a:r>
          </a:p>
        </p:txBody>
      </p:sp>
      <p:graphicFrame>
        <p:nvGraphicFramePr>
          <p:cNvPr id="4" name="">
            <a:extLst xmlns:a="http://schemas.openxmlformats.org/drawingml/2006/main">
              <a:ext uri="{FF2B5EF4-FFF2-40B4-BE49-F238E27FC236}">
                <a16:creationId xmlns:a16="http://schemas.microsoft.com/office/drawing/2014/main" id="{992602D0-E1F4-4FC5-9F68-8FC9E24F70B4}"/>
              </a:ext>
            </a:extLst>
          </p:cNvPr>
          <p:cNvGraphicFramePr/>
          <p:nvPr/>
        </p:nvGraphicFramePr>
        <p:xfrm>
          <a:off xmlns:a="http://schemas.openxmlformats.org/drawingml/2006/main" x="714375" y="1809750"/>
          <a:ext xmlns:a="http://schemas.openxmlformats.org/drawingml/2006/main" cx="10763250" cy="3238500"/>
        </p:xfrm>
        <a:graphic xmlns:a="http://schemas.openxmlformats.org/drawingml/2006/main">
          <a:graphicData uri="http://schemas.openxmlformats.org/drawingml/2006/table">
            <a:tbl>
              <a:tblPr firstRow="1" bandRow="0"/>
              <a:tblGrid>
                <a:gridCol w="1666875"/>
                <a:gridCol w="4857750"/>
                <a:gridCol w="4238625"/>
              </a:tblGrid>
              <a:tr h="809625">
                <a:tc>
                  <a:txBody>
                    <a:bodyPr wrap="square" lIns="95250" tIns="95250" rIns="95250" bIns="95250">
                      <a:noAutofit/>
                    </a:bodyPr>
                    <a:lstStyle/>
                    <a:p>
                      <a:r>
                        <a:rPr sz="1875" b="1">
                          <a:solidFill>
                            <a:srgbClr val="15283B"/>
                          </a:solidFill>
                          <a:latin typeface="Helvetica Neue"/>
                          <a:ea typeface="Helvetica Neue"/>
                          <a:cs typeface="Helvetica Neue"/>
                        </a:rPr>
                        <a:t>Gate</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875" b="1">
                          <a:solidFill>
                            <a:srgbClr val="15283B"/>
                          </a:solidFill>
                          <a:latin typeface="Helvetica Neue"/>
                          <a:ea typeface="Helvetica Neue"/>
                          <a:cs typeface="Helvetica Neue"/>
                        </a:rPr>
                        <a:t>Main finding</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875" b="1">
                          <a:solidFill>
                            <a:srgbClr val="15283B"/>
                          </a:solidFill>
                          <a:latin typeface="Helvetica Neue"/>
                          <a:ea typeface="Helvetica Neue"/>
                          <a:cs typeface="Helvetica Neue"/>
                        </a:rPr>
                        <a:t>Conditional choice</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809625">
                <a:tc>
                  <a:txBody>
                    <a:bodyPr wrap="square" lIns="95250" tIns="95250" rIns="95250" bIns="95250">
                      <a:noAutofit/>
                    </a:bodyPr>
                    <a:lstStyle/>
                    <a:p>
                      <a:r>
                        <a:rPr sz="1875" b="0">
                          <a:solidFill>
                            <a:srgbClr val="15283B"/>
                          </a:solidFill>
                          <a:latin typeface="Helvetica Neue"/>
                          <a:ea typeface="Helvetica Neue"/>
                          <a:cs typeface="Helvetica Neue"/>
                        </a:rPr>
                        <a:t>A: Baltimore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Evening demand and a local price premium.</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Buy BGE minus Western if price and cash qualify.</a:t>
                      </a:r>
                    </a:p>
                  </a:txBody>
                  <a:tcPr marL="91440" marR="91440" marT="45720" marB="45720">
                    <a:lnR w="5715">
                      <a:solidFill>
                        <a:srgbClr val="DCE2E7"/>
                      </a:solidFill>
                      <a:prstDash val="solid"/>
                    </a:lnR>
                    <a:lnB w="5715">
                      <a:solidFill>
                        <a:srgbClr val="DCE2E7"/>
                      </a:solidFill>
                      <a:prstDash val="solid"/>
                    </a:lnB>
                    <a:solidFill>
                      <a:srgbClr val="FFFFFF"/>
                    </a:solidFill>
                  </a:tcPr>
                </a:tc>
              </a:tr>
              <a:tr h="809625">
                <a:tc>
                  <a:txBody>
                    <a:bodyPr wrap="square" lIns="95250" tIns="95250" rIns="95250" bIns="95250">
                      <a:noAutofit/>
                    </a:bodyPr>
                    <a:lstStyle/>
                    <a:p>
                      <a:r>
                        <a:rPr sz="1875" b="0">
                          <a:solidFill>
                            <a:srgbClr val="15283B"/>
                          </a:solidFill>
                          <a:latin typeface="Helvetica Neue"/>
                          <a:ea typeface="Helvetica Neue"/>
                          <a:cs typeface="Helvetica Neue"/>
                        </a:rPr>
                        <a:t>B: Richmond</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Local prices rise, but the regional payment is unstable.</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No bid under the dated estimate.</a:t>
                      </a:r>
                    </a:p>
                  </a:txBody>
                  <a:tcPr marL="91440" marR="91440" marT="45720" marB="45720">
                    <a:lnR w="5715">
                      <a:solidFill>
                        <a:srgbClr val="DCE2E7"/>
                      </a:solidFill>
                      <a:prstDash val="solid"/>
                    </a:lnR>
                    <a:lnB w="5715">
                      <a:solidFill>
                        <a:srgbClr val="DCE2E7"/>
                      </a:solidFill>
                      <a:prstDash val="solid"/>
                    </a:lnB>
                    <a:solidFill>
                      <a:srgbClr val="FFFFFF"/>
                    </a:solidFill>
                  </a:tcPr>
                </a:tc>
              </a:tr>
              <a:tr h="809625">
                <a:tc>
                  <a:txBody>
                    <a:bodyPr wrap="square" lIns="95250" tIns="95250" rIns="95250" bIns="95250">
                      <a:noAutofit/>
                    </a:bodyPr>
                    <a:lstStyle/>
                    <a:p>
                      <a:r>
                        <a:rPr sz="1875" b="0">
                          <a:solidFill>
                            <a:srgbClr val="15283B"/>
                          </a:solidFill>
                          <a:latin typeface="Helvetica Neue"/>
                          <a:ea typeface="Helvetica Neue"/>
                          <a:cs typeface="Helvetica Neue"/>
                        </a:rPr>
                        <a:t>C: Chicago</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Western wind and demand elsewhere fit a local discount.</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Sell NI minus Western if price and cash qualify.</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F8ED1A5-4497-43B7-AD20-EDF8BA757BC5}"/>
              </a:ext>
            </a:extLst>
          </p:cNvPr>
          <p:cNvSpPr>
            <a:spLocks xmlns:a="http://schemas.openxmlformats.org/drawingml/2006/main" noGrp="1"/>
          </p:cNvSpPr>
          <p:nvPr/>
        </p:nvSpPr>
        <p:spPr>
          <a:xfrm xmlns:a="http://schemas.openxmlformats.org/drawingml/2006/main">
            <a:off x="714375" y="51911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C is the first conditional choice. The entry price, cash and both contract legs must qualify.</a:t>
            </a:r>
          </a:p>
        </p:txBody>
      </p:sp>
      <p:sp>
        <p:nvSpPr>
          <p:cNvPr id="6" name="">
            <a:extLst xmlns:a="http://schemas.openxmlformats.org/drawingml/2006/main">
              <a:ext uri="{FF2B5EF4-FFF2-40B4-BE49-F238E27FC236}">
                <a16:creationId xmlns:a16="http://schemas.microsoft.com/office/drawing/2014/main" id="{468E5D7D-47CA-465D-BFC8-981DEBE73D12}"/>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Anonymous equipment and signed branch direction remain unverified. Exact contract and cash conditions are on slides 36–37.</a:t>
            </a:r>
          </a:p>
        </p:txBody>
      </p:sp>
    </p:spTree>
    <p:extLst>
      <p:ext uri="{BB962C8B-B14F-4D97-AF65-F5344CB8AC3E}">
        <p14:creationId xmlns:p14="http://schemas.microsoft.com/office/powerpoint/2010/main" val="1230092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263E28-52E4-42E4-9543-A94810E45C1F}"/>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Binding and shadow prices</a:t>
            </a:r>
          </a:p>
        </p:txBody>
      </p:sp>
      <p:sp>
        <p:nvSpPr>
          <p:cNvPr id="2" name="">
            <a:extLst xmlns:a="http://schemas.openxmlformats.org/drawingml/2006/main">
              <a:ext uri="{FF2B5EF4-FFF2-40B4-BE49-F238E27FC236}">
                <a16:creationId xmlns:a16="http://schemas.microsoft.com/office/drawing/2014/main" id="{2FAF3B7A-033A-4DF6-9397-670B86BADA64}"/>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The supplied record describes a transmission limit. It does not give the power flowing on the line.</a:t>
            </a:r>
          </a:p>
        </p:txBody>
      </p:sp>
      <p:sp>
        <p:nvSpPr>
          <p:cNvPr id="3" name="">
            <a:extLst xmlns:a="http://schemas.openxmlformats.org/drawingml/2006/main">
              <a:ext uri="{FF2B5EF4-FFF2-40B4-BE49-F238E27FC236}">
                <a16:creationId xmlns:a16="http://schemas.microsoft.com/office/drawing/2014/main" id="{5C565CEF-9B43-4E23-B1BD-752BCCA358A2}"/>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02</a:t>
            </a:r>
          </a:p>
        </p:txBody>
      </p:sp>
      <p:graphicFrame>
        <p:nvGraphicFramePr>
          <p:cNvPr id="4" name="">
            <a:extLst xmlns:a="http://schemas.openxmlformats.org/drawingml/2006/main">
              <a:ext uri="{FF2B5EF4-FFF2-40B4-BE49-F238E27FC236}">
                <a16:creationId xmlns:a16="http://schemas.microsoft.com/office/drawing/2014/main" id="{041EBA8F-2691-425A-B51B-8E03899190C6}"/>
              </a:ext>
            </a:extLst>
          </p:cNvPr>
          <p:cNvGraphicFramePr/>
          <p:nvPr/>
        </p:nvGraphicFramePr>
        <p:xfrm>
          <a:off xmlns:a="http://schemas.openxmlformats.org/drawingml/2006/main" x="714375" y="1762125"/>
          <a:ext xmlns:a="http://schemas.openxmlformats.org/drawingml/2006/main" cx="10763250" cy="3952875"/>
        </p:xfrm>
        <a:graphic xmlns:a="http://schemas.openxmlformats.org/drawingml/2006/main">
          <a:graphicData uri="http://schemas.openxmlformats.org/drawingml/2006/table">
            <a:tbl>
              <a:tblPr firstRow="1" bandRow="0"/>
              <a:tblGrid>
                <a:gridCol w="2476500"/>
                <a:gridCol w="8286750"/>
              </a:tblGrid>
              <a:tr h="790575">
                <a:tc>
                  <a:txBody>
                    <a:bodyPr wrap="square" lIns="95250" tIns="95250" rIns="95250" bIns="95250">
                      <a:noAutofit/>
                    </a:bodyPr>
                    <a:lstStyle/>
                    <a:p>
                      <a:r>
                        <a:rPr sz="1950" b="1">
                          <a:solidFill>
                            <a:srgbClr val="15283B"/>
                          </a:solidFill>
                          <a:latin typeface="Helvetica Neue"/>
                          <a:ea typeface="Helvetica Neue"/>
                          <a:cs typeface="Helvetica Neue"/>
                        </a:rPr>
                        <a:t>Measure</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950" b="1">
                          <a:solidFill>
                            <a:srgbClr val="15283B"/>
                          </a:solidFill>
                          <a:latin typeface="Helvetica Neue"/>
                          <a:ea typeface="Helvetica Neue"/>
                          <a:cs typeface="Helvetica Neue"/>
                        </a:rPr>
                        <a:t>Meaning</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Recorded hour</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A supplied row means binding occurred during at least part of that hour.</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No recorded row</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Complete coverage is confirmed. Other eligible hours are nonbinding.</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Shadow value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The value of easing a limit a little. The supplied value averages the whole hour.</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Missing shadow</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An absent record stays missing. It is different from a measured zero.</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848B30D-782C-4BA0-91BA-BBBB237D76D7}"/>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A row is not an overload, a separate event or a full hour bound. Shadow units, market, clock and exact aggregation implementation remain provisional.</a:t>
            </a:r>
          </a:p>
        </p:txBody>
      </p:sp>
    </p:spTree>
    <p:extLst>
      <p:ext uri="{BB962C8B-B14F-4D97-AF65-F5344CB8AC3E}">
        <p14:creationId xmlns:p14="http://schemas.microsoft.com/office/powerpoint/2010/main" val="2694382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2759D0-E9B2-4F96-BE7A-B08574FB67CB}"/>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Prices and trade payments</a:t>
            </a:r>
          </a:p>
        </p:txBody>
      </p:sp>
      <p:sp>
        <p:nvSpPr>
          <p:cNvPr id="2" name="">
            <a:extLst xmlns:a="http://schemas.openxmlformats.org/drawingml/2006/main">
              <a:ext uri="{FF2B5EF4-FFF2-40B4-BE49-F238E27FC236}">
                <a16:creationId xmlns:a16="http://schemas.microsoft.com/office/drawing/2014/main" id="{BD0F447D-196E-4C4F-BEAA-CEFBFC608911}"/>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Every price difference subtracts the second named place from the first.</a:t>
            </a:r>
          </a:p>
        </p:txBody>
      </p:sp>
      <p:sp>
        <p:nvSpPr>
          <p:cNvPr id="3" name="">
            <a:extLst xmlns:a="http://schemas.openxmlformats.org/drawingml/2006/main">
              <a:ext uri="{FF2B5EF4-FFF2-40B4-BE49-F238E27FC236}">
                <a16:creationId xmlns:a16="http://schemas.microsoft.com/office/drawing/2014/main" id="{58B9FF7C-940D-48A6-B8CD-EE2B4405B4F9}"/>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03</a:t>
            </a:r>
          </a:p>
        </p:txBody>
      </p:sp>
      <p:graphicFrame>
        <p:nvGraphicFramePr>
          <p:cNvPr id="4" name="">
            <a:extLst xmlns:a="http://schemas.openxmlformats.org/drawingml/2006/main">
              <a:ext uri="{FF2B5EF4-FFF2-40B4-BE49-F238E27FC236}">
                <a16:creationId xmlns:a16="http://schemas.microsoft.com/office/drawing/2014/main" id="{63E3B7E4-EA38-4548-8BB7-A7349DDDD98C}"/>
              </a:ext>
            </a:extLst>
          </p:cNvPr>
          <p:cNvGraphicFramePr/>
          <p:nvPr/>
        </p:nvGraphicFramePr>
        <p:xfrm>
          <a:off xmlns:a="http://schemas.openxmlformats.org/drawingml/2006/main" x="714375" y="1809750"/>
          <a:ext xmlns:a="http://schemas.openxmlformats.org/drawingml/2006/main" cx="10763250" cy="3000375"/>
        </p:xfrm>
        <a:graphic xmlns:a="http://schemas.openxmlformats.org/drawingml/2006/main">
          <a:graphicData uri="http://schemas.openxmlformats.org/drawingml/2006/table">
            <a:tbl>
              <a:tblPr firstRow="1" bandRow="0"/>
              <a:tblGrid>
                <a:gridCol w="2476500"/>
                <a:gridCol w="8286750"/>
              </a:tblGrid>
              <a:tr h="750094">
                <a:tc>
                  <a:txBody>
                    <a:bodyPr wrap="square" lIns="95250" tIns="95250" rIns="95250" bIns="95250">
                      <a:noAutofit/>
                    </a:bodyPr>
                    <a:lstStyle/>
                    <a:p>
                      <a:r>
                        <a:rPr sz="2025" b="1">
                          <a:solidFill>
                            <a:srgbClr val="15283B"/>
                          </a:solidFill>
                          <a:latin typeface="Helvetica Neue"/>
                          <a:ea typeface="Helvetica Neue"/>
                          <a:cs typeface="Helvetica Neue"/>
                        </a:rPr>
                        <a:t>Term</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2025" b="1">
                          <a:solidFill>
                            <a:srgbClr val="15283B"/>
                          </a:solidFill>
                          <a:latin typeface="Helvetica Neue"/>
                          <a:ea typeface="Helvetica Neue"/>
                          <a:cs typeface="Helvetica Neue"/>
                        </a:rPr>
                        <a:t>Meaning</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50094">
                <a:tc>
                  <a:txBody>
                    <a:bodyPr wrap="square" lIns="95250" tIns="95250" rIns="95250" bIns="95250">
                      <a:noAutofit/>
                    </a:bodyPr>
                    <a:lstStyle/>
                    <a:p>
                      <a:r>
                        <a:rPr sz="2025" b="0">
                          <a:solidFill>
                            <a:srgbClr val="15283B"/>
                          </a:solidFill>
                          <a:latin typeface="Helvetica Neue"/>
                          <a:ea typeface="Helvetica Neue"/>
                          <a:cs typeface="Helvetica Neue"/>
                        </a:rPr>
                        <a:t>Day-ahead and real-time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DA is set for the next day. RT is formed during delivery.</a:t>
                      </a:r>
                    </a:p>
                  </a:txBody>
                  <a:tcPr marL="91440" marR="91440" marT="45720" marB="45720">
                    <a:lnR w="5715">
                      <a:solidFill>
                        <a:srgbClr val="DCE2E7"/>
                      </a:solidFill>
                      <a:prstDash val="solid"/>
                    </a:lnR>
                    <a:lnB w="5715">
                      <a:solidFill>
                        <a:srgbClr val="DCE2E7"/>
                      </a:solidFill>
                      <a:prstDash val="solid"/>
                    </a:lnB>
                    <a:solidFill>
                      <a:srgbClr val="FFFFFF"/>
                    </a:solidFill>
                  </a:tcPr>
                </a:tc>
              </a:tr>
              <a:tr h="750094">
                <a:tc>
                  <a:txBody>
                    <a:bodyPr wrap="square" lIns="95250" tIns="95250" rIns="95250" bIns="95250">
                      <a:noAutofit/>
                    </a:bodyPr>
                    <a:lstStyle/>
                    <a:p>
                      <a:r>
                        <a:rPr sz="2025" b="0">
                          <a:solidFill>
                            <a:srgbClr val="15283B"/>
                          </a:solidFill>
                          <a:latin typeface="Helvetica Neue"/>
                          <a:ea typeface="Helvetica Neue"/>
                          <a:cs typeface="Helvetica Neue"/>
                        </a:rPr>
                        <a:t>Total and congestion prices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Total includes energy, congestion and losses. Congestion is the part associated with delivery limits.</a:t>
                      </a:r>
                    </a:p>
                  </a:txBody>
                  <a:tcPr marL="91440" marR="91440" marT="45720" marB="45720">
                    <a:lnR w="5715">
                      <a:solidFill>
                        <a:srgbClr val="DCE2E7"/>
                      </a:solidFill>
                      <a:prstDash val="solid"/>
                    </a:lnR>
                    <a:lnB w="5715">
                      <a:solidFill>
                        <a:srgbClr val="DCE2E7"/>
                      </a:solidFill>
                      <a:prstDash val="solid"/>
                    </a:lnB>
                    <a:solidFill>
                      <a:srgbClr val="FFFFFF"/>
                    </a:solidFill>
                  </a:tcPr>
                </a:tc>
              </a:tr>
              <a:tr h="750094">
                <a:tc>
                  <a:txBody>
                    <a:bodyPr wrap="square" lIns="95250" tIns="95250" rIns="95250" bIns="95250">
                      <a:noAutofit/>
                    </a:bodyPr>
                    <a:lstStyle/>
                    <a:p>
                      <a:r>
                        <a:rPr sz="2025" b="0">
                          <a:solidFill>
                            <a:srgbClr val="15283B"/>
                          </a:solidFill>
                          <a:latin typeface="Helvetica Neue"/>
                          <a:ea typeface="Helvetica Neue"/>
                          <a:cs typeface="Helvetica Neue"/>
                        </a:rPr>
                        <a:t>Price difference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First named place minus second. Positive means the first costs more; negative means it is cheaper.</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B9CED4B-8ACC-4A8A-A121-4BD9895A8C04}"/>
              </a:ext>
            </a:extLst>
          </p:cNvPr>
          <p:cNvSpPr>
            <a:spLocks xmlns:a="http://schemas.openxmlformats.org/drawingml/2006/main" noGrp="1"/>
          </p:cNvSpPr>
          <p:nvPr/>
        </p:nvSpPr>
        <p:spPr>
          <a:xfrm xmlns:a="http://schemas.openxmlformats.org/drawingml/2006/main">
            <a:off x="714375" y="5095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The payment depends on the specified price difference, hours and quantity.</a:t>
            </a:r>
          </a:p>
        </p:txBody>
      </p:sp>
      <p:sp>
        <p:nvSpPr>
          <p:cNvPr id="6" name="">
            <a:extLst xmlns:a="http://schemas.openxmlformats.org/drawingml/2006/main">
              <a:ext uri="{FF2B5EF4-FFF2-40B4-BE49-F238E27FC236}">
                <a16:creationId xmlns:a16="http://schemas.microsoft.com/office/drawing/2014/main" id="{32890CAB-2428-4256-A505-1724C58F276E}"/>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A/C use specified DA-settled indices. B compares an RT difference with the earlier DA difference. Historical shadows and price gaps are not trade profits.</a:t>
            </a:r>
          </a:p>
        </p:txBody>
      </p:sp>
    </p:spTree>
    <p:extLst>
      <p:ext uri="{BB962C8B-B14F-4D97-AF65-F5344CB8AC3E}">
        <p14:creationId xmlns:p14="http://schemas.microsoft.com/office/powerpoint/2010/main" val="9287506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E3F20D-5BA4-47D0-BF30-8AF4A4C99C9C}"/>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Source checks and cleaning</a:t>
            </a:r>
          </a:p>
        </p:txBody>
      </p:sp>
      <p:sp>
        <p:nvSpPr>
          <p:cNvPr id="2" name="">
            <a:extLst xmlns:a="http://schemas.openxmlformats.org/drawingml/2006/main">
              <a:ext uri="{FF2B5EF4-FFF2-40B4-BE49-F238E27FC236}">
                <a16:creationId xmlns:a16="http://schemas.microsoft.com/office/drawing/2014/main" id="{69443842-F9BA-4882-81EA-04F9E328AC28}"/>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Six supplied time-series files. No measured numeric values changed.</a:t>
            </a:r>
          </a:p>
        </p:txBody>
      </p:sp>
      <p:sp>
        <p:nvSpPr>
          <p:cNvPr id="3" name="">
            <a:extLst xmlns:a="http://schemas.openxmlformats.org/drawingml/2006/main">
              <a:ext uri="{FF2B5EF4-FFF2-40B4-BE49-F238E27FC236}">
                <a16:creationId xmlns:a16="http://schemas.microsoft.com/office/drawing/2014/main" id="{E96084B9-FC4B-4D7E-9295-6A3385A571B1}"/>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04</a:t>
            </a:r>
          </a:p>
        </p:txBody>
      </p:sp>
      <p:graphicFrame>
        <p:nvGraphicFramePr>
          <p:cNvPr id="4" name="">
            <a:extLst xmlns:a="http://schemas.openxmlformats.org/drawingml/2006/main">
              <a:ext uri="{FF2B5EF4-FFF2-40B4-BE49-F238E27FC236}">
                <a16:creationId xmlns:a16="http://schemas.microsoft.com/office/drawing/2014/main" id="{A1BFB5B1-F000-4606-9C62-ABFF94A02328}"/>
              </a:ext>
            </a:extLst>
          </p:cNvPr>
          <p:cNvGraphicFramePr/>
          <p:nvPr/>
        </p:nvGraphicFramePr>
        <p:xfrm>
          <a:off xmlns:a="http://schemas.openxmlformats.org/drawingml/2006/main" x="714375" y="1809750"/>
          <a:ext xmlns:a="http://schemas.openxmlformats.org/drawingml/2006/main" cx="10763250" cy="2905125"/>
        </p:xfrm>
        <a:graphic xmlns:a="http://schemas.openxmlformats.org/drawingml/2006/main">
          <a:graphicData uri="http://schemas.openxmlformats.org/drawingml/2006/table">
            <a:tbl>
              <a:tblPr firstRow="1" bandRow="0"/>
              <a:tblGrid>
                <a:gridCol w="2476500"/>
                <a:gridCol w="8286750"/>
              </a:tblGrid>
              <a:tr h="726281">
                <a:tc>
                  <a:txBody>
                    <a:bodyPr wrap="square" lIns="95250" tIns="95250" rIns="95250" bIns="95250">
                      <a:noAutofit/>
                    </a:bodyPr>
                    <a:lstStyle/>
                    <a:p>
                      <a:r>
                        <a:rPr sz="2025" b="1">
                          <a:solidFill>
                            <a:srgbClr val="15283B"/>
                          </a:solidFill>
                          <a:latin typeface="Helvetica Neue"/>
                          <a:ea typeface="Helvetica Neue"/>
                          <a:cs typeface="Helvetica Neue"/>
                        </a:rPr>
                        <a:t>Check</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2025" b="1">
                          <a:solidFill>
                            <a:srgbClr val="15283B"/>
                          </a:solidFill>
                          <a:latin typeface="Helvetica Neue"/>
                          <a:ea typeface="Helvetica Neue"/>
                          <a:cs typeface="Helvetica Neue"/>
                        </a:rPr>
                        <a:t>What we did</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26281">
                <a:tc>
                  <a:txBody>
                    <a:bodyPr wrap="square" lIns="95250" tIns="95250" rIns="95250" bIns="95250">
                      <a:noAutofit/>
                    </a:bodyPr>
                    <a:lstStyle/>
                    <a:p>
                      <a:r>
                        <a:rPr sz="2025" b="0">
                          <a:solidFill>
                            <a:srgbClr val="15283B"/>
                          </a:solidFill>
                          <a:latin typeface="Helvetica Neue"/>
                          <a:ea typeface="Helvetica Neue"/>
                          <a:cs typeface="Helvetica Neue"/>
                        </a:rPr>
                        <a:t>Keys and identifiers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Checked unique, nonmissing keys. Kept node IDs as text.</a:t>
                      </a:r>
                    </a:p>
                  </a:txBody>
                  <a:tcPr marL="91440" marR="91440" marT="45720" marB="45720">
                    <a:lnR w="5715">
                      <a:solidFill>
                        <a:srgbClr val="DCE2E7"/>
                      </a:solidFill>
                      <a:prstDash val="solid"/>
                    </a:lnR>
                    <a:lnB w="5715">
                      <a:solidFill>
                        <a:srgbClr val="DCE2E7"/>
                      </a:solidFill>
                      <a:prstDash val="solid"/>
                    </a:lnB>
                    <a:solidFill>
                      <a:srgbClr val="FFFFFF"/>
                    </a:solidFill>
                  </a:tcPr>
                </a:tc>
              </a:tr>
              <a:tr h="726281">
                <a:tc>
                  <a:txBody>
                    <a:bodyPr wrap="square" lIns="95250" tIns="95250" rIns="95250" bIns="95250">
                      <a:noAutofit/>
                    </a:bodyPr>
                    <a:lstStyle/>
                    <a:p>
                      <a:r>
                        <a:rPr sz="2025" b="0">
                          <a:solidFill>
                            <a:srgbClr val="15283B"/>
                          </a:solidFill>
                          <a:latin typeface="Helvetica Neue"/>
                          <a:ea typeface="Helvetica Neue"/>
                          <a:cs typeface="Helvetica Neue"/>
                        </a:rPr>
                        <a:t>Text and dates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Checked spaces, parsed dates and sorted by key. No text cells needed whitespace correction.</a:t>
                      </a:r>
                    </a:p>
                  </a:txBody>
                  <a:tcPr marL="91440" marR="91440" marT="45720" marB="45720">
                    <a:lnR w="5715">
                      <a:solidFill>
                        <a:srgbClr val="DCE2E7"/>
                      </a:solidFill>
                      <a:prstDash val="solid"/>
                    </a:lnR>
                    <a:lnB w="5715">
                      <a:solidFill>
                        <a:srgbClr val="DCE2E7"/>
                      </a:solidFill>
                      <a:prstDash val="solid"/>
                    </a:lnB>
                    <a:solidFill>
                      <a:srgbClr val="FFFFFF"/>
                    </a:solidFill>
                  </a:tcPr>
                </a:tc>
              </a:tr>
              <a:tr h="726281">
                <a:tc>
                  <a:txBody>
                    <a:bodyPr wrap="square" lIns="95250" tIns="95250" rIns="95250" bIns="95250">
                      <a:noAutofit/>
                    </a:bodyPr>
                    <a:lstStyle/>
                    <a:p>
                      <a:r>
                        <a:rPr sz="2025" b="0">
                          <a:solidFill>
                            <a:srgbClr val="15283B"/>
                          </a:solidFill>
                          <a:latin typeface="Helvetica Neue"/>
                          <a:ea typeface="Helvetica Neue"/>
                          <a:cs typeface="Helvetica Neue"/>
                        </a:rPr>
                        <a:t>Gaps and extremes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Kept missing values, negative prices, negative renewable readings and spikes. No filling or clipping.</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DE55BE7-4C3B-440C-81A8-77E8D6C8C195}"/>
              </a:ext>
            </a:extLst>
          </p:cNvPr>
          <p:cNvSpPr>
            <a:spLocks xmlns:a="http://schemas.openxmlformats.org/drawingml/2006/main" noGrp="1"/>
          </p:cNvSpPr>
          <p:nvPr/>
        </p:nvSpPr>
        <p:spPr>
          <a:xfrm xmlns:a="http://schemas.openxmlformats.org/drawingml/2006/main">
            <a:off x="714375" y="5095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All 2,089,376 rows survived cleaning. We kept negative values, spikes and missing readings.</a:t>
            </a:r>
          </a:p>
        </p:txBody>
      </p:sp>
      <p:sp>
        <p:nvSpPr>
          <p:cNvPr id="6" name="">
            <a:extLst xmlns:a="http://schemas.openxmlformats.org/drawingml/2006/main">
              <a:ext uri="{FF2B5EF4-FFF2-40B4-BE49-F238E27FC236}">
                <a16:creationId xmlns:a16="http://schemas.microsoft.com/office/drawing/2014/main" id="{37A6B6E6-E165-4AF3-9BA0-6CBE742B4630}"/>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Fresh raw/processed comparison: zero rows removed, zero measured numeric changes, zero duplicate keys and zero null key cells.</a:t>
            </a:r>
          </a:p>
        </p:txBody>
      </p:sp>
    </p:spTree>
    <p:extLst>
      <p:ext uri="{BB962C8B-B14F-4D97-AF65-F5344CB8AC3E}">
        <p14:creationId xmlns:p14="http://schemas.microsoft.com/office/powerpoint/2010/main" val="11448580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1A459C-0D2B-4349-B457-0AA1382CA7A1}"/>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Hour and location alignment</a:t>
            </a:r>
          </a:p>
        </p:txBody>
      </p:sp>
      <p:sp>
        <p:nvSpPr>
          <p:cNvPr id="2" name="">
            <a:extLst xmlns:a="http://schemas.openxmlformats.org/drawingml/2006/main">
              <a:ext uri="{FF2B5EF4-FFF2-40B4-BE49-F238E27FC236}">
                <a16:creationId xmlns:a16="http://schemas.microsoft.com/office/drawing/2014/main" id="{EC4D6A21-6D4E-4D1D-9B85-EAF8A818B67F}"/>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Cleaning a field and aligning its time are separate steps.</a:t>
            </a:r>
          </a:p>
        </p:txBody>
      </p:sp>
      <p:sp>
        <p:nvSpPr>
          <p:cNvPr id="3" name="">
            <a:extLst xmlns:a="http://schemas.openxmlformats.org/drawingml/2006/main">
              <a:ext uri="{FF2B5EF4-FFF2-40B4-BE49-F238E27FC236}">
                <a16:creationId xmlns:a16="http://schemas.microsoft.com/office/drawing/2014/main" id="{2521FBEA-467E-40DE-A9C9-7513FD4B337C}"/>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05</a:t>
            </a:r>
          </a:p>
        </p:txBody>
      </p:sp>
      <p:graphicFrame>
        <p:nvGraphicFramePr>
          <p:cNvPr id="4" name="">
            <a:extLst xmlns:a="http://schemas.openxmlformats.org/drawingml/2006/main">
              <a:ext uri="{FF2B5EF4-FFF2-40B4-BE49-F238E27FC236}">
                <a16:creationId xmlns:a16="http://schemas.microsoft.com/office/drawing/2014/main" id="{9943B50E-72F3-4772-80B8-AAC61B517C10}"/>
              </a:ext>
            </a:extLst>
          </p:cNvPr>
          <p:cNvGraphicFramePr/>
          <p:nvPr/>
        </p:nvGraphicFramePr>
        <p:xfrm>
          <a:off xmlns:a="http://schemas.openxmlformats.org/drawingml/2006/main" x="714375" y="1762125"/>
          <a:ext xmlns:a="http://schemas.openxmlformats.org/drawingml/2006/main" cx="10763250" cy="3952875"/>
        </p:xfrm>
        <a:graphic xmlns:a="http://schemas.openxmlformats.org/drawingml/2006/main">
          <a:graphicData uri="http://schemas.openxmlformats.org/drawingml/2006/table">
            <a:tbl>
              <a:tblPr firstRow="1" bandRow="0"/>
              <a:tblGrid>
                <a:gridCol w="2476500"/>
                <a:gridCol w="8286750"/>
              </a:tblGrid>
              <a:tr h="790575">
                <a:tc>
                  <a:txBody>
                    <a:bodyPr wrap="square" lIns="95250" tIns="95250" rIns="95250" bIns="95250">
                      <a:noAutofit/>
                    </a:bodyPr>
                    <a:lstStyle/>
                    <a:p>
                      <a:r>
                        <a:rPr sz="1950" b="1">
                          <a:solidFill>
                            <a:srgbClr val="15283B"/>
                          </a:solidFill>
                          <a:latin typeface="Helvetica Neue"/>
                          <a:ea typeface="Helvetica Neue"/>
                          <a:cs typeface="Helvetica Neue"/>
                        </a:rPr>
                        <a:t>Input / check</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950" b="1">
                          <a:solidFill>
                            <a:srgbClr val="15283B"/>
                          </a:solidFill>
                          <a:latin typeface="Helvetica Neue"/>
                          <a:ea typeface="Helvetica Neue"/>
                          <a:cs typeface="Helvetica Neue"/>
                        </a:rPr>
                        <a:t>Alignment rule</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Load and supplied prices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Hour ending 1 becomes 00:00. Hour ending 24 becomes 23:00.</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Fuel, constraints, solar and wind</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Labels already use 0–23. These hours are not shifted.</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Clock changes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Exclude five documented dates from source-label comparisons. Public prices retain UTC and node keys.</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Join and coverage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Join hour and entity. The panel keeps all 10,732 constraint records. Missing readings and absent shadows stay missing.</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056AA88-E634-4B32-A69B-8B625AF5E81C}"/>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After clock-date exclusions: 23,256 eligible labels per gate and 10,690 binding records. Source clock and market authentication remain provisional.</a:t>
            </a:r>
          </a:p>
        </p:txBody>
      </p:sp>
    </p:spTree>
    <p:extLst>
      <p:ext uri="{BB962C8B-B14F-4D97-AF65-F5344CB8AC3E}">
        <p14:creationId xmlns:p14="http://schemas.microsoft.com/office/powerpoint/2010/main" val="8351356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FB2FCE-D71A-4DC4-82C9-ADC6A215D690}"/>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Hot days have higher local demand</a:t>
            </a:r>
          </a:p>
        </p:txBody>
      </p:sp>
      <p:sp>
        <p:nvSpPr>
          <p:cNvPr id="2" name="">
            <a:extLst xmlns:a="http://schemas.openxmlformats.org/drawingml/2006/main">
              <a:ext uri="{FF2B5EF4-FFF2-40B4-BE49-F238E27FC236}">
                <a16:creationId xmlns:a16="http://schemas.microsoft.com/office/drawing/2014/main" id="{0DFEECF1-0166-4B9F-A4A5-C64F9CE81E82}"/>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Actual daily blocks, compared with milder days in the same year-month and weekday/weekend class.</a:t>
            </a:r>
          </a:p>
        </p:txBody>
      </p:sp>
      <p:sp>
        <p:nvSpPr>
          <p:cNvPr id="3" name="">
            <a:extLst xmlns:a="http://schemas.openxmlformats.org/drawingml/2006/main">
              <a:ext uri="{FF2B5EF4-FFF2-40B4-BE49-F238E27FC236}">
                <a16:creationId xmlns:a16="http://schemas.microsoft.com/office/drawing/2014/main" id="{4DFEE9EC-4EDA-4D80-A266-614A54D93C33}"/>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06</a:t>
            </a:r>
          </a:p>
        </p:txBody>
      </p:sp>
      <p:graphicFrame>
        <p:nvGraphicFramePr>
          <p:cNvPr id="4" name="Chart">
            <a:extLst xmlns:a="http://schemas.openxmlformats.org/drawingml/2006/main">
              <a:ext uri="{FF2B5EF4-FFF2-40B4-BE49-F238E27FC236}">
                <a16:creationId xmlns:a16="http://schemas.microsoft.com/office/drawing/2014/main" id="{146006FD-E7FD-4391-A98F-7314317DA6E6}"/>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8e2c2a42ca574a35"/>
          </a:graphicData>
        </a:graphic>
      </p:graphicFrame>
      <p:sp>
        <p:nvSpPr>
          <p:cNvPr id="5" name="">
            <a:extLst xmlns:a="http://schemas.openxmlformats.org/drawingml/2006/main">
              <a:ext uri="{FF2B5EF4-FFF2-40B4-BE49-F238E27FC236}">
                <a16:creationId xmlns:a16="http://schemas.microsoft.com/office/drawing/2014/main" id="{4D902EDD-4BAA-49CF-B349-09BDBAC7B954}"/>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Demand is higher by 0.98 GW near A, 1.78 GW near B and 2.27 GW near C. These measured comparisons show the pathway, without becoming forecast adjustments.</a:t>
            </a:r>
          </a:p>
        </p:txBody>
      </p:sp>
      <p:sp>
        <p:nvSpPr>
          <p:cNvPr id="6" name="">
            <a:extLst xmlns:a="http://schemas.openxmlformats.org/drawingml/2006/main">
              <a:ext uri="{FF2B5EF4-FFF2-40B4-BE49-F238E27FC236}">
                <a16:creationId xmlns:a16="http://schemas.microsoft.com/office/drawing/2014/main" id="{43D9EE6B-26D7-4A44-8E7C-77B4CCE3F2A8}"/>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Hot/mild block means: at least 25°C versus 18–23°C. Supported hot days: A 72/172, B 93/254, C 32/34. Actuals, 2024–August 2026.</a:t>
            </a:r>
          </a:p>
        </p:txBody>
      </p:sp>
    </p:spTree>
    <p:extLst>
      <p:ext uri="{BB962C8B-B14F-4D97-AF65-F5344CB8AC3E}">
        <p14:creationId xmlns:p14="http://schemas.microsoft.com/office/powerpoint/2010/main" val="8290430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2D33CA-B231-4FFA-9C9E-C984460A3CC1}"/>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Weather adds information before demand enters</a:t>
            </a:r>
          </a:p>
        </p:txBody>
      </p:sp>
      <p:sp>
        <p:nvSpPr>
          <p:cNvPr id="2" name="">
            <a:extLst xmlns:a="http://schemas.openxmlformats.org/drawingml/2006/main">
              <a:ext uri="{FF2B5EF4-FFF2-40B4-BE49-F238E27FC236}">
                <a16:creationId xmlns:a16="http://schemas.microsoft.com/office/drawing/2014/main" id="{64E7084B-A354-4C7A-AF59-DFDA571C3247}"/>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January–August 2026. Each model uses the same dates and delayed price history.</a:t>
            </a:r>
          </a:p>
        </p:txBody>
      </p:sp>
      <p:sp>
        <p:nvSpPr>
          <p:cNvPr id="3" name="">
            <a:extLst xmlns:a="http://schemas.openxmlformats.org/drawingml/2006/main">
              <a:ext uri="{FF2B5EF4-FFF2-40B4-BE49-F238E27FC236}">
                <a16:creationId xmlns:a16="http://schemas.microsoft.com/office/drawing/2014/main" id="{FAD0680A-7FF2-408B-AA87-10D10C4D44DB}"/>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07</a:t>
            </a:r>
          </a:p>
        </p:txBody>
      </p:sp>
      <p:graphicFrame>
        <p:nvGraphicFramePr>
          <p:cNvPr id="4" name="Chart">
            <a:extLst xmlns:a="http://schemas.openxmlformats.org/drawingml/2006/main">
              <a:ext uri="{FF2B5EF4-FFF2-40B4-BE49-F238E27FC236}">
                <a16:creationId xmlns:a16="http://schemas.microsoft.com/office/drawing/2014/main" id="{6A7FAABB-0283-4C4E-BCDF-CCD3C58A712C}"/>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841b642d8caa4ea4"/>
          </a:graphicData>
        </a:graphic>
      </p:graphicFrame>
      <p:sp>
        <p:nvSpPr>
          <p:cNvPr id="5" name="">
            <a:extLst xmlns:a="http://schemas.openxmlformats.org/drawingml/2006/main">
              <a:ext uri="{FF2B5EF4-FFF2-40B4-BE49-F238E27FC236}">
                <a16:creationId xmlns:a16="http://schemas.microsoft.com/office/drawing/2014/main" id="{D446C7B0-08D5-4717-9B18-6857C3985DC4}"/>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PJM demand forecasts already use weather. For C, adding weather cuts error by 21% before demand enters and 3% after demand enters.</a:t>
            </a:r>
          </a:p>
        </p:txBody>
      </p:sp>
      <p:sp>
        <p:nvSpPr>
          <p:cNvPr id="6" name="">
            <a:extLst xmlns:a="http://schemas.openxmlformats.org/drawingml/2006/main">
              <a:ext uri="{FF2B5EF4-FFF2-40B4-BE49-F238E27FC236}">
                <a16:creationId xmlns:a16="http://schemas.microsoft.com/office/drawing/2014/main" id="{B2C37F52-4079-4C29-A1FC-19BD80595ADA}"/>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Lower RMSE is better and gives large misses extra weight. A/B 171 dates, C 241. Previously explored periods. C fails the July–August comparison.</a:t>
            </a:r>
          </a:p>
        </p:txBody>
      </p:sp>
    </p:spTree>
    <p:extLst>
      <p:ext uri="{BB962C8B-B14F-4D97-AF65-F5344CB8AC3E}">
        <p14:creationId xmlns:p14="http://schemas.microsoft.com/office/powerpoint/2010/main" val="6842215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66DED2-780E-40B7-A814-DA02EED0FD91}"/>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binding is most common in evening labels</a:t>
            </a:r>
          </a:p>
        </p:txBody>
      </p:sp>
      <p:sp>
        <p:nvSpPr>
          <p:cNvPr id="2" name="">
            <a:extLst xmlns:a="http://schemas.openxmlformats.org/drawingml/2006/main">
              <a:ext uri="{FF2B5EF4-FFF2-40B4-BE49-F238E27FC236}">
                <a16:creationId xmlns:a16="http://schemas.microsoft.com/office/drawing/2014/main" id="{7C90A5FA-4A7C-4BA9-A766-9E98A586678F}"/>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January–August in each year. Share of eligible hours containing binding.</a:t>
            </a:r>
          </a:p>
        </p:txBody>
      </p:sp>
      <p:sp>
        <p:nvSpPr>
          <p:cNvPr id="3" name="">
            <a:extLst xmlns:a="http://schemas.openxmlformats.org/drawingml/2006/main">
              <a:ext uri="{FF2B5EF4-FFF2-40B4-BE49-F238E27FC236}">
                <a16:creationId xmlns:a16="http://schemas.microsoft.com/office/drawing/2014/main" id="{32E3AA77-1122-4CE8-92C4-789313B526C9}"/>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08</a:t>
            </a:r>
          </a:p>
        </p:txBody>
      </p:sp>
      <p:graphicFrame>
        <p:nvGraphicFramePr>
          <p:cNvPr id="4" name="Chart">
            <a:extLst xmlns:a="http://schemas.openxmlformats.org/drawingml/2006/main">
              <a:ext uri="{FF2B5EF4-FFF2-40B4-BE49-F238E27FC236}">
                <a16:creationId xmlns:a16="http://schemas.microsoft.com/office/drawing/2014/main" id="{BA32D1B3-0449-47D7-BB16-7E9F94DEEABE}"/>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1bd887a907d54ed5"/>
          </a:graphicData>
        </a:graphic>
      </p:graphicFrame>
      <p:sp>
        <p:nvSpPr>
          <p:cNvPr id="5" name="">
            <a:extLst xmlns:a="http://schemas.openxmlformats.org/drawingml/2006/main">
              <a:ext uri="{FF2B5EF4-FFF2-40B4-BE49-F238E27FC236}">
                <a16:creationId xmlns:a16="http://schemas.microsoft.com/office/drawing/2014/main" id="{77614328-C00A-4F98-96FD-8C45ED1A2E3C}"/>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Label 20 reaches 57.4% in 2026. Summer is more active than winter, but calendar patterns alone do not identify the cause.</a:t>
            </a:r>
          </a:p>
        </p:txBody>
      </p:sp>
      <p:sp>
        <p:nvSpPr>
          <p:cNvPr id="6" name="">
            <a:extLst xmlns:a="http://schemas.openxmlformats.org/drawingml/2006/main">
              <a:ext uri="{FF2B5EF4-FFF2-40B4-BE49-F238E27FC236}">
                <a16:creationId xmlns:a16="http://schemas.microsoft.com/office/drawing/2014/main" id="{5EC20C9C-AEB9-4C7D-A245-2CC8B239AD93}"/>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2026: Sunday 46.6%, Monday 41.1%; summer 56.5%, winter 15.5%. Supplied source clock labels remain provisional.</a:t>
            </a:r>
          </a:p>
        </p:txBody>
      </p:sp>
    </p:spTree>
    <p:extLst>
      <p:ext uri="{BB962C8B-B14F-4D97-AF65-F5344CB8AC3E}">
        <p14:creationId xmlns:p14="http://schemas.microsoft.com/office/powerpoint/2010/main" val="4956851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1581CD-24F7-4A5D-A125-3B6F5F386F3B}"/>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wider demand rises in binding hours</a:t>
            </a:r>
          </a:p>
        </p:txBody>
      </p:sp>
      <p:sp>
        <p:nvSpPr>
          <p:cNvPr id="2" name="">
            <a:extLst xmlns:a="http://schemas.openxmlformats.org/drawingml/2006/main">
              <a:ext uri="{FF2B5EF4-FFF2-40B4-BE49-F238E27FC236}">
                <a16:creationId xmlns:a16="http://schemas.microsoft.com/office/drawing/2014/main" id="{BDA8A8F7-A9D7-4C38-A176-61F22B6D5C09}"/>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Binding hours compared with nonbinding hours in similar calendar conditions.</a:t>
            </a:r>
          </a:p>
        </p:txBody>
      </p:sp>
      <p:sp>
        <p:nvSpPr>
          <p:cNvPr id="3" name="">
            <a:extLst xmlns:a="http://schemas.openxmlformats.org/drawingml/2006/main">
              <a:ext uri="{FF2B5EF4-FFF2-40B4-BE49-F238E27FC236}">
                <a16:creationId xmlns:a16="http://schemas.microsoft.com/office/drawing/2014/main" id="{62EF85F0-F10D-4FA8-A817-A5A8F3E2C9C4}"/>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09</a:t>
            </a:r>
          </a:p>
        </p:txBody>
      </p:sp>
      <p:graphicFrame>
        <p:nvGraphicFramePr>
          <p:cNvPr id="4" name="Chart">
            <a:extLst xmlns:a="http://schemas.openxmlformats.org/drawingml/2006/main">
              <a:ext uri="{FF2B5EF4-FFF2-40B4-BE49-F238E27FC236}">
                <a16:creationId xmlns:a16="http://schemas.microsoft.com/office/drawing/2014/main" id="{AB44F677-6D37-4161-BC32-00519AA8409F}"/>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2f0a88835b0e459a"/>
          </a:graphicData>
        </a:graphic>
      </p:graphicFrame>
      <p:sp>
        <p:nvSpPr>
          <p:cNvPr id="5" name="">
            <a:extLst xmlns:a="http://schemas.openxmlformats.org/drawingml/2006/main">
              <a:ext uri="{FF2B5EF4-FFF2-40B4-BE49-F238E27FC236}">
                <a16:creationId xmlns:a16="http://schemas.microsoft.com/office/drawing/2014/main" id="{93E7D49C-4173-4AB9-B9D3-DC0CD2AED870}"/>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PJM demand is 2.52 GW higher. The local BC difference is only 0.11 GW. Wider demand can increase the need for delivery into the area.</a:t>
            </a:r>
          </a:p>
        </p:txBody>
      </p:sp>
      <p:sp>
        <p:nvSpPr>
          <p:cNvPr id="6" name="">
            <a:extLst xmlns:a="http://schemas.openxmlformats.org/drawingml/2006/main">
              <a:ext uri="{FF2B5EF4-FFF2-40B4-BE49-F238E27FC236}">
                <a16:creationId xmlns:a16="http://schemas.microsoft.com/office/drawing/2014/main" id="{C9861C5B-6072-4D12-B439-AFB1F0A72716}"/>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4,286–4,287 matched binding hours. BC, PJM, MIDATL and DOM overlap and are not added.</a:t>
            </a:r>
          </a:p>
        </p:txBody>
      </p:sp>
    </p:spTree>
    <p:extLst>
      <p:ext uri="{BB962C8B-B14F-4D97-AF65-F5344CB8AC3E}">
        <p14:creationId xmlns:p14="http://schemas.microsoft.com/office/powerpoint/2010/main" val="18257071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4695D9-41AD-474A-AE0B-EDDFDE18A70F}"/>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sunset alone does not explain binding</a:t>
            </a:r>
          </a:p>
        </p:txBody>
      </p:sp>
      <p:sp>
        <p:nvSpPr>
          <p:cNvPr id="2" name="">
            <a:extLst xmlns:a="http://schemas.openxmlformats.org/drawingml/2006/main">
              <a:ext uri="{FF2B5EF4-FFF2-40B4-BE49-F238E27FC236}">
                <a16:creationId xmlns:a16="http://schemas.microsoft.com/office/drawing/2014/main" id="{5D31A090-36AB-4CE8-85DD-2CEDD6A2E483}"/>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MIDATL solar level and changes, plus WEST wind. Binding minus similar hours.</a:t>
            </a:r>
          </a:p>
        </p:txBody>
      </p:sp>
      <p:sp>
        <p:nvSpPr>
          <p:cNvPr id="3" name="">
            <a:extLst xmlns:a="http://schemas.openxmlformats.org/drawingml/2006/main">
              <a:ext uri="{FF2B5EF4-FFF2-40B4-BE49-F238E27FC236}">
                <a16:creationId xmlns:a16="http://schemas.microsoft.com/office/drawing/2014/main" id="{EEF6A595-52AE-443F-A489-003FF343A1FD}"/>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10</a:t>
            </a:r>
          </a:p>
        </p:txBody>
      </p:sp>
      <p:graphicFrame>
        <p:nvGraphicFramePr>
          <p:cNvPr id="4" name="Chart">
            <a:extLst xmlns:a="http://schemas.openxmlformats.org/drawingml/2006/main">
              <a:ext uri="{FF2B5EF4-FFF2-40B4-BE49-F238E27FC236}">
                <a16:creationId xmlns:a16="http://schemas.microsoft.com/office/drawing/2014/main" id="{3407BA98-DE4B-4132-A4D9-75E53A3696C3}"/>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9d787190dc6d476c"/>
          </a:graphicData>
        </a:graphic>
      </p:graphicFrame>
      <p:sp>
        <p:nvSpPr>
          <p:cNvPr id="5" name="">
            <a:extLst xmlns:a="http://schemas.openxmlformats.org/drawingml/2006/main">
              <a:ext uri="{FF2B5EF4-FFF2-40B4-BE49-F238E27FC236}">
                <a16:creationId xmlns:a16="http://schemas.microsoft.com/office/drawing/2014/main" id="{211C2D35-9B05-4C2A-B0F1-BADF41C7028B}"/>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Solar differences are small and uncertain. Lower western wind can require replacement supply, but low wind is not a stable rule for A.</a:t>
            </a:r>
          </a:p>
        </p:txBody>
      </p:sp>
      <p:sp>
        <p:nvSpPr>
          <p:cNvPr id="6" name="">
            <a:extLst xmlns:a="http://schemas.openxmlformats.org/drawingml/2006/main">
              <a:ext uri="{FF2B5EF4-FFF2-40B4-BE49-F238E27FC236}">
                <a16:creationId xmlns:a16="http://schemas.microsoft.com/office/drawing/2014/main" id="{C7BA5070-4CA0-40E8-B74A-283129DC09C9}"/>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4,294 matches. Solar level −22 MW; 1h change +4 MW; 3h change +10 MW. All solar week ranges include zero. WEST wind −359 MW.</a:t>
            </a:r>
          </a:p>
        </p:txBody>
      </p:sp>
    </p:spTree>
    <p:extLst>
      <p:ext uri="{BB962C8B-B14F-4D97-AF65-F5344CB8AC3E}">
        <p14:creationId xmlns:p14="http://schemas.microsoft.com/office/powerpoint/2010/main" val="2242767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3D6D6F-6F09-4C15-BA56-F3308BC3D7D6}"/>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gas and coal output are higher</a:t>
            </a:r>
          </a:p>
        </p:txBody>
      </p:sp>
      <p:sp>
        <p:nvSpPr>
          <p:cNvPr id="2" name="">
            <a:extLst xmlns:a="http://schemas.openxmlformats.org/drawingml/2006/main">
              <a:ext uri="{FF2B5EF4-FFF2-40B4-BE49-F238E27FC236}">
                <a16:creationId xmlns:a16="http://schemas.microsoft.com/office/drawing/2014/main" id="{5766442B-96BF-4E41-953B-414821716A51}"/>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Whole-PJM actual fuel output. Percentages below fuel names are binding-hour shares.</a:t>
            </a:r>
          </a:p>
        </p:txBody>
      </p:sp>
      <p:sp>
        <p:nvSpPr>
          <p:cNvPr id="3" name="">
            <a:extLst xmlns:a="http://schemas.openxmlformats.org/drawingml/2006/main">
              <a:ext uri="{FF2B5EF4-FFF2-40B4-BE49-F238E27FC236}">
                <a16:creationId xmlns:a16="http://schemas.microsoft.com/office/drawing/2014/main" id="{4F13285C-CBF6-4F23-A2E2-2317AD8B9E58}"/>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11</a:t>
            </a:r>
          </a:p>
        </p:txBody>
      </p:sp>
      <p:graphicFrame>
        <p:nvGraphicFramePr>
          <p:cNvPr id="4" name="Chart">
            <a:extLst xmlns:a="http://schemas.openxmlformats.org/drawingml/2006/main">
              <a:ext uri="{FF2B5EF4-FFF2-40B4-BE49-F238E27FC236}">
                <a16:creationId xmlns:a16="http://schemas.microsoft.com/office/drawing/2014/main" id="{857556B6-71D5-41DB-8BDA-C8D2D64AEB45}"/>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4011a4aa982c4f63"/>
          </a:graphicData>
        </a:graphic>
      </p:graphicFrame>
      <p:sp>
        <p:nvSpPr>
          <p:cNvPr id="5" name="">
            <a:extLst xmlns:a="http://schemas.openxmlformats.org/drawingml/2006/main">
              <a:ext uri="{FF2B5EF4-FFF2-40B4-BE49-F238E27FC236}">
                <a16:creationId xmlns:a16="http://schemas.microsoft.com/office/drawing/2014/main" id="{70C1DFA0-E7C5-4C9D-A91E-F8BFC20B4D9C}"/>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Gas and coal rise while nuclear changes little. This can be a response to tight conditions. It does not show that a nearby plant disappeared.</a:t>
            </a:r>
          </a:p>
        </p:txBody>
      </p:sp>
      <p:sp>
        <p:nvSpPr>
          <p:cNvPr id="6" name="">
            <a:extLst xmlns:a="http://schemas.openxmlformats.org/drawingml/2006/main">
              <a:ext uri="{FF2B5EF4-FFF2-40B4-BE49-F238E27FC236}">
                <a16:creationId xmlns:a16="http://schemas.microsoft.com/office/drawing/2014/main" id="{90CAD48E-E9FB-4A82-B6A9-B0F40BF94D77}"/>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4,291 matches. Mean hourly shares: gas 42.3%, nuclear 31.0%, coal 15.6%. Output is different from available capacity; Brandon Shores still ran.</a:t>
            </a:r>
          </a:p>
        </p:txBody>
      </p:sp>
    </p:spTree>
    <p:extLst>
      <p:ext uri="{BB962C8B-B14F-4D97-AF65-F5344CB8AC3E}">
        <p14:creationId xmlns:p14="http://schemas.microsoft.com/office/powerpoint/2010/main" val="10033417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85B1BD-A932-4438-876F-9C41F3E426DB}"/>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Baltimore prices separate from Western</a:t>
            </a:r>
          </a:p>
        </p:txBody>
      </p:sp>
      <p:sp>
        <p:nvSpPr>
          <p:cNvPr id="2" name="">
            <a:extLst xmlns:a="http://schemas.openxmlformats.org/drawingml/2006/main">
              <a:ext uri="{FF2B5EF4-FFF2-40B4-BE49-F238E27FC236}">
                <a16:creationId xmlns:a16="http://schemas.microsoft.com/office/drawing/2014/main" id="{9A8BC682-2EF8-4641-9DBF-47C764060BFD}"/>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BGE_RESID_AGG minus WESTERN HUB. Total and congestion prices, DA and RT separately.</a:t>
            </a:r>
          </a:p>
        </p:txBody>
      </p:sp>
      <p:sp>
        <p:nvSpPr>
          <p:cNvPr id="3" name="">
            <a:extLst xmlns:a="http://schemas.openxmlformats.org/drawingml/2006/main">
              <a:ext uri="{FF2B5EF4-FFF2-40B4-BE49-F238E27FC236}">
                <a16:creationId xmlns:a16="http://schemas.microsoft.com/office/drawing/2014/main" id="{D5EB0A38-F7AB-456A-B8F1-DD93414488AE}"/>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12</a:t>
            </a:r>
          </a:p>
        </p:txBody>
      </p:sp>
      <p:graphicFrame>
        <p:nvGraphicFramePr>
          <p:cNvPr id="4" name="Chart">
            <a:extLst xmlns:a="http://schemas.openxmlformats.org/drawingml/2006/main">
              <a:ext uri="{FF2B5EF4-FFF2-40B4-BE49-F238E27FC236}">
                <a16:creationId xmlns:a16="http://schemas.microsoft.com/office/drawing/2014/main" id="{826C92D1-FFDF-4102-92E2-9AD977AAE51C}"/>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b5fb0d8c0040420d"/>
          </a:graphicData>
        </a:graphic>
      </p:graphicFrame>
      <p:sp>
        <p:nvSpPr>
          <p:cNvPr id="5" name="">
            <a:extLst xmlns:a="http://schemas.openxmlformats.org/drawingml/2006/main">
              <a:ext uri="{FF2B5EF4-FFF2-40B4-BE49-F238E27FC236}">
                <a16:creationId xmlns:a16="http://schemas.microsoft.com/office/drawing/2014/main" id="{46F31B95-B64C-485B-9ED7-9B7E47D25E0E}"/>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The DA total difference is $10.13/MWh larger in binding hours. RT congestion is $18.46 higher. Costlier delivery into Baltimore fits the pattern.</a:t>
            </a:r>
          </a:p>
        </p:txBody>
      </p:sp>
      <p:sp>
        <p:nvSpPr>
          <p:cNvPr id="6" name="">
            <a:extLst xmlns:a="http://schemas.openxmlformats.org/drawingml/2006/main">
              <a:ext uri="{FF2B5EF4-FFF2-40B4-BE49-F238E27FC236}">
                <a16:creationId xmlns:a16="http://schemas.microsoft.com/office/drawing/2014/main" id="{CD0C0D09-AEA5-4795-AC98-F6EF14635882}"/>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Binding versus calendar controls. Other constraints and losses also affect prices. BGE residual is a historical proxy for the contractual BGE Zone.</a:t>
            </a:r>
          </a:p>
        </p:txBody>
      </p:sp>
    </p:spTree>
    <p:extLst>
      <p:ext uri="{BB962C8B-B14F-4D97-AF65-F5344CB8AC3E}">
        <p14:creationId xmlns:p14="http://schemas.microsoft.com/office/powerpoint/2010/main" val="15784980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56D8FD-9851-4DE7-A18B-CB3E501F1657}"/>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warmth and falling solar can tighten delivery</a:t>
            </a:r>
          </a:p>
        </p:txBody>
      </p:sp>
      <p:sp>
        <p:nvSpPr>
          <p:cNvPr id="2" name="">
            <a:extLst xmlns:a="http://schemas.openxmlformats.org/drawingml/2006/main">
              <a:ext uri="{FF2B5EF4-FFF2-40B4-BE49-F238E27FC236}">
                <a16:creationId xmlns:a16="http://schemas.microsoft.com/office/drawing/2014/main" id="{E9953922-8C2D-4AA5-9B57-A4EFA79E5D8D}"/>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Saved 16 October outlook. Baltimore peak block: average 72.5°F, maximum 82°F.</a:t>
            </a:r>
          </a:p>
        </p:txBody>
      </p:sp>
      <p:sp>
        <p:nvSpPr>
          <p:cNvPr id="3" name="">
            <a:extLst xmlns:a="http://schemas.openxmlformats.org/drawingml/2006/main">
              <a:ext uri="{FF2B5EF4-FFF2-40B4-BE49-F238E27FC236}">
                <a16:creationId xmlns:a16="http://schemas.microsoft.com/office/drawing/2014/main" id="{1B15663D-8461-4FD7-91E2-A7FED13A3790}"/>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13</a:t>
            </a:r>
          </a:p>
        </p:txBody>
      </p:sp>
      <p:graphicFrame>
        <p:nvGraphicFramePr>
          <p:cNvPr id="4" name="">
            <a:extLst xmlns:a="http://schemas.openxmlformats.org/drawingml/2006/main">
              <a:ext uri="{FF2B5EF4-FFF2-40B4-BE49-F238E27FC236}">
                <a16:creationId xmlns:a16="http://schemas.microsoft.com/office/drawing/2014/main" id="{3ED3D879-6CB1-4615-8D0D-2CCD714BCFBE}"/>
              </a:ext>
            </a:extLst>
          </p:cNvPr>
          <p:cNvGraphicFramePr/>
          <p:nvPr/>
        </p:nvGraphicFramePr>
        <p:xfrm>
          <a:off xmlns:a="http://schemas.openxmlformats.org/drawingml/2006/main" x="714375" y="1809750"/>
          <a:ext xmlns:a="http://schemas.openxmlformats.org/drawingml/2006/main" cx="10763250" cy="2952750"/>
        </p:xfrm>
        <a:graphic xmlns:a="http://schemas.openxmlformats.org/drawingml/2006/main">
          <a:graphicData uri="http://schemas.openxmlformats.org/drawingml/2006/table">
            <a:tbl>
              <a:tblPr firstRow="1" bandRow="0"/>
              <a:tblGrid>
                <a:gridCol w="2476500"/>
                <a:gridCol w="8286750"/>
              </a:tblGrid>
              <a:tr h="738188">
                <a:tc>
                  <a:txBody>
                    <a:bodyPr wrap="square" lIns="95250" tIns="95250" rIns="95250" bIns="95250">
                      <a:noAutofit/>
                    </a:bodyPr>
                    <a:lstStyle/>
                    <a:p>
                      <a:r>
                        <a:rPr sz="2025" b="1">
                          <a:solidFill>
                            <a:srgbClr val="15283B"/>
                          </a:solidFill>
                          <a:latin typeface="Helvetica Neue"/>
                          <a:ea typeface="Helvetica Neue"/>
                          <a:cs typeface="Helvetica Neue"/>
                        </a:rPr>
                        <a:t>Forecast fact</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2025" b="1">
                          <a:solidFill>
                            <a:srgbClr val="15283B"/>
                          </a:solidFill>
                          <a:latin typeface="Helvetica Neue"/>
                          <a:ea typeface="Helvetica Neue"/>
                          <a:cs typeface="Helvetica Neue"/>
                        </a:rPr>
                        <a:t>Why it matters</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38188">
                <a:tc>
                  <a:txBody>
                    <a:bodyPr wrap="square" lIns="95250" tIns="95250" rIns="95250" bIns="95250">
                      <a:noAutofit/>
                    </a:bodyPr>
                    <a:lstStyle/>
                    <a:p>
                      <a:r>
                        <a:rPr sz="2025" b="0">
                          <a:solidFill>
                            <a:srgbClr val="15283B"/>
                          </a:solidFill>
                          <a:latin typeface="Helvetica Neue"/>
                          <a:ea typeface="Helvetica Neue"/>
                          <a:cs typeface="Helvetica Neue"/>
                        </a:rPr>
                        <a:t>Mid-Atlantic demand</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Rises from 29.1 GW at 14:00 to 31.8 GW at 18:00.</a:t>
                      </a:r>
                    </a:p>
                  </a:txBody>
                  <a:tcPr marL="91440" marR="91440" marT="45720" marB="45720">
                    <a:lnR w="5715">
                      <a:solidFill>
                        <a:srgbClr val="DCE2E7"/>
                      </a:solidFill>
                      <a:prstDash val="solid"/>
                    </a:lnR>
                    <a:lnB w="5715">
                      <a:solidFill>
                        <a:srgbClr val="DCE2E7"/>
                      </a:solidFill>
                      <a:prstDash val="solid"/>
                    </a:lnB>
                    <a:solidFill>
                      <a:srgbClr val="FFFFFF"/>
                    </a:solidFill>
                  </a:tcPr>
                </a:tc>
              </a:tr>
              <a:tr h="738188">
                <a:tc>
                  <a:txBody>
                    <a:bodyPr wrap="square" lIns="95250" tIns="95250" rIns="95250" bIns="95250">
                      <a:noAutofit/>
                    </a:bodyPr>
                    <a:lstStyle/>
                    <a:p>
                      <a:r>
                        <a:rPr sz="2025" b="0">
                          <a:solidFill>
                            <a:srgbClr val="15283B"/>
                          </a:solidFill>
                          <a:latin typeface="Helvetica Neue"/>
                          <a:ea typeface="Helvetica Neue"/>
                          <a:cs typeface="Helvetica Neue"/>
                        </a:rPr>
                        <a:t>PJM utility solar</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Falls from 8.0 GW to 0.45 GW over those hours. Other supply must cover fading output.</a:t>
                      </a:r>
                    </a:p>
                  </a:txBody>
                  <a:tcPr marL="91440" marR="91440" marT="45720" marB="45720">
                    <a:lnR w="5715">
                      <a:solidFill>
                        <a:srgbClr val="DCE2E7"/>
                      </a:solidFill>
                      <a:prstDash val="solid"/>
                    </a:lnR>
                    <a:lnB w="5715">
                      <a:solidFill>
                        <a:srgbClr val="DCE2E7"/>
                      </a:solidFill>
                      <a:prstDash val="solid"/>
                    </a:lnB>
                    <a:solidFill>
                      <a:srgbClr val="FFFFFF"/>
                    </a:solidFill>
                  </a:tcPr>
                </a:tc>
              </a:tr>
              <a:tr h="738188">
                <a:tc>
                  <a:txBody>
                    <a:bodyPr wrap="square" lIns="95250" tIns="95250" rIns="95250" bIns="95250">
                      <a:noAutofit/>
                    </a:bodyPr>
                    <a:lstStyle/>
                    <a:p>
                      <a:r>
                        <a:rPr sz="2025" b="0">
                          <a:solidFill>
                            <a:srgbClr val="15283B"/>
                          </a:solidFill>
                          <a:latin typeface="Helvetica Neue"/>
                          <a:ea typeface="Helvetica Neue"/>
                          <a:cs typeface="Helvetica Neue"/>
                        </a:rPr>
                        <a:t>Both price legs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More local supply, easier delivery or a larger Western price rise can reduce the Baltimore premium.</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4883286-3BAA-4366-94B0-74D16B249F11}"/>
              </a:ext>
            </a:extLst>
          </p:cNvPr>
          <p:cNvSpPr>
            <a:spLocks xmlns:a="http://schemas.openxmlformats.org/drawingml/2006/main" noGrp="1"/>
          </p:cNvSpPr>
          <p:nvPr/>
        </p:nvSpPr>
        <p:spPr>
          <a:xfrm xmlns:a="http://schemas.openxmlformats.org/drawingml/2006/main">
            <a:off x="714375" y="5095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Warmth can raise cooling needs. Demand stays high as solar falls. If nearby supply or delivery is tight, BGE Zone can cost more relative to Western Hub.</a:t>
            </a:r>
          </a:p>
        </p:txBody>
      </p:sp>
      <p:sp>
        <p:nvSpPr>
          <p:cNvPr id="6" name="">
            <a:extLst xmlns:a="http://schemas.openxmlformats.org/drawingml/2006/main">
              <a:ext uri="{FF2B5EF4-FFF2-40B4-BE49-F238E27FC236}">
                <a16:creationId xmlns:a16="http://schemas.microsoft.com/office/drawing/2014/main" id="{A6226C36-BAB0-4B5F-8D2C-17E159124829}"/>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These are different footprints and cannot form a local power balance. PJM demand already includes weather. The current block is below the historical hot-block threshold.</a:t>
            </a:r>
          </a:p>
        </p:txBody>
      </p:sp>
    </p:spTree>
    <p:extLst>
      <p:ext uri="{BB962C8B-B14F-4D97-AF65-F5344CB8AC3E}">
        <p14:creationId xmlns:p14="http://schemas.microsoft.com/office/powerpoint/2010/main" val="171984973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33AE9D-6207-4BAA-A649-72FE8AB26452}"/>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what the purchase gains or loses</a:t>
            </a:r>
          </a:p>
        </p:txBody>
      </p:sp>
      <p:sp>
        <p:nvSpPr>
          <p:cNvPr id="2" name="">
            <a:extLst xmlns:a="http://schemas.openxmlformats.org/drawingml/2006/main">
              <a:ext uri="{FF2B5EF4-FFF2-40B4-BE49-F238E27FC236}">
                <a16:creationId xmlns:a16="http://schemas.microsoft.com/office/drawing/2014/main" id="{66BC5760-BA68-4DA7-A3D4-D1C5D1CE3542}"/>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Example: buy BGE minus Western at $17/MWh. 80 MWh and $3/MWh costs.</a:t>
            </a:r>
          </a:p>
        </p:txBody>
      </p:sp>
      <p:sp>
        <p:nvSpPr>
          <p:cNvPr id="3" name="">
            <a:extLst xmlns:a="http://schemas.openxmlformats.org/drawingml/2006/main">
              <a:ext uri="{FF2B5EF4-FFF2-40B4-BE49-F238E27FC236}">
                <a16:creationId xmlns:a16="http://schemas.microsoft.com/office/drawing/2014/main" id="{9F11DF91-ED83-4AD4-8E10-B90866461613}"/>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14</a:t>
            </a:r>
          </a:p>
        </p:txBody>
      </p:sp>
      <p:graphicFrame>
        <p:nvGraphicFramePr>
          <p:cNvPr id="4" name="">
            <a:extLst xmlns:a="http://schemas.openxmlformats.org/drawingml/2006/main">
              <a:ext uri="{FF2B5EF4-FFF2-40B4-BE49-F238E27FC236}">
                <a16:creationId xmlns:a16="http://schemas.microsoft.com/office/drawing/2014/main" id="{7FAFA61D-59C8-4ED8-998B-3D8C8BCCB3B4}"/>
              </a:ext>
            </a:extLst>
          </p:cNvPr>
          <p:cNvGraphicFramePr/>
          <p:nvPr/>
        </p:nvGraphicFramePr>
        <p:xfrm>
          <a:off xmlns:a="http://schemas.openxmlformats.org/drawingml/2006/main" x="714375" y="1809750"/>
          <a:ext xmlns:a="http://schemas.openxmlformats.org/drawingml/2006/main" cx="10763250" cy="2857500"/>
        </p:xfrm>
        <a:graphic xmlns:a="http://schemas.openxmlformats.org/drawingml/2006/main">
          <a:graphicData uri="http://schemas.openxmlformats.org/drawingml/2006/table">
            <a:tbl>
              <a:tblPr firstRow="1" bandRow="0"/>
              <a:tblGrid>
                <a:gridCol w="3286125"/>
                <a:gridCol w="3714750"/>
                <a:gridCol w="3762375"/>
              </a:tblGrid>
              <a:tr h="714375">
                <a:tc>
                  <a:txBody>
                    <a:bodyPr wrap="square" lIns="95250" tIns="95250" rIns="95250" bIns="95250">
                      <a:noAutofit/>
                    </a:bodyPr>
                    <a:lstStyle/>
                    <a:p>
                      <a:r>
                        <a:rPr sz="2175" b="1">
                          <a:solidFill>
                            <a:srgbClr val="15283B"/>
                          </a:solidFill>
                          <a:latin typeface="Helvetica Neue"/>
                          <a:ea typeface="Helvetica Neue"/>
                          <a:cs typeface="Helvetica Neue"/>
                        </a:rPr>
                        <a:t>Final difference</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2175" b="1">
                          <a:solidFill>
                            <a:srgbClr val="15283B"/>
                          </a:solidFill>
                          <a:latin typeface="Helvetica Neue"/>
                          <a:ea typeface="Helvetica Neue"/>
                          <a:cs typeface="Helvetica Neue"/>
                        </a:rPr>
                        <a:t>Net package cash</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2175" b="1">
                          <a:solidFill>
                            <a:srgbClr val="15283B"/>
                          </a:solidFill>
                          <a:latin typeface="Helvetica Neue"/>
                          <a:ea typeface="Helvetica Neue"/>
                          <a:cs typeface="Helvetica Neue"/>
                        </a:rPr>
                        <a:t>Result</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14375">
                <a:tc>
                  <a:txBody>
                    <a:bodyPr wrap="square" lIns="95250" tIns="95250" rIns="95250" bIns="95250">
                      <a:noAutofit/>
                    </a:bodyPr>
                    <a:lstStyle/>
                    <a:p>
                      <a:r>
                        <a:rPr sz="2175" b="0">
                          <a:solidFill>
                            <a:srgbClr val="15283B"/>
                          </a:solidFill>
                          <a:latin typeface="Helvetica Neue"/>
                          <a:ea typeface="Helvetica Neue"/>
                          <a:cs typeface="Helvetica Neue"/>
                        </a:rPr>
                        <a:t>$9/MWh</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175" b="0">
                          <a:solidFill>
                            <a:srgbClr val="15283B"/>
                          </a:solidFill>
                          <a:latin typeface="Helvetica Neue"/>
                          <a:ea typeface="Helvetica Neue"/>
                          <a:cs typeface="Helvetica Neue"/>
                        </a:rPr>
                        <a:t>−$880</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175" b="0">
                          <a:solidFill>
                            <a:srgbClr val="15283B"/>
                          </a:solidFill>
                          <a:latin typeface="Helvetica Neue"/>
                          <a:ea typeface="Helvetica Neue"/>
                          <a:cs typeface="Helvetica Neue"/>
                        </a:rPr>
                        <a:t>Loss</a:t>
                      </a:r>
                    </a:p>
                  </a:txBody>
                  <a:tcPr marL="91440" marR="91440" marT="45720" marB="45720">
                    <a:lnR w="5715">
                      <a:solidFill>
                        <a:srgbClr val="DCE2E7"/>
                      </a:solidFill>
                      <a:prstDash val="solid"/>
                    </a:lnR>
                    <a:lnB w="5715">
                      <a:solidFill>
                        <a:srgbClr val="DCE2E7"/>
                      </a:solidFill>
                      <a:prstDash val="solid"/>
                    </a:lnB>
                    <a:solidFill>
                      <a:srgbClr val="FFFFFF"/>
                    </a:solidFill>
                  </a:tcPr>
                </a:tc>
              </a:tr>
              <a:tr h="714375">
                <a:tc>
                  <a:txBody>
                    <a:bodyPr wrap="square" lIns="95250" tIns="95250" rIns="95250" bIns="95250">
                      <a:noAutofit/>
                    </a:bodyPr>
                    <a:lstStyle/>
                    <a:p>
                      <a:r>
                        <a:rPr sz="2175" b="0">
                          <a:solidFill>
                            <a:srgbClr val="15283B"/>
                          </a:solidFill>
                          <a:latin typeface="Helvetica Neue"/>
                          <a:ea typeface="Helvetica Neue"/>
                          <a:cs typeface="Helvetica Neue"/>
                        </a:rPr>
                        <a:t>$20/MWh</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175" b="0">
                          <a:solidFill>
                            <a:srgbClr val="15283B"/>
                          </a:solidFill>
                          <a:latin typeface="Helvetica Neue"/>
                          <a:ea typeface="Helvetica Neue"/>
                          <a:cs typeface="Helvetica Neue"/>
                        </a:rPr>
                        <a:t>$0</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175" b="0">
                          <a:solidFill>
                            <a:srgbClr val="15283B"/>
                          </a:solidFill>
                          <a:latin typeface="Helvetica Neue"/>
                          <a:ea typeface="Helvetica Neue"/>
                          <a:cs typeface="Helvetica Neue"/>
                        </a:rPr>
                        <a:t>Costs covered</a:t>
                      </a:r>
                    </a:p>
                  </a:txBody>
                  <a:tcPr marL="91440" marR="91440" marT="45720" marB="45720">
                    <a:lnR w="5715">
                      <a:solidFill>
                        <a:srgbClr val="DCE2E7"/>
                      </a:solidFill>
                      <a:prstDash val="solid"/>
                    </a:lnR>
                    <a:lnB w="5715">
                      <a:solidFill>
                        <a:srgbClr val="DCE2E7"/>
                      </a:solidFill>
                      <a:prstDash val="solid"/>
                    </a:lnB>
                    <a:solidFill>
                      <a:srgbClr val="FFFFFF"/>
                    </a:solidFill>
                  </a:tcPr>
                </a:tc>
              </a:tr>
              <a:tr h="714375">
                <a:tc>
                  <a:txBody>
                    <a:bodyPr wrap="square" lIns="95250" tIns="95250" rIns="95250" bIns="95250">
                      <a:noAutofit/>
                    </a:bodyPr>
                    <a:lstStyle/>
                    <a:p>
                      <a:r>
                        <a:rPr sz="2175" b="0">
                          <a:solidFill>
                            <a:srgbClr val="15283B"/>
                          </a:solidFill>
                          <a:latin typeface="Helvetica Neue"/>
                          <a:ea typeface="Helvetica Neue"/>
                          <a:cs typeface="Helvetica Neue"/>
                        </a:rPr>
                        <a:t>$25/MWh</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175" b="0">
                          <a:solidFill>
                            <a:srgbClr val="15283B"/>
                          </a:solidFill>
                          <a:latin typeface="Helvetica Neue"/>
                          <a:ea typeface="Helvetica Neue"/>
                          <a:cs typeface="Helvetica Neue"/>
                        </a:rPr>
                        <a:t>+$400</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175" b="0">
                          <a:solidFill>
                            <a:srgbClr val="15283B"/>
                          </a:solidFill>
                          <a:latin typeface="Helvetica Neue"/>
                          <a:ea typeface="Helvetica Neue"/>
                          <a:cs typeface="Helvetica Neue"/>
                        </a:rPr>
                        <a:t>Gain</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AC8CC7C-DB8E-4115-8A32-E96EC1484A85}"/>
              </a:ext>
            </a:extLst>
          </p:cNvPr>
          <p:cNvSpPr>
            <a:spLocks xmlns:a="http://schemas.openxmlformats.org/drawingml/2006/main" noGrp="1"/>
          </p:cNvSpPr>
          <p:nvPr/>
        </p:nvSpPr>
        <p:spPr>
          <a:xfrm xmlns:a="http://schemas.openxmlformats.org/drawingml/2006/main">
            <a:off x="714375" y="5095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At $20/MWh, entry and costs are covered. A higher final difference gives a gain.</a:t>
            </a:r>
          </a:p>
        </p:txBody>
      </p:sp>
      <p:sp>
        <p:nvSpPr>
          <p:cNvPr id="6" name="">
            <a:extLst xmlns:a="http://schemas.openxmlformats.org/drawingml/2006/main">
              <a:ext uri="{FF2B5EF4-FFF2-40B4-BE49-F238E27FC236}">
                <a16:creationId xmlns:a16="http://schemas.microsoft.com/office/drawing/2014/main" id="{A81894DA-A764-42BE-94E8-C5A3362B652E}"/>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Teaching prices, not quotes. The full 07:00–23:00 block sets payment. The dated entry limit remains $17.10/MWh, with a chosen $5 mean-error allowance.</a:t>
            </a:r>
          </a:p>
        </p:txBody>
      </p:sp>
    </p:spTree>
    <p:extLst>
      <p:ext uri="{BB962C8B-B14F-4D97-AF65-F5344CB8AC3E}">
        <p14:creationId xmlns:p14="http://schemas.microsoft.com/office/powerpoint/2010/main" val="15361253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C3CAA7-4825-466E-ADA4-B6CDC21624D3}"/>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confidence and what to watch</a:t>
            </a:r>
          </a:p>
        </p:txBody>
      </p:sp>
      <p:sp>
        <p:nvSpPr>
          <p:cNvPr id="2" name="">
            <a:extLst xmlns:a="http://schemas.openxmlformats.org/drawingml/2006/main">
              <a:ext uri="{FF2B5EF4-FFF2-40B4-BE49-F238E27FC236}">
                <a16:creationId xmlns:a16="http://schemas.microsoft.com/office/drawing/2014/main" id="{BFD22E20-B1E1-4CDE-B734-2B514D244C96}"/>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Moderate support for the demand/premium pattern. Low confidence in the hidden cause and signed branch direction.</a:t>
            </a:r>
          </a:p>
        </p:txBody>
      </p:sp>
      <p:sp>
        <p:nvSpPr>
          <p:cNvPr id="3" name="">
            <a:extLst xmlns:a="http://schemas.openxmlformats.org/drawingml/2006/main">
              <a:ext uri="{FF2B5EF4-FFF2-40B4-BE49-F238E27FC236}">
                <a16:creationId xmlns:a16="http://schemas.microsoft.com/office/drawing/2014/main" id="{BB2F9E68-F72C-4A4F-AE23-935BF39D916B}"/>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15</a:t>
            </a:r>
          </a:p>
        </p:txBody>
      </p:sp>
      <p:graphicFrame>
        <p:nvGraphicFramePr>
          <p:cNvPr id="4" name="">
            <a:extLst xmlns:a="http://schemas.openxmlformats.org/drawingml/2006/main">
              <a:ext uri="{FF2B5EF4-FFF2-40B4-BE49-F238E27FC236}">
                <a16:creationId xmlns:a16="http://schemas.microsoft.com/office/drawing/2014/main" id="{2D0B7458-72F8-44BE-AD86-D62BA67D79EF}"/>
              </a:ext>
            </a:extLst>
          </p:cNvPr>
          <p:cNvGraphicFramePr/>
          <p:nvPr/>
        </p:nvGraphicFramePr>
        <p:xfrm>
          <a:off xmlns:a="http://schemas.openxmlformats.org/drawingml/2006/main" x="714375" y="1762125"/>
          <a:ext xmlns:a="http://schemas.openxmlformats.org/drawingml/2006/main" cx="10763250" cy="3952875"/>
        </p:xfrm>
        <a:graphic xmlns:a="http://schemas.openxmlformats.org/drawingml/2006/main">
          <a:graphicData uri="http://schemas.openxmlformats.org/drawingml/2006/table">
            <a:tbl>
              <a:tblPr firstRow="1" bandRow="0"/>
              <a:tblGrid>
                <a:gridCol w="2476500"/>
                <a:gridCol w="8286750"/>
              </a:tblGrid>
              <a:tr h="790575">
                <a:tc>
                  <a:txBody>
                    <a:bodyPr wrap="square" lIns="95250" tIns="95250" rIns="95250" bIns="95250">
                      <a:noAutofit/>
                    </a:bodyPr>
                    <a:lstStyle/>
                    <a:p>
                      <a:r>
                        <a:rPr sz="1875" b="1">
                          <a:solidFill>
                            <a:srgbClr val="15283B"/>
                          </a:solidFill>
                          <a:latin typeface="Helvetica Neue"/>
                          <a:ea typeface="Helvetica Neue"/>
                          <a:cs typeface="Helvetica Neue"/>
                        </a:rPr>
                        <a:t>Question</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875" b="1">
                          <a:solidFill>
                            <a:srgbClr val="15283B"/>
                          </a:solidFill>
                          <a:latin typeface="Helvetica Neue"/>
                          <a:ea typeface="Helvetica Neue"/>
                          <a:cs typeface="Helvetica Neue"/>
                        </a:rPr>
                        <a:t>Answer</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Main rival</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Less useful delivery, imports or nearby available generation can produce a similar premium.</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Counterexample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June demand was lower despite more binding, while Brandon Shores continued producing power.</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What would weaken the view?</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At similar demand, easier delivery without a narrower premium would weaken the delivery-pressure explanation.</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Advance watchlist</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Issued BC/PJM/DOM demand, solar decline, wind, nearby availability and delivery capability.</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D55EF0D-33C4-4D94-B9B0-0C93807F02DF}"/>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The watchlist has no reliable advance binding odds. Same-hour actuals describe states, not causes or advance forecasts.</a:t>
            </a:r>
          </a:p>
        </p:txBody>
      </p:sp>
    </p:spTree>
    <p:extLst>
      <p:ext uri="{BB962C8B-B14F-4D97-AF65-F5344CB8AC3E}">
        <p14:creationId xmlns:p14="http://schemas.microsoft.com/office/powerpoint/2010/main" val="19157067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7987B2-8A6B-4F4B-94DE-2A7ECA048FF9}"/>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B: mainly midday, with changing seasons</a:t>
            </a:r>
          </a:p>
        </p:txBody>
      </p:sp>
      <p:sp>
        <p:nvSpPr>
          <p:cNvPr id="2" name="">
            <a:extLst xmlns:a="http://schemas.openxmlformats.org/drawingml/2006/main">
              <a:ext uri="{FF2B5EF4-FFF2-40B4-BE49-F238E27FC236}">
                <a16:creationId xmlns:a16="http://schemas.microsoft.com/office/drawing/2014/main" id="{417AE428-9CF5-451E-A1D8-4E2328DBBAE6}"/>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January–August in each year. Share of eligible hours containing binding.</a:t>
            </a:r>
          </a:p>
        </p:txBody>
      </p:sp>
      <p:sp>
        <p:nvSpPr>
          <p:cNvPr id="3" name="">
            <a:extLst xmlns:a="http://schemas.openxmlformats.org/drawingml/2006/main">
              <a:ext uri="{FF2B5EF4-FFF2-40B4-BE49-F238E27FC236}">
                <a16:creationId xmlns:a16="http://schemas.microsoft.com/office/drawing/2014/main" id="{A07806F5-90F1-4076-B4C0-87338D0E9A7F}"/>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16</a:t>
            </a:r>
          </a:p>
        </p:txBody>
      </p:sp>
      <p:graphicFrame>
        <p:nvGraphicFramePr>
          <p:cNvPr id="4" name="Chart">
            <a:extLst xmlns:a="http://schemas.openxmlformats.org/drawingml/2006/main">
              <a:ext uri="{FF2B5EF4-FFF2-40B4-BE49-F238E27FC236}">
                <a16:creationId xmlns:a16="http://schemas.microsoft.com/office/drawing/2014/main" id="{14115D3F-8B6F-4515-95D9-756EAE76D32F}"/>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82ceda70eb0d4816"/>
          </a:graphicData>
        </a:graphic>
      </p:graphicFrame>
      <p:sp>
        <p:nvSpPr>
          <p:cNvPr id="5" name="">
            <a:extLst xmlns:a="http://schemas.openxmlformats.org/drawingml/2006/main">
              <a:ext uri="{FF2B5EF4-FFF2-40B4-BE49-F238E27FC236}">
                <a16:creationId xmlns:a16="http://schemas.microsoft.com/office/drawing/2014/main" id="{2A50055D-A022-47B4-985C-5D5377E63F30}"/>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Labels 10–15 form the main window. Spring activity weakens sharply in 2026, so a fixed spring rule fails.</a:t>
            </a:r>
          </a:p>
        </p:txBody>
      </p:sp>
      <p:sp>
        <p:nvSpPr>
          <p:cNvPr id="6" name="">
            <a:extLst xmlns:a="http://schemas.openxmlformats.org/drawingml/2006/main">
              <a:ext uri="{FF2B5EF4-FFF2-40B4-BE49-F238E27FC236}">
                <a16:creationId xmlns:a16="http://schemas.microsoft.com/office/drawing/2014/main" id="{22835B28-A65A-414D-8D6D-8EB8B4E9845E}"/>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2026 labels 11/12 each 12.4%; Tuesday 4.4%, Sunday 1.6%. Spring: 16.8% in 2025, 2.2% in 2026. Source clock provisional.</a:t>
            </a:r>
          </a:p>
        </p:txBody>
      </p:sp>
    </p:spTree>
    <p:extLst>
      <p:ext uri="{BB962C8B-B14F-4D97-AF65-F5344CB8AC3E}">
        <p14:creationId xmlns:p14="http://schemas.microsoft.com/office/powerpoint/2010/main" val="72655056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908F1E-940F-42A8-959B-1B4FF5F30251}"/>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B: local and wider demand are higher</a:t>
            </a:r>
          </a:p>
        </p:txBody>
      </p:sp>
      <p:sp>
        <p:nvSpPr>
          <p:cNvPr id="2" name="">
            <a:extLst xmlns:a="http://schemas.openxmlformats.org/drawingml/2006/main">
              <a:ext uri="{FF2B5EF4-FFF2-40B4-BE49-F238E27FC236}">
                <a16:creationId xmlns:a16="http://schemas.microsoft.com/office/drawing/2014/main" id="{BCA83D6D-EED3-4A98-929F-D7E198ABCCD6}"/>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Binding minus nonbinding hours in similar calendar conditions.</a:t>
            </a:r>
          </a:p>
        </p:txBody>
      </p:sp>
      <p:sp>
        <p:nvSpPr>
          <p:cNvPr id="3" name="">
            <a:extLst xmlns:a="http://schemas.openxmlformats.org/drawingml/2006/main">
              <a:ext uri="{FF2B5EF4-FFF2-40B4-BE49-F238E27FC236}">
                <a16:creationId xmlns:a16="http://schemas.microsoft.com/office/drawing/2014/main" id="{E6ED966A-C94B-4011-8F3B-A37AF7FF7C12}"/>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17</a:t>
            </a:r>
          </a:p>
        </p:txBody>
      </p:sp>
      <p:graphicFrame>
        <p:nvGraphicFramePr>
          <p:cNvPr id="4" name="Chart">
            <a:extLst xmlns:a="http://schemas.openxmlformats.org/drawingml/2006/main">
              <a:ext uri="{FF2B5EF4-FFF2-40B4-BE49-F238E27FC236}">
                <a16:creationId xmlns:a16="http://schemas.microsoft.com/office/drawing/2014/main" id="{AEAC20FA-9882-4108-810D-71180B142D1E}"/>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d12a4f265f7e4526"/>
          </a:graphicData>
        </a:graphic>
      </p:graphicFrame>
      <p:sp>
        <p:nvSpPr>
          <p:cNvPr id="5" name="">
            <a:extLst xmlns:a="http://schemas.openxmlformats.org/drawingml/2006/main">
              <a:ext uri="{FF2B5EF4-FFF2-40B4-BE49-F238E27FC236}">
                <a16:creationId xmlns:a16="http://schemas.microsoft.com/office/drawing/2014/main" id="{38425BA7-E4BA-4AFF-B6BE-9C036D2F9446}"/>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DOM demand is 0.42 GW higher and PJM demand 3.78 GW higher. Higher demand can increase the need for supply and delivery into the costly local area.</a:t>
            </a:r>
          </a:p>
        </p:txBody>
      </p:sp>
      <p:sp>
        <p:nvSpPr>
          <p:cNvPr id="6" name="">
            <a:extLst xmlns:a="http://schemas.openxmlformats.org/drawingml/2006/main">
              <a:ext uri="{FF2B5EF4-FFF2-40B4-BE49-F238E27FC236}">
                <a16:creationId xmlns:a16="http://schemas.microsoft.com/office/drawing/2014/main" id="{3F45A3E6-258F-4903-B272-859C22409F0E}"/>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1,173 matched binding hours. MIDATL is 1.96 GW higher. Regional footprints overlap and are not added.</a:t>
            </a:r>
          </a:p>
        </p:txBody>
      </p:sp>
    </p:spTree>
    <p:extLst>
      <p:ext uri="{BB962C8B-B14F-4D97-AF65-F5344CB8AC3E}">
        <p14:creationId xmlns:p14="http://schemas.microsoft.com/office/powerpoint/2010/main" val="2563809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74121F-2EFA-4EBF-BC2F-16469F57AFAF}"/>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B: more solar changes where power enters</a:t>
            </a:r>
          </a:p>
        </p:txBody>
      </p:sp>
      <p:sp>
        <p:nvSpPr>
          <p:cNvPr id="2" name="">
            <a:extLst xmlns:a="http://schemas.openxmlformats.org/drawingml/2006/main">
              <a:ext uri="{FF2B5EF4-FFF2-40B4-BE49-F238E27FC236}">
                <a16:creationId xmlns:a16="http://schemas.microsoft.com/office/drawing/2014/main" id="{54B56321-00C8-4B94-A4F8-EDC9574500E7}"/>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SOUTH solar level and hourly changes, plus WEST wind.</a:t>
            </a:r>
          </a:p>
        </p:txBody>
      </p:sp>
      <p:sp>
        <p:nvSpPr>
          <p:cNvPr id="3" name="">
            <a:extLst xmlns:a="http://schemas.openxmlformats.org/drawingml/2006/main">
              <a:ext uri="{FF2B5EF4-FFF2-40B4-BE49-F238E27FC236}">
                <a16:creationId xmlns:a16="http://schemas.microsoft.com/office/drawing/2014/main" id="{3413EAAE-F3D2-4E22-810A-E91ED44B4A0B}"/>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18</a:t>
            </a:r>
          </a:p>
        </p:txBody>
      </p:sp>
      <p:graphicFrame>
        <p:nvGraphicFramePr>
          <p:cNvPr id="4" name="Chart">
            <a:extLst xmlns:a="http://schemas.openxmlformats.org/drawingml/2006/main">
              <a:ext uri="{FF2B5EF4-FFF2-40B4-BE49-F238E27FC236}">
                <a16:creationId xmlns:a16="http://schemas.microsoft.com/office/drawing/2014/main" id="{CF34C5A4-8453-4206-B65E-CFAFB5A74FE5}"/>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c9a474940f8e49ca"/>
          </a:graphicData>
        </a:graphic>
      </p:graphicFrame>
      <p:sp>
        <p:nvSpPr>
          <p:cNvPr id="5" name="">
            <a:extLst xmlns:a="http://schemas.openxmlformats.org/drawingml/2006/main">
              <a:ext uri="{FF2B5EF4-FFF2-40B4-BE49-F238E27FC236}">
                <a16:creationId xmlns:a16="http://schemas.microsoft.com/office/drawing/2014/main" id="{2EDB854B-26B8-477F-B722-BC114A1FF98E}"/>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Solar is 413 MW higher and its three-hour change is 105 MW larger. Solar may replace a plant that eased B. A nighttime record shows solar is unnecessary.</a:t>
            </a:r>
          </a:p>
        </p:txBody>
      </p:sp>
      <p:sp>
        <p:nvSpPr>
          <p:cNvPr id="6" name="">
            <a:extLst xmlns:a="http://schemas.openxmlformats.org/drawingml/2006/main">
              <a:ext uri="{FF2B5EF4-FFF2-40B4-BE49-F238E27FC236}">
                <a16:creationId xmlns:a16="http://schemas.microsoft.com/office/drawing/2014/main" id="{8CF8BA29-B3E6-4819-90EA-6744E9FBFE7A}"/>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1,178 matches. The 1h change is near zero. WEST wind +409 MW; SOUTH wind is uncertain. The electrical sign on the hidden line is unknown.</a:t>
            </a:r>
          </a:p>
        </p:txBody>
      </p:sp>
    </p:spTree>
    <p:extLst>
      <p:ext uri="{BB962C8B-B14F-4D97-AF65-F5344CB8AC3E}">
        <p14:creationId xmlns:p14="http://schemas.microsoft.com/office/powerpoint/2010/main" val="119733370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9C369E-FF94-4BC9-9BA9-AF989FB5947B}"/>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B: gas output rises</a:t>
            </a:r>
          </a:p>
        </p:txBody>
      </p:sp>
      <p:sp>
        <p:nvSpPr>
          <p:cNvPr id="2" name="">
            <a:extLst xmlns:a="http://schemas.openxmlformats.org/drawingml/2006/main">
              <a:ext uri="{FF2B5EF4-FFF2-40B4-BE49-F238E27FC236}">
                <a16:creationId xmlns:a16="http://schemas.microsoft.com/office/drawing/2014/main" id="{4AFDF0CC-2689-4541-986E-97A674873708}"/>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Whole-PJM actual fuel output. Percentages below fuel names are binding-hour shares.</a:t>
            </a:r>
          </a:p>
        </p:txBody>
      </p:sp>
      <p:sp>
        <p:nvSpPr>
          <p:cNvPr id="3" name="">
            <a:extLst xmlns:a="http://schemas.openxmlformats.org/drawingml/2006/main">
              <a:ext uri="{FF2B5EF4-FFF2-40B4-BE49-F238E27FC236}">
                <a16:creationId xmlns:a16="http://schemas.microsoft.com/office/drawing/2014/main" id="{E7572586-9488-4B09-91D8-4E665079BDE7}"/>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19</a:t>
            </a:r>
          </a:p>
        </p:txBody>
      </p:sp>
      <p:graphicFrame>
        <p:nvGraphicFramePr>
          <p:cNvPr id="4" name="Chart">
            <a:extLst xmlns:a="http://schemas.openxmlformats.org/drawingml/2006/main">
              <a:ext uri="{FF2B5EF4-FFF2-40B4-BE49-F238E27FC236}">
                <a16:creationId xmlns:a16="http://schemas.microsoft.com/office/drawing/2014/main" id="{29B66059-FCAE-43A7-A429-12042C5C944F}"/>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d8906f590dfc4c84"/>
          </a:graphicData>
        </a:graphic>
      </p:graphicFrame>
      <p:sp>
        <p:nvSpPr>
          <p:cNvPr id="5" name="">
            <a:extLst xmlns:a="http://schemas.openxmlformats.org/drawingml/2006/main">
              <a:ext uri="{FF2B5EF4-FFF2-40B4-BE49-F238E27FC236}">
                <a16:creationId xmlns:a16="http://schemas.microsoft.com/office/drawing/2014/main" id="{CBA21F0D-F187-4131-9D50-CEFEFFA2663B}"/>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Gas rises, while coal and nuclear differences are uncertain. These whole-system values do not measure available supply near Richmond.</a:t>
            </a:r>
          </a:p>
        </p:txBody>
      </p:sp>
      <p:sp>
        <p:nvSpPr>
          <p:cNvPr id="6" name="">
            <a:extLst xmlns:a="http://schemas.openxmlformats.org/drawingml/2006/main">
              <a:ext uri="{FF2B5EF4-FFF2-40B4-BE49-F238E27FC236}">
                <a16:creationId xmlns:a16="http://schemas.microsoft.com/office/drawing/2014/main" id="{572BC849-F3FD-4049-A978-A63A68ED05AF}"/>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1,178 matches. Gas output +1,648 MW. Mean shares: gas 41.1%, nuclear 29.9%, coal 15.4%.</a:t>
            </a:r>
          </a:p>
        </p:txBody>
      </p:sp>
    </p:spTree>
    <p:extLst>
      <p:ext uri="{BB962C8B-B14F-4D97-AF65-F5344CB8AC3E}">
        <p14:creationId xmlns:p14="http://schemas.microsoft.com/office/powerpoint/2010/main" val="1085879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ECD3BE-1B9A-4EA1-AA6D-F19687D8775B}"/>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B: the local area costs more than its hub</a:t>
            </a:r>
          </a:p>
        </p:txBody>
      </p:sp>
      <p:sp>
        <p:nvSpPr>
          <p:cNvPr id="2" name="">
            <a:extLst xmlns:a="http://schemas.openxmlformats.org/drawingml/2006/main">
              <a:ext uri="{FF2B5EF4-FFF2-40B4-BE49-F238E27FC236}">
                <a16:creationId xmlns:a16="http://schemas.microsoft.com/office/drawing/2014/main" id="{18EFEB04-F6D8-41EE-AF75-4B428907FA08}"/>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DOM_RESID_AGG minus DOMINION HUB. DA and RT total/congestion comparisons.</a:t>
            </a:r>
          </a:p>
        </p:txBody>
      </p:sp>
      <p:sp>
        <p:nvSpPr>
          <p:cNvPr id="3" name="">
            <a:extLst xmlns:a="http://schemas.openxmlformats.org/drawingml/2006/main">
              <a:ext uri="{FF2B5EF4-FFF2-40B4-BE49-F238E27FC236}">
                <a16:creationId xmlns:a16="http://schemas.microsoft.com/office/drawing/2014/main" id="{E241C0FE-EB28-44E8-B291-CEF656836099}"/>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20</a:t>
            </a:r>
          </a:p>
        </p:txBody>
      </p:sp>
      <p:graphicFrame>
        <p:nvGraphicFramePr>
          <p:cNvPr id="4" name="Chart">
            <a:extLst xmlns:a="http://schemas.openxmlformats.org/drawingml/2006/main">
              <a:ext uri="{FF2B5EF4-FFF2-40B4-BE49-F238E27FC236}">
                <a16:creationId xmlns:a16="http://schemas.microsoft.com/office/drawing/2014/main" id="{D3D21963-9057-468F-B2A7-B769E34001EF}"/>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3e73a658fdf846fa"/>
          </a:graphicData>
        </a:graphic>
      </p:graphicFrame>
      <p:sp>
        <p:nvSpPr>
          <p:cNvPr id="5" name="">
            <a:extLst xmlns:a="http://schemas.openxmlformats.org/drawingml/2006/main">
              <a:ext uri="{FF2B5EF4-FFF2-40B4-BE49-F238E27FC236}">
                <a16:creationId xmlns:a16="http://schemas.microsoft.com/office/drawing/2014/main" id="{9023E2C4-D044-40BF-9B8F-CE1BB990BF86}"/>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A local premium fits limited access to the costly area. The later regional payment still depends on how much this difference grows after DA prices are set.</a:t>
            </a:r>
          </a:p>
        </p:txBody>
      </p:sp>
      <p:sp>
        <p:nvSpPr>
          <p:cNvPr id="6" name="">
            <a:extLst xmlns:a="http://schemas.openxmlformats.org/drawingml/2006/main">
              <a:ext uri="{FF2B5EF4-FFF2-40B4-BE49-F238E27FC236}">
                <a16:creationId xmlns:a16="http://schemas.microsoft.com/office/drawing/2014/main" id="{C8EF2DDA-1605-4C1C-AF63-B3EFF367B6EA}"/>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1,178 calendar matches. The wider local-minus-Western RT comparison changes sign in 2026. The pooled DA hub-discount range includes zero.</a:t>
            </a:r>
          </a:p>
        </p:txBody>
      </p:sp>
    </p:spTree>
    <p:extLst>
      <p:ext uri="{BB962C8B-B14F-4D97-AF65-F5344CB8AC3E}">
        <p14:creationId xmlns:p14="http://schemas.microsoft.com/office/powerpoint/2010/main" val="161965190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8A8FA6-B417-4E4E-853E-E12E7D1F6914}"/>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B: fixed local buses retain a larger RT premium</a:t>
            </a:r>
          </a:p>
        </p:txBody>
      </p:sp>
      <p:sp>
        <p:nvSpPr>
          <p:cNvPr id="2" name="">
            <a:extLst xmlns:a="http://schemas.openxmlformats.org/drawingml/2006/main">
              <a:ext uri="{FF2B5EF4-FFF2-40B4-BE49-F238E27FC236}">
                <a16:creationId xmlns:a16="http://schemas.microsoft.com/office/drawing/2014/main" id="{1745AE72-AF43-47F7-B13E-87339F1DF0C6}"/>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ACCA, BASIN and BELLWOOD minus Dominion Hub at similar SOUTH solar and DOM demand.</a:t>
            </a:r>
          </a:p>
        </p:txBody>
      </p:sp>
      <p:sp>
        <p:nvSpPr>
          <p:cNvPr id="3" name="">
            <a:extLst xmlns:a="http://schemas.openxmlformats.org/drawingml/2006/main">
              <a:ext uri="{FF2B5EF4-FFF2-40B4-BE49-F238E27FC236}">
                <a16:creationId xmlns:a16="http://schemas.microsoft.com/office/drawing/2014/main" id="{7237DD4C-8FF7-48D4-AF10-8872090BE742}"/>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21</a:t>
            </a:r>
          </a:p>
        </p:txBody>
      </p:sp>
      <p:graphicFrame>
        <p:nvGraphicFramePr>
          <p:cNvPr id="4" name="Chart">
            <a:extLst xmlns:a="http://schemas.openxmlformats.org/drawingml/2006/main">
              <a:ext uri="{FF2B5EF4-FFF2-40B4-BE49-F238E27FC236}">
                <a16:creationId xmlns:a16="http://schemas.microsoft.com/office/drawing/2014/main" id="{44ECB765-269F-4E4C-B4AE-10AD340ABAC5}"/>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5e209f1e9b644dfd"/>
          </a:graphicData>
        </a:graphic>
      </p:graphicFrame>
      <p:sp>
        <p:nvSpPr>
          <p:cNvPr id="5" name="">
            <a:extLst xmlns:a="http://schemas.openxmlformats.org/drawingml/2006/main">
              <a:ext uri="{FF2B5EF4-FFF2-40B4-BE49-F238E27FC236}">
                <a16:creationId xmlns:a16="http://schemas.microsoft.com/office/drawing/2014/main" id="{383FAA2B-FADB-49D2-A644-FE64F148599C}"/>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The local RT congestion increases are much larger than the DA increases. The regional average is weaker, so a local price effect cannot replace the regional ticket.</a:t>
            </a:r>
          </a:p>
        </p:txBody>
      </p:sp>
      <p:sp>
        <p:nvSpPr>
          <p:cNvPr id="6" name="">
            <a:extLst xmlns:a="http://schemas.openxmlformats.org/drawingml/2006/main">
              <a:ext uri="{FF2B5EF4-FFF2-40B4-BE49-F238E27FC236}">
                <a16:creationId xmlns:a16="http://schemas.microsoft.com/office/drawing/2014/main" id="{7AEC6B32-23FD-47EB-AB87-F9E554CD1466}"/>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Coverage: 504/1,139 daytime records; only 44 with four inputs. March has little comparable support. These buses are references, not identified endpoints.</a:t>
            </a:r>
          </a:p>
        </p:txBody>
      </p:sp>
    </p:spTree>
    <p:extLst>
      <p:ext uri="{BB962C8B-B14F-4D97-AF65-F5344CB8AC3E}">
        <p14:creationId xmlns:p14="http://schemas.microsoft.com/office/powerpoint/2010/main" val="132870920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867B9C-057F-49C4-BF9F-BD7E9F42731D}"/>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B: heat matters, but the price difference must rise further</a:t>
            </a:r>
          </a:p>
        </p:txBody>
      </p:sp>
      <p:sp>
        <p:nvSpPr>
          <p:cNvPr id="2" name="">
            <a:extLst xmlns:a="http://schemas.openxmlformats.org/drawingml/2006/main">
              <a:ext uri="{FF2B5EF4-FFF2-40B4-BE49-F238E27FC236}">
                <a16:creationId xmlns:a16="http://schemas.microsoft.com/office/drawing/2014/main" id="{B4713F01-063C-4B18-9A1B-21C14CEB84DC}"/>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Richmond averages 81.2°F and reaches 88°F. Six proposed hours: 10:00–16:00 Eastern.</a:t>
            </a:r>
          </a:p>
        </p:txBody>
      </p:sp>
      <p:sp>
        <p:nvSpPr>
          <p:cNvPr id="3" name="">
            <a:extLst xmlns:a="http://schemas.openxmlformats.org/drawingml/2006/main">
              <a:ext uri="{FF2B5EF4-FFF2-40B4-BE49-F238E27FC236}">
                <a16:creationId xmlns:a16="http://schemas.microsoft.com/office/drawing/2014/main" id="{73D0C65E-CDD6-4E65-AFE2-21FF898C5BE5}"/>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22</a:t>
            </a:r>
          </a:p>
        </p:txBody>
      </p:sp>
      <p:graphicFrame>
        <p:nvGraphicFramePr>
          <p:cNvPr id="4" name="">
            <a:extLst xmlns:a="http://schemas.openxmlformats.org/drawingml/2006/main">
              <a:ext uri="{FF2B5EF4-FFF2-40B4-BE49-F238E27FC236}">
                <a16:creationId xmlns:a16="http://schemas.microsoft.com/office/drawing/2014/main" id="{B2EBE6FD-C087-490D-B33A-086E56E99701}"/>
              </a:ext>
            </a:extLst>
          </p:cNvPr>
          <p:cNvGraphicFramePr/>
          <p:nvPr/>
        </p:nvGraphicFramePr>
        <p:xfrm>
          <a:off xmlns:a="http://schemas.openxmlformats.org/drawingml/2006/main" x="714375" y="1809750"/>
          <a:ext xmlns:a="http://schemas.openxmlformats.org/drawingml/2006/main" cx="10763250" cy="2667000"/>
        </p:xfrm>
        <a:graphic xmlns:a="http://schemas.openxmlformats.org/drawingml/2006/main">
          <a:graphicData uri="http://schemas.openxmlformats.org/drawingml/2006/table">
            <a:tbl>
              <a:tblPr firstRow="1" bandRow="0"/>
              <a:tblGrid>
                <a:gridCol w="3571875"/>
                <a:gridCol w="3571875"/>
                <a:gridCol w="3619500"/>
              </a:tblGrid>
              <a:tr h="666750">
                <a:tc>
                  <a:txBody>
                    <a:bodyPr wrap="square" lIns="95250" tIns="95250" rIns="95250" bIns="95250">
                      <a:noAutofit/>
                    </a:bodyPr>
                    <a:lstStyle/>
                    <a:p>
                      <a:r>
                        <a:rPr sz="2025" b="1">
                          <a:solidFill>
                            <a:srgbClr val="15283B"/>
                          </a:solidFill>
                          <a:latin typeface="Helvetica Neue"/>
                          <a:ea typeface="Helvetica Neue"/>
                          <a:cs typeface="Helvetica Neue"/>
                        </a:rPr>
                        <a:t>DA difference</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2025" b="1">
                          <a:solidFill>
                            <a:srgbClr val="15283B"/>
                          </a:solidFill>
                          <a:latin typeface="Helvetica Neue"/>
                          <a:ea typeface="Helvetica Neue"/>
                          <a:cs typeface="Helvetica Neue"/>
                        </a:rPr>
                        <a:t>RT difference</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2025" b="1">
                          <a:solidFill>
                            <a:srgbClr val="15283B"/>
                          </a:solidFill>
                          <a:latin typeface="Helvetica Neue"/>
                          <a:ea typeface="Helvetica Neue"/>
                          <a:cs typeface="Helvetica Neue"/>
                        </a:rPr>
                        <a:t>Cash before fees</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666750">
                <a:tc>
                  <a:txBody>
                    <a:bodyPr wrap="square" lIns="95250" tIns="95250" rIns="95250" bIns="95250">
                      <a:noAutofit/>
                    </a:bodyPr>
                    <a:lstStyle/>
                    <a:p>
                      <a:r>
                        <a:rPr sz="2025" b="0">
                          <a:solidFill>
                            <a:srgbClr val="15283B"/>
                          </a:solidFill>
                          <a:latin typeface="Helvetica Neue"/>
                          <a:ea typeface="Helvetica Neue"/>
                          <a:cs typeface="Helvetica Neue"/>
                        </a:rPr>
                        <a:t>$5/MWh</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$0/MWh</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−$30</a:t>
                      </a:r>
                    </a:p>
                  </a:txBody>
                  <a:tcPr marL="91440" marR="91440" marT="45720" marB="45720">
                    <a:lnR w="5715">
                      <a:solidFill>
                        <a:srgbClr val="DCE2E7"/>
                      </a:solidFill>
                      <a:prstDash val="solid"/>
                    </a:lnR>
                    <a:lnB w="5715">
                      <a:solidFill>
                        <a:srgbClr val="DCE2E7"/>
                      </a:solidFill>
                      <a:prstDash val="solid"/>
                    </a:lnB>
                    <a:solidFill>
                      <a:srgbClr val="FFFFFF"/>
                    </a:solidFill>
                  </a:tcPr>
                </a:tc>
              </a:tr>
              <a:tr h="666750">
                <a:tc>
                  <a:txBody>
                    <a:bodyPr wrap="square" lIns="95250" tIns="95250" rIns="95250" bIns="95250">
                      <a:noAutofit/>
                    </a:bodyPr>
                    <a:lstStyle/>
                    <a:p>
                      <a:r>
                        <a:rPr sz="2025" b="0">
                          <a:solidFill>
                            <a:srgbClr val="15283B"/>
                          </a:solidFill>
                          <a:latin typeface="Helvetica Neue"/>
                          <a:ea typeface="Helvetica Neue"/>
                          <a:cs typeface="Helvetica Neue"/>
                        </a:rPr>
                        <a:t>$5/MWh</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$5/MWh</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$0</a:t>
                      </a:r>
                    </a:p>
                  </a:txBody>
                  <a:tcPr marL="91440" marR="91440" marT="45720" marB="45720">
                    <a:lnR w="5715">
                      <a:solidFill>
                        <a:srgbClr val="DCE2E7"/>
                      </a:solidFill>
                      <a:prstDash val="solid"/>
                    </a:lnR>
                    <a:lnB w="5715">
                      <a:solidFill>
                        <a:srgbClr val="DCE2E7"/>
                      </a:solidFill>
                      <a:prstDash val="solid"/>
                    </a:lnB>
                    <a:solidFill>
                      <a:srgbClr val="FFFFFF"/>
                    </a:solidFill>
                  </a:tcPr>
                </a:tc>
              </a:tr>
              <a:tr h="666750">
                <a:tc>
                  <a:txBody>
                    <a:bodyPr wrap="square" lIns="95250" tIns="95250" rIns="95250" bIns="95250">
                      <a:noAutofit/>
                    </a:bodyPr>
                    <a:lstStyle/>
                    <a:p>
                      <a:r>
                        <a:rPr sz="2025" b="0">
                          <a:solidFill>
                            <a:srgbClr val="15283B"/>
                          </a:solidFill>
                          <a:latin typeface="Helvetica Neue"/>
                          <a:ea typeface="Helvetica Neue"/>
                          <a:cs typeface="Helvetica Neue"/>
                        </a:rPr>
                        <a:t>$5/MWh</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$15/MWh</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+$60</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F16DA04-61A7-4D4B-A2C2-BE3024A3EC56}"/>
              </a:ext>
            </a:extLst>
          </p:cNvPr>
          <p:cNvSpPr>
            <a:spLocks xmlns:a="http://schemas.openxmlformats.org/drawingml/2006/main" noGrp="1"/>
          </p:cNvSpPr>
          <p:nvPr/>
        </p:nvSpPr>
        <p:spPr>
          <a:xfrm xmlns:a="http://schemas.openxmlformats.org/drawingml/2006/main">
            <a:off x="714375" y="5095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Heat raises demand. Sunshine adds solar and can tighten or ease delivery into Richmond. Expected heat may already be priced. The bid pays the RT difference minus the DA difference.</a:t>
            </a:r>
          </a:p>
        </p:txBody>
      </p:sp>
      <p:sp>
        <p:nvSpPr>
          <p:cNvPr id="6" name="">
            <a:extLst xmlns:a="http://schemas.openxmlformats.org/drawingml/2006/main">
              <a:ext uri="{FF2B5EF4-FFF2-40B4-BE49-F238E27FC236}">
                <a16:creationId xmlns:a16="http://schemas.microsoft.com/office/drawing/2014/main" id="{5C3297EA-6B41-4404-AF26-CA406D1D7A5D}"/>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Teaching example: all six 1-MW hourly bids selected. Actual payment uses accepted hours. The complete weather snapshot arrived after B’s auction. Dated estimate −$1.29: no bid.</a:t>
            </a:r>
          </a:p>
        </p:txBody>
      </p:sp>
    </p:spTree>
    <p:extLst>
      <p:ext uri="{BB962C8B-B14F-4D97-AF65-F5344CB8AC3E}">
        <p14:creationId xmlns:p14="http://schemas.microsoft.com/office/powerpoint/2010/main" val="128496787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ECDF36-1A95-4546-8D3A-DAD3314DCC5E}"/>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B: confidence depends on local support</a:t>
            </a:r>
          </a:p>
        </p:txBody>
      </p:sp>
      <p:sp>
        <p:nvSpPr>
          <p:cNvPr id="2" name="">
            <a:extLst xmlns:a="http://schemas.openxmlformats.org/drawingml/2006/main">
              <a:ext uri="{FF2B5EF4-FFF2-40B4-BE49-F238E27FC236}">
                <a16:creationId xmlns:a16="http://schemas.microsoft.com/office/drawing/2014/main" id="{82DD0A47-D808-471D-98C0-E829D9B7D8B3}"/>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The local RT pattern has support. The anonymous electrical cause and regional gain remain uncertain.</a:t>
            </a:r>
          </a:p>
        </p:txBody>
      </p:sp>
      <p:sp>
        <p:nvSpPr>
          <p:cNvPr id="3" name="">
            <a:extLst xmlns:a="http://schemas.openxmlformats.org/drawingml/2006/main">
              <a:ext uri="{FF2B5EF4-FFF2-40B4-BE49-F238E27FC236}">
                <a16:creationId xmlns:a16="http://schemas.microsoft.com/office/drawing/2014/main" id="{DE76913B-C72B-4E0A-8A7F-86B0EBC62933}"/>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23</a:t>
            </a:r>
          </a:p>
        </p:txBody>
      </p:sp>
      <p:graphicFrame>
        <p:nvGraphicFramePr>
          <p:cNvPr id="4" name="">
            <a:extLst xmlns:a="http://schemas.openxmlformats.org/drawingml/2006/main">
              <a:ext uri="{FF2B5EF4-FFF2-40B4-BE49-F238E27FC236}">
                <a16:creationId xmlns:a16="http://schemas.microsoft.com/office/drawing/2014/main" id="{C4DCAC19-A117-4925-B2EF-246C305BE337}"/>
              </a:ext>
            </a:extLst>
          </p:cNvPr>
          <p:cNvGraphicFramePr/>
          <p:nvPr/>
        </p:nvGraphicFramePr>
        <p:xfrm>
          <a:off xmlns:a="http://schemas.openxmlformats.org/drawingml/2006/main" x="714375" y="1762125"/>
          <a:ext xmlns:a="http://schemas.openxmlformats.org/drawingml/2006/main" cx="10763250" cy="3952875"/>
        </p:xfrm>
        <a:graphic xmlns:a="http://schemas.openxmlformats.org/drawingml/2006/main">
          <a:graphicData uri="http://schemas.openxmlformats.org/drawingml/2006/table">
            <a:tbl>
              <a:tblPr firstRow="1" bandRow="0"/>
              <a:tblGrid>
                <a:gridCol w="2476500"/>
                <a:gridCol w="8286750"/>
              </a:tblGrid>
              <a:tr h="790575">
                <a:tc>
                  <a:txBody>
                    <a:bodyPr wrap="square" lIns="95250" tIns="95250" rIns="95250" bIns="95250">
                      <a:noAutofit/>
                    </a:bodyPr>
                    <a:lstStyle/>
                    <a:p>
                      <a:r>
                        <a:rPr sz="1875" b="1">
                          <a:solidFill>
                            <a:srgbClr val="15283B"/>
                          </a:solidFill>
                          <a:latin typeface="Helvetica Neue"/>
                          <a:ea typeface="Helvetica Neue"/>
                          <a:cs typeface="Helvetica Neue"/>
                        </a:rPr>
                        <a:t>Question</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875" b="1">
                          <a:solidFill>
                            <a:srgbClr val="15283B"/>
                          </a:solidFill>
                          <a:latin typeface="Helvetica Neue"/>
                          <a:ea typeface="Helvetica Neue"/>
                          <a:cs typeface="Helvetica Neue"/>
                        </a:rPr>
                        <a:t>Answer</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Candidate direction</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Delivery from the wider Dominion area into the costly Richmond-area pocket.</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Rivals and support</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Plant dispatch, network state and other limits can matter. Few similar hours, especially in March, limit coverage.</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What would weaken the view?</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A clock correction removing the premium, or measured injection/flow effects opposing the proposed direction.</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Advance watchlist</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SOUTH solar and changes, DOM/MIDATL demand, WEST wind, local available supply and delivery.</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832357C-7715-4934-A057-C8AF279C1ABE}"/>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Later DA bus prices may update the intraday view, but cannot inform an earlier auction bid. No reliable advance warning odds are supplied.</a:t>
            </a:r>
          </a:p>
        </p:txBody>
      </p:sp>
    </p:spTree>
    <p:extLst>
      <p:ext uri="{BB962C8B-B14F-4D97-AF65-F5344CB8AC3E}">
        <p14:creationId xmlns:p14="http://schemas.microsoft.com/office/powerpoint/2010/main" val="12729652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F8E3B6-D268-445C-B919-A21E3DB3BE10}"/>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binding is common before dawn</a:t>
            </a:r>
          </a:p>
        </p:txBody>
      </p:sp>
      <p:sp>
        <p:nvSpPr>
          <p:cNvPr id="2" name="">
            <a:extLst xmlns:a="http://schemas.openxmlformats.org/drawingml/2006/main">
              <a:ext uri="{FF2B5EF4-FFF2-40B4-BE49-F238E27FC236}">
                <a16:creationId xmlns:a16="http://schemas.microsoft.com/office/drawing/2014/main" id="{4CC73C6D-3BB0-4D9E-9C48-E7213EC1F50C}"/>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January–August in each year. Share of eligible hours containing binding.</a:t>
            </a:r>
          </a:p>
        </p:txBody>
      </p:sp>
      <p:sp>
        <p:nvSpPr>
          <p:cNvPr id="3" name="">
            <a:extLst xmlns:a="http://schemas.openxmlformats.org/drawingml/2006/main">
              <a:ext uri="{FF2B5EF4-FFF2-40B4-BE49-F238E27FC236}">
                <a16:creationId xmlns:a16="http://schemas.microsoft.com/office/drawing/2014/main" id="{4AF2ADD1-4781-4E5E-B124-27DB3E4AC6FB}"/>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24</a:t>
            </a:r>
          </a:p>
        </p:txBody>
      </p:sp>
      <p:graphicFrame>
        <p:nvGraphicFramePr>
          <p:cNvPr id="4" name="Chart">
            <a:extLst xmlns:a="http://schemas.openxmlformats.org/drawingml/2006/main">
              <a:ext uri="{FF2B5EF4-FFF2-40B4-BE49-F238E27FC236}">
                <a16:creationId xmlns:a16="http://schemas.microsoft.com/office/drawing/2014/main" id="{498A2A06-F995-4FEA-B242-CBA552C46073}"/>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f6a7e3b1e9524cf5"/>
          </a:graphicData>
        </a:graphic>
      </p:graphicFrame>
      <p:sp>
        <p:nvSpPr>
          <p:cNvPr id="5" name="">
            <a:extLst xmlns:a="http://schemas.openxmlformats.org/drawingml/2006/main">
              <a:ext uri="{FF2B5EF4-FFF2-40B4-BE49-F238E27FC236}">
                <a16:creationId xmlns:a16="http://schemas.microsoft.com/office/drawing/2014/main" id="{138C4BCA-489D-4BCF-9A98-97A80E80C445}"/>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Labels 04–07 stand out. Winter leads in 2026, while summer led in 2024. The seasonal pattern changes.</a:t>
            </a:r>
          </a:p>
        </p:txBody>
      </p:sp>
      <p:sp>
        <p:nvSpPr>
          <p:cNvPr id="6" name="">
            <a:extLst xmlns:a="http://schemas.openxmlformats.org/drawingml/2006/main">
              <a:ext uri="{FF2B5EF4-FFF2-40B4-BE49-F238E27FC236}">
                <a16:creationId xmlns:a16="http://schemas.microsoft.com/office/drawing/2014/main" id="{27E9618A-14BB-4891-B9CD-DD4374FAEC6C}"/>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2026 label 06: 55.4%; Sunday 52.0%, Monday 38.0%; winter 50.3%, summer 17.1%. Source clock remains provisional.</a:t>
            </a:r>
          </a:p>
        </p:txBody>
      </p:sp>
    </p:spTree>
    <p:extLst>
      <p:ext uri="{BB962C8B-B14F-4D97-AF65-F5344CB8AC3E}">
        <p14:creationId xmlns:p14="http://schemas.microsoft.com/office/powerpoint/2010/main" val="164413755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538489-E297-4789-9B23-BE9EF3EED6AD}"/>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low local demand is not required</a:t>
            </a:r>
          </a:p>
        </p:txBody>
      </p:sp>
      <p:sp>
        <p:nvSpPr>
          <p:cNvPr id="2" name="">
            <a:extLst xmlns:a="http://schemas.openxmlformats.org/drawingml/2006/main">
              <a:ext uri="{FF2B5EF4-FFF2-40B4-BE49-F238E27FC236}">
                <a16:creationId xmlns:a16="http://schemas.microsoft.com/office/drawing/2014/main" id="{E2DD80CC-DA71-4159-890F-293FA6FFDF4E}"/>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Binding minus nonbinding hours in similar calendar conditions.</a:t>
            </a:r>
          </a:p>
        </p:txBody>
      </p:sp>
      <p:sp>
        <p:nvSpPr>
          <p:cNvPr id="3" name="">
            <a:extLst xmlns:a="http://schemas.openxmlformats.org/drawingml/2006/main">
              <a:ext uri="{FF2B5EF4-FFF2-40B4-BE49-F238E27FC236}">
                <a16:creationId xmlns:a16="http://schemas.microsoft.com/office/drawing/2014/main" id="{39C5722D-3BE3-4B15-AB4B-FC1D748F755B}"/>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25</a:t>
            </a:r>
          </a:p>
        </p:txBody>
      </p:sp>
      <p:graphicFrame>
        <p:nvGraphicFramePr>
          <p:cNvPr id="4" name="Chart">
            <a:extLst xmlns:a="http://schemas.openxmlformats.org/drawingml/2006/main">
              <a:ext uri="{FF2B5EF4-FFF2-40B4-BE49-F238E27FC236}">
                <a16:creationId xmlns:a16="http://schemas.microsoft.com/office/drawing/2014/main" id="{BDD32AFC-7154-4F2D-95C3-1E7840B49614}"/>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90753b2fb9bf4bd7"/>
          </a:graphicData>
        </a:graphic>
      </p:graphicFrame>
      <p:sp>
        <p:nvSpPr>
          <p:cNvPr id="5" name="">
            <a:extLst xmlns:a="http://schemas.openxmlformats.org/drawingml/2006/main">
              <a:ext uri="{FF2B5EF4-FFF2-40B4-BE49-F238E27FC236}">
                <a16:creationId xmlns:a16="http://schemas.microsoft.com/office/drawing/2014/main" id="{26DA081C-CD17-4C0A-B6FA-E7D3A83C03CF}"/>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MIDATL demand is 1.24 GW higher. ComEd’s −0.06 GW difference is uncertain. Demand elsewhere can matter without unusually low local demand.</a:t>
            </a:r>
          </a:p>
        </p:txBody>
      </p:sp>
      <p:sp>
        <p:nvSpPr>
          <p:cNvPr id="6" name="">
            <a:extLst xmlns:a="http://schemas.openxmlformats.org/drawingml/2006/main">
              <a:ext uri="{FF2B5EF4-FFF2-40B4-BE49-F238E27FC236}">
                <a16:creationId xmlns:a16="http://schemas.microsoft.com/office/drawing/2014/main" id="{0AC211C4-183C-4B20-9341-171C451CE3BB}"/>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4,359 matches. PJM +2.80 GW. ComEd week range −0.236 to +0.085 GW. Regions have different footprints.</a:t>
            </a:r>
          </a:p>
        </p:txBody>
      </p:sp>
    </p:spTree>
    <p:extLst>
      <p:ext uri="{BB962C8B-B14F-4D97-AF65-F5344CB8AC3E}">
        <p14:creationId xmlns:p14="http://schemas.microsoft.com/office/powerpoint/2010/main" val="43398783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9A6111-446A-43B0-9B7A-13FBA7463735}"/>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western wind is the main renewable clue</a:t>
            </a:r>
          </a:p>
        </p:txBody>
      </p:sp>
      <p:sp>
        <p:nvSpPr>
          <p:cNvPr id="2" name="">
            <a:extLst xmlns:a="http://schemas.openxmlformats.org/drawingml/2006/main">
              <a:ext uri="{FF2B5EF4-FFF2-40B4-BE49-F238E27FC236}">
                <a16:creationId xmlns:a16="http://schemas.microsoft.com/office/drawing/2014/main" id="{4E60D5ED-6FBD-4648-BFE7-5CCD40A91D00}"/>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WEST solar and changes, plus WEST wind. Binding minus similar hours.</a:t>
            </a:r>
          </a:p>
        </p:txBody>
      </p:sp>
      <p:sp>
        <p:nvSpPr>
          <p:cNvPr id="3" name="">
            <a:extLst xmlns:a="http://schemas.openxmlformats.org/drawingml/2006/main">
              <a:ext uri="{FF2B5EF4-FFF2-40B4-BE49-F238E27FC236}">
                <a16:creationId xmlns:a16="http://schemas.microsoft.com/office/drawing/2014/main" id="{CCE2812A-EB12-4F16-8685-E20F0DE71613}"/>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26</a:t>
            </a:r>
          </a:p>
        </p:txBody>
      </p:sp>
      <p:graphicFrame>
        <p:nvGraphicFramePr>
          <p:cNvPr id="4" name="Chart">
            <a:extLst xmlns:a="http://schemas.openxmlformats.org/drawingml/2006/main">
              <a:ext uri="{FF2B5EF4-FFF2-40B4-BE49-F238E27FC236}">
                <a16:creationId xmlns:a16="http://schemas.microsoft.com/office/drawing/2014/main" id="{346A80FC-F71F-41C0-A211-05C399E93CD6}"/>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25faf066b5514deb"/>
          </a:graphicData>
        </a:graphic>
      </p:graphicFrame>
      <p:sp>
        <p:nvSpPr>
          <p:cNvPr id="5" name="">
            <a:extLst xmlns:a="http://schemas.openxmlformats.org/drawingml/2006/main">
              <a:ext uri="{FF2B5EF4-FFF2-40B4-BE49-F238E27FC236}">
                <a16:creationId xmlns:a16="http://schemas.microsoft.com/office/drawing/2014/main" id="{49852ED8-7C03-47C6-91CA-187FA8687518}"/>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WEST wind is 788 MW higher. Solar is a secondary clue. Extra western supply can create outward delivery pressure when demand elsewhere needs power.</a:t>
            </a:r>
          </a:p>
        </p:txBody>
      </p:sp>
      <p:sp>
        <p:nvSpPr>
          <p:cNvPr id="6" name="">
            <a:extLst xmlns:a="http://schemas.openxmlformats.org/drawingml/2006/main">
              <a:ext uri="{FF2B5EF4-FFF2-40B4-BE49-F238E27FC236}">
                <a16:creationId xmlns:a16="http://schemas.microsoft.com/office/drawing/2014/main" id="{FA13B61C-AC91-467B-8035-60E5B0DD38CB}"/>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4,356–4,361 matches. Solar level and 1h change are uncertain; 3h change −40 MW, week range −71 to −10 MW. WEST output does not measure ComEd exports.</a:t>
            </a:r>
          </a:p>
        </p:txBody>
      </p:sp>
    </p:spTree>
    <p:extLst>
      <p:ext uri="{BB962C8B-B14F-4D97-AF65-F5344CB8AC3E}">
        <p14:creationId xmlns:p14="http://schemas.microsoft.com/office/powerpoint/2010/main" val="171166930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D1476B-BFA6-4697-B127-CFCF409FCD09}"/>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fuel differences are uncertain</a:t>
            </a:r>
          </a:p>
        </p:txBody>
      </p:sp>
      <p:sp>
        <p:nvSpPr>
          <p:cNvPr id="2" name="">
            <a:extLst xmlns:a="http://schemas.openxmlformats.org/drawingml/2006/main">
              <a:ext uri="{FF2B5EF4-FFF2-40B4-BE49-F238E27FC236}">
                <a16:creationId xmlns:a16="http://schemas.microsoft.com/office/drawing/2014/main" id="{81A724C9-4628-49CF-9FA6-74F52568075D}"/>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Whole-PJM actual fuel output. Percentages below fuel names are binding-hour shares.</a:t>
            </a:r>
          </a:p>
        </p:txBody>
      </p:sp>
      <p:sp>
        <p:nvSpPr>
          <p:cNvPr id="3" name="">
            <a:extLst xmlns:a="http://schemas.openxmlformats.org/drawingml/2006/main">
              <a:ext uri="{FF2B5EF4-FFF2-40B4-BE49-F238E27FC236}">
                <a16:creationId xmlns:a16="http://schemas.microsoft.com/office/drawing/2014/main" id="{434E07B4-8B70-47D5-85A9-D95FEFC927B8}"/>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27</a:t>
            </a:r>
          </a:p>
        </p:txBody>
      </p:sp>
      <p:graphicFrame>
        <p:nvGraphicFramePr>
          <p:cNvPr id="4" name="Chart">
            <a:extLst xmlns:a="http://schemas.openxmlformats.org/drawingml/2006/main">
              <a:ext uri="{FF2B5EF4-FFF2-40B4-BE49-F238E27FC236}">
                <a16:creationId xmlns:a16="http://schemas.microsoft.com/office/drawing/2014/main" id="{9511AB31-E680-43F9-BAA4-60A71EC88422}"/>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9324ef8ec42045f2"/>
          </a:graphicData>
        </a:graphic>
      </p:graphicFrame>
      <p:sp>
        <p:nvSpPr>
          <p:cNvPr id="5" name="">
            <a:extLst xmlns:a="http://schemas.openxmlformats.org/drawingml/2006/main">
              <a:ext uri="{FF2B5EF4-FFF2-40B4-BE49-F238E27FC236}">
                <a16:creationId xmlns:a16="http://schemas.microsoft.com/office/drawing/2014/main" id="{5374BEE0-2985-439E-B2DB-76DCCB3D85CF}"/>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The mix describes the broader system. It does not locate available generation behind C or identify a plant outage.</a:t>
            </a:r>
          </a:p>
        </p:txBody>
      </p:sp>
      <p:sp>
        <p:nvSpPr>
          <p:cNvPr id="6" name="">
            <a:extLst xmlns:a="http://schemas.openxmlformats.org/drawingml/2006/main">
              <a:ext uri="{FF2B5EF4-FFF2-40B4-BE49-F238E27FC236}">
                <a16:creationId xmlns:a16="http://schemas.microsoft.com/office/drawing/2014/main" id="{16153CCB-1614-42C7-ABD9-EA263FFEE47F}"/>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Mean shares: gas 41.1%, nuclear 32.0%, coal 16.4%. Gas, coal and nuclear MW differences are uncertain.</a:t>
            </a:r>
          </a:p>
        </p:txBody>
      </p:sp>
    </p:spTree>
    <p:extLst>
      <p:ext uri="{BB962C8B-B14F-4D97-AF65-F5344CB8AC3E}">
        <p14:creationId xmlns:p14="http://schemas.microsoft.com/office/powerpoint/2010/main" val="89866075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8AA5B9-5B3A-4B49-9393-7EC0E81F43F6}"/>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Chicago prices are cheaper relative to Western</a:t>
            </a:r>
          </a:p>
        </p:txBody>
      </p:sp>
      <p:sp>
        <p:nvSpPr>
          <p:cNvPr id="2" name="">
            <a:extLst xmlns:a="http://schemas.openxmlformats.org/drawingml/2006/main">
              <a:ext uri="{FF2B5EF4-FFF2-40B4-BE49-F238E27FC236}">
                <a16:creationId xmlns:a16="http://schemas.microsoft.com/office/drawing/2014/main" id="{7299CD93-E8CB-46B4-BD04-E71F66FCB3DE}"/>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COMED_RESID_AGG minus WESTERN HUB. DA and RT total/congestion separately.</a:t>
            </a:r>
          </a:p>
        </p:txBody>
      </p:sp>
      <p:sp>
        <p:nvSpPr>
          <p:cNvPr id="3" name="">
            <a:extLst xmlns:a="http://schemas.openxmlformats.org/drawingml/2006/main">
              <a:ext uri="{FF2B5EF4-FFF2-40B4-BE49-F238E27FC236}">
                <a16:creationId xmlns:a16="http://schemas.microsoft.com/office/drawing/2014/main" id="{B1C255B5-84AB-4217-AD28-61E10A44C216}"/>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28</a:t>
            </a:r>
          </a:p>
        </p:txBody>
      </p:sp>
      <p:graphicFrame>
        <p:nvGraphicFramePr>
          <p:cNvPr id="4" name="Chart">
            <a:extLst xmlns:a="http://schemas.openxmlformats.org/drawingml/2006/main">
              <a:ext uri="{FF2B5EF4-FFF2-40B4-BE49-F238E27FC236}">
                <a16:creationId xmlns:a16="http://schemas.microsoft.com/office/drawing/2014/main" id="{0BA59172-3642-48E4-9704-E832DBAA8833}"/>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a9a8a63bfdf84a5c"/>
          </a:graphicData>
        </a:graphic>
      </p:graphicFrame>
      <p:sp>
        <p:nvSpPr>
          <p:cNvPr id="5" name="">
            <a:extLst xmlns:a="http://schemas.openxmlformats.org/drawingml/2006/main">
              <a:ext uri="{FF2B5EF4-FFF2-40B4-BE49-F238E27FC236}">
                <a16:creationId xmlns:a16="http://schemas.microsoft.com/office/drawing/2014/main" id="{68D695D3-DA07-4916-A913-BB8DDAC1A127}"/>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Binding hours have a DA total difference $16.63/MWh lower and RT congestion $30.35 lower. Limited outward delivery fits that discount.</a:t>
            </a:r>
          </a:p>
        </p:txBody>
      </p:sp>
      <p:sp>
        <p:nvSpPr>
          <p:cNvPr id="6" name="">
            <a:extLst xmlns:a="http://schemas.openxmlformats.org/drawingml/2006/main">
              <a:ext uri="{FF2B5EF4-FFF2-40B4-BE49-F238E27FC236}">
                <a16:creationId xmlns:a16="http://schemas.microsoft.com/office/drawing/2014/main" id="{E90FB534-3F39-47FD-9B08-6385C106E73F}"/>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Discounts also occur without C. These prices do not identify its line flow or isolate its cause. The proposed contract settles at NI Hub, not ComEd residual.</a:t>
            </a:r>
          </a:p>
        </p:txBody>
      </p:sp>
    </p:spTree>
    <p:extLst>
      <p:ext uri="{BB962C8B-B14F-4D97-AF65-F5344CB8AC3E}">
        <p14:creationId xmlns:p14="http://schemas.microsoft.com/office/powerpoint/2010/main" val="105279151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F70DA3-FAE2-4FA0-B9B4-2F027B7FE75F}"/>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windy weather tracks western wind output</a:t>
            </a:r>
          </a:p>
        </p:txBody>
      </p:sp>
      <p:sp>
        <p:nvSpPr>
          <p:cNvPr id="2" name="">
            <a:extLst xmlns:a="http://schemas.openxmlformats.org/drawingml/2006/main">
              <a:ext uri="{FF2B5EF4-FFF2-40B4-BE49-F238E27FC236}">
                <a16:creationId xmlns:a16="http://schemas.microsoft.com/office/drawing/2014/main" id="{788A12CC-F643-4A2D-9584-E87DA0C0497A}"/>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Actual Chicago airport ground wind and WEST generation, 967 overnight daily blocks.</a:t>
            </a:r>
          </a:p>
        </p:txBody>
      </p:sp>
      <p:sp>
        <p:nvSpPr>
          <p:cNvPr id="3" name="">
            <a:extLst xmlns:a="http://schemas.openxmlformats.org/drawingml/2006/main">
              <a:ext uri="{FF2B5EF4-FFF2-40B4-BE49-F238E27FC236}">
                <a16:creationId xmlns:a16="http://schemas.microsoft.com/office/drawing/2014/main" id="{B2539412-EE9D-4A99-8E4B-5A196D430161}"/>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29</a:t>
            </a:r>
          </a:p>
        </p:txBody>
      </p:sp>
      <p:graphicFrame>
        <p:nvGraphicFramePr>
          <p:cNvPr id="4" name="Chart">
            <a:extLst xmlns:a="http://schemas.openxmlformats.org/drawingml/2006/main">
              <a:ext uri="{FF2B5EF4-FFF2-40B4-BE49-F238E27FC236}">
                <a16:creationId xmlns:a16="http://schemas.microsoft.com/office/drawing/2014/main" id="{2574165F-5DA0-4597-9869-4A8A6D29A7A4}"/>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a3816ca8785046df"/>
          </a:graphicData>
        </a:graphic>
      </p:graphicFrame>
      <p:sp>
        <p:nvSpPr>
          <p:cNvPr id="5" name="">
            <a:extLst xmlns:a="http://schemas.openxmlformats.org/drawingml/2006/main">
              <a:ext uri="{FF2B5EF4-FFF2-40B4-BE49-F238E27FC236}">
                <a16:creationId xmlns:a16="http://schemas.microsoft.com/office/drawing/2014/main" id="{0F870240-846C-4297-A9DA-5C052C7F1F7C}"/>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The connection stays positive in all three years. Windy weather is useful supply evidence, while its price effect also depends on demand and delivery.</a:t>
            </a:r>
          </a:p>
        </p:txBody>
      </p:sp>
      <p:sp>
        <p:nvSpPr>
          <p:cNvPr id="6" name="">
            <a:extLst xmlns:a="http://schemas.openxmlformats.org/drawingml/2006/main">
              <a:ext uri="{FF2B5EF4-FFF2-40B4-BE49-F238E27FC236}">
                <a16:creationId xmlns:a16="http://schemas.microsoft.com/office/drawing/2014/main" id="{2766EEC5-7403-46FB-AD7E-750BDDB55EC5}"/>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Raw rank correlation +0.754; calendar-adjusted +0.698. Actual observations do not calibrate tomorrow’s fleet output from one ground station.</a:t>
            </a:r>
          </a:p>
        </p:txBody>
      </p:sp>
    </p:spTree>
    <p:extLst>
      <p:ext uri="{BB962C8B-B14F-4D97-AF65-F5344CB8AC3E}">
        <p14:creationId xmlns:p14="http://schemas.microsoft.com/office/powerpoint/2010/main" val="17827662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035D32-4D02-4B5E-B2AA-FE7D2E43679C}"/>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cool, windy weather can support the sale</a:t>
            </a:r>
          </a:p>
        </p:txBody>
      </p:sp>
      <p:sp>
        <p:nvSpPr>
          <p:cNvPr id="2" name="">
            <a:extLst xmlns:a="http://schemas.openxmlformats.org/drawingml/2006/main">
              <a:ext uri="{FF2B5EF4-FFF2-40B4-BE49-F238E27FC236}">
                <a16:creationId xmlns:a16="http://schemas.microsoft.com/office/drawing/2014/main" id="{3C97773F-5864-44A5-BBEC-2AA6D34E7104}"/>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Chicago averages 57°F with about 20 mph ground wind. Proposed NI-minus-Western sale.</a:t>
            </a:r>
          </a:p>
        </p:txBody>
      </p:sp>
      <p:sp>
        <p:nvSpPr>
          <p:cNvPr id="3" name="">
            <a:extLst xmlns:a="http://schemas.openxmlformats.org/drawingml/2006/main">
              <a:ext uri="{FF2B5EF4-FFF2-40B4-BE49-F238E27FC236}">
                <a16:creationId xmlns:a16="http://schemas.microsoft.com/office/drawing/2014/main" id="{E19E09F3-40D3-4C78-9B62-779E287F2E81}"/>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30</a:t>
            </a:r>
          </a:p>
        </p:txBody>
      </p:sp>
      <p:graphicFrame>
        <p:nvGraphicFramePr>
          <p:cNvPr id="4" name="">
            <a:extLst xmlns:a="http://schemas.openxmlformats.org/drawingml/2006/main">
              <a:ext uri="{FF2B5EF4-FFF2-40B4-BE49-F238E27FC236}">
                <a16:creationId xmlns:a16="http://schemas.microsoft.com/office/drawing/2014/main" id="{749E8FB0-55C6-4C40-B877-B54C3ABCA002}"/>
              </a:ext>
            </a:extLst>
          </p:cNvPr>
          <p:cNvGraphicFramePr/>
          <p:nvPr/>
        </p:nvGraphicFramePr>
        <p:xfrm>
          <a:off xmlns:a="http://schemas.openxmlformats.org/drawingml/2006/main" x="714375" y="1809750"/>
          <a:ext xmlns:a="http://schemas.openxmlformats.org/drawingml/2006/main" cx="10763250" cy="2667000"/>
        </p:xfrm>
        <a:graphic xmlns:a="http://schemas.openxmlformats.org/drawingml/2006/main">
          <a:graphicData uri="http://schemas.openxmlformats.org/drawingml/2006/table">
            <a:tbl>
              <a:tblPr firstRow="1" bandRow="0"/>
              <a:tblGrid>
                <a:gridCol w="3286125"/>
                <a:gridCol w="3714750"/>
                <a:gridCol w="3762375"/>
              </a:tblGrid>
              <a:tr h="666750">
                <a:tc>
                  <a:txBody>
                    <a:bodyPr wrap="square" lIns="95250" tIns="95250" rIns="95250" bIns="95250">
                      <a:noAutofit/>
                    </a:bodyPr>
                    <a:lstStyle/>
                    <a:p>
                      <a:r>
                        <a:rPr sz="2025" b="1">
                          <a:solidFill>
                            <a:srgbClr val="15283B"/>
                          </a:solidFill>
                          <a:latin typeface="Helvetica Neue"/>
                          <a:ea typeface="Helvetica Neue"/>
                          <a:cs typeface="Helvetica Neue"/>
                        </a:rPr>
                        <a:t>Final difference</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2025" b="1">
                          <a:solidFill>
                            <a:srgbClr val="15283B"/>
                          </a:solidFill>
                          <a:latin typeface="Helvetica Neue"/>
                          <a:ea typeface="Helvetica Neue"/>
                          <a:cs typeface="Helvetica Neue"/>
                        </a:rPr>
                        <a:t>Net package cash</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2025" b="1">
                          <a:solidFill>
                            <a:srgbClr val="15283B"/>
                          </a:solidFill>
                          <a:latin typeface="Helvetica Neue"/>
                          <a:ea typeface="Helvetica Neue"/>
                          <a:cs typeface="Helvetica Neue"/>
                        </a:rPr>
                        <a:t>Result</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666750">
                <a:tc>
                  <a:txBody>
                    <a:bodyPr wrap="square" lIns="95250" tIns="95250" rIns="95250" bIns="95250">
                      <a:noAutofit/>
                    </a:bodyPr>
                    <a:lstStyle/>
                    <a:p>
                      <a:r>
                        <a:rPr sz="2025" b="0">
                          <a:solidFill>
                            <a:srgbClr val="15283B"/>
                          </a:solidFill>
                          <a:latin typeface="Helvetica Neue"/>
                          <a:ea typeface="Helvetica Neue"/>
                          <a:cs typeface="Helvetica Neue"/>
                        </a:rPr>
                        <a:t>−$13/MWh</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+$250</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Gain</a:t>
                      </a:r>
                    </a:p>
                  </a:txBody>
                  <a:tcPr marL="91440" marR="91440" marT="45720" marB="45720">
                    <a:lnR w="5715">
                      <a:solidFill>
                        <a:srgbClr val="DCE2E7"/>
                      </a:solidFill>
                      <a:prstDash val="solid"/>
                    </a:lnR>
                    <a:lnB w="5715">
                      <a:solidFill>
                        <a:srgbClr val="DCE2E7"/>
                      </a:solidFill>
                      <a:prstDash val="solid"/>
                    </a:lnB>
                    <a:solidFill>
                      <a:srgbClr val="FFFFFF"/>
                    </a:solidFill>
                  </a:tcPr>
                </a:tc>
              </a:tr>
              <a:tr h="666750">
                <a:tc>
                  <a:txBody>
                    <a:bodyPr wrap="square" lIns="95250" tIns="95250" rIns="95250" bIns="95250">
                      <a:noAutofit/>
                    </a:bodyPr>
                    <a:lstStyle/>
                    <a:p>
                      <a:r>
                        <a:rPr sz="2025" b="0">
                          <a:solidFill>
                            <a:srgbClr val="15283B"/>
                          </a:solidFill>
                          <a:latin typeface="Helvetica Neue"/>
                          <a:ea typeface="Helvetica Neue"/>
                          <a:cs typeface="Helvetica Neue"/>
                        </a:rPr>
                        <a:t>−$8/MWh</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$0</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Costs covered</a:t>
                      </a:r>
                    </a:p>
                  </a:txBody>
                  <a:tcPr marL="91440" marR="91440" marT="45720" marB="45720">
                    <a:lnR w="5715">
                      <a:solidFill>
                        <a:srgbClr val="DCE2E7"/>
                      </a:solidFill>
                      <a:prstDash val="solid"/>
                    </a:lnR>
                    <a:lnB w="5715">
                      <a:solidFill>
                        <a:srgbClr val="DCE2E7"/>
                      </a:solidFill>
                      <a:prstDash val="solid"/>
                    </a:lnB>
                    <a:solidFill>
                      <a:srgbClr val="FFFFFF"/>
                    </a:solidFill>
                  </a:tcPr>
                </a:tc>
              </a:tr>
              <a:tr h="666750">
                <a:tc>
                  <a:txBody>
                    <a:bodyPr wrap="square" lIns="95250" tIns="95250" rIns="95250" bIns="95250">
                      <a:noAutofit/>
                    </a:bodyPr>
                    <a:lstStyle/>
                    <a:p>
                      <a:r>
                        <a:rPr sz="2025" b="0">
                          <a:solidFill>
                            <a:srgbClr val="15283B"/>
                          </a:solidFill>
                          <a:latin typeface="Helvetica Neue"/>
                          <a:ea typeface="Helvetica Neue"/>
                          <a:cs typeface="Helvetica Neue"/>
                        </a:rPr>
                        <a:t>+$5/MWh</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−$650</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2025" b="0">
                          <a:solidFill>
                            <a:srgbClr val="15283B"/>
                          </a:solidFill>
                          <a:latin typeface="Helvetica Neue"/>
                          <a:ea typeface="Helvetica Neue"/>
                          <a:cs typeface="Helvetica Neue"/>
                        </a:rPr>
                        <a:t>Loss</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EFC4058-D081-46F2-B432-2F9491B96E8E}"/>
              </a:ext>
            </a:extLst>
          </p:cNvPr>
          <p:cNvSpPr>
            <a:spLocks xmlns:a="http://schemas.openxmlformats.org/drawingml/2006/main" noGrp="1"/>
          </p:cNvSpPr>
          <p:nvPr/>
        </p:nvSpPr>
        <p:spPr>
          <a:xfrm xmlns:a="http://schemas.openxmlformats.org/drawingml/2006/main">
            <a:off x="714375" y="5095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Mild weather can limit cooling needs and wind can add western supply. If delivery out is tight, NI can remain cheaper. Less wind, more local demand or easier delivery can shrink the discount.</a:t>
            </a:r>
          </a:p>
        </p:txBody>
      </p:sp>
      <p:sp>
        <p:nvSpPr>
          <p:cNvPr id="6" name="">
            <a:extLst xmlns:a="http://schemas.openxmlformats.org/drawingml/2006/main">
              <a:ext uri="{FF2B5EF4-FFF2-40B4-BE49-F238E27FC236}">
                <a16:creationId xmlns:a16="http://schemas.microsoft.com/office/drawing/2014/main" id="{1E27C7E6-3C2E-43E4-8456-C9BF7EB6A40B}"/>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Teaching sale at −$5/MWh, 50 MWh and $3/MWh costs. The issued 9 GW wind quantity is PJM-wide. Current unusually high remote demand remains unproved.</a:t>
            </a:r>
          </a:p>
        </p:txBody>
      </p:sp>
    </p:spTree>
    <p:extLst>
      <p:ext uri="{BB962C8B-B14F-4D97-AF65-F5344CB8AC3E}">
        <p14:creationId xmlns:p14="http://schemas.microsoft.com/office/powerpoint/2010/main" val="214403464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0D56DA-360B-4DE0-8648-AE7FD4600165}"/>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confidence and what to watch</a:t>
            </a:r>
          </a:p>
        </p:txBody>
      </p:sp>
      <p:sp>
        <p:nvSpPr>
          <p:cNvPr id="2" name="">
            <a:extLst xmlns:a="http://schemas.openxmlformats.org/drawingml/2006/main">
              <a:ext uri="{FF2B5EF4-FFF2-40B4-BE49-F238E27FC236}">
                <a16:creationId xmlns:a16="http://schemas.microsoft.com/office/drawing/2014/main" id="{2F77A9FF-8C1B-479F-BA5C-A8B43F85EACF}"/>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Moderate support for the wind/demand/discount pattern. Low confidence in the hidden line and signed flow.</a:t>
            </a:r>
          </a:p>
        </p:txBody>
      </p:sp>
      <p:sp>
        <p:nvSpPr>
          <p:cNvPr id="3" name="">
            <a:extLst xmlns:a="http://schemas.openxmlformats.org/drawingml/2006/main">
              <a:ext uri="{FF2B5EF4-FFF2-40B4-BE49-F238E27FC236}">
                <a16:creationId xmlns:a16="http://schemas.microsoft.com/office/drawing/2014/main" id="{A544E71D-269B-432A-B626-810963C8E0F0}"/>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31</a:t>
            </a:r>
          </a:p>
        </p:txBody>
      </p:sp>
      <p:graphicFrame>
        <p:nvGraphicFramePr>
          <p:cNvPr id="4" name="">
            <a:extLst xmlns:a="http://schemas.openxmlformats.org/drawingml/2006/main">
              <a:ext uri="{FF2B5EF4-FFF2-40B4-BE49-F238E27FC236}">
                <a16:creationId xmlns:a16="http://schemas.microsoft.com/office/drawing/2014/main" id="{40953DDA-72BC-46A3-839B-A6DB21F5060A}"/>
              </a:ext>
            </a:extLst>
          </p:cNvPr>
          <p:cNvGraphicFramePr/>
          <p:nvPr/>
        </p:nvGraphicFramePr>
        <p:xfrm>
          <a:off xmlns:a="http://schemas.openxmlformats.org/drawingml/2006/main" x="714375" y="1762125"/>
          <a:ext xmlns:a="http://schemas.openxmlformats.org/drawingml/2006/main" cx="10763250" cy="3952875"/>
        </p:xfrm>
        <a:graphic xmlns:a="http://schemas.openxmlformats.org/drawingml/2006/main">
          <a:graphicData uri="http://schemas.openxmlformats.org/drawingml/2006/table">
            <a:tbl>
              <a:tblPr firstRow="1" bandRow="0"/>
              <a:tblGrid>
                <a:gridCol w="2476500"/>
                <a:gridCol w="8286750"/>
              </a:tblGrid>
              <a:tr h="790575">
                <a:tc>
                  <a:txBody>
                    <a:bodyPr wrap="square" lIns="95250" tIns="95250" rIns="95250" bIns="95250">
                      <a:noAutofit/>
                    </a:bodyPr>
                    <a:lstStyle/>
                    <a:p>
                      <a:r>
                        <a:rPr sz="1875" b="1">
                          <a:solidFill>
                            <a:srgbClr val="15283B"/>
                          </a:solidFill>
                          <a:latin typeface="Helvetica Neue"/>
                          <a:ea typeface="Helvetica Neue"/>
                          <a:cs typeface="Helvetica Neue"/>
                        </a:rPr>
                        <a:t>Question</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875" b="1">
                          <a:solidFill>
                            <a:srgbClr val="15283B"/>
                          </a:solidFill>
                          <a:latin typeface="Helvetica Neue"/>
                          <a:ea typeface="Helvetica Neue"/>
                          <a:cs typeface="Helvetica Neue"/>
                        </a:rPr>
                        <a:t>Answer</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Candidate direction</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Outward delivery from wind-rich western supply toward demand elsewhere.</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Counterexamples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Discounts occur without C. A wind-only shadow-severity model failed its benchmark; it was not a price-model test.</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What would weaken the view?</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Wind easing the identified limit, or easier delivery without a narrower discount.</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Advance watchlist</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Forecast WEST wind and MIDATL demand with ComEd demand, local availability and outward delivery.</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B8B95CE-883A-48F3-BE2C-F91AB44D3331}"/>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The current wind forecast covers all PJM. Demand elsewhere is not shown unusually high for this date. Available plants, imports and other constraints remain rivals.</a:t>
            </a:r>
          </a:p>
        </p:txBody>
      </p:sp>
    </p:spTree>
    <p:extLst>
      <p:ext uri="{BB962C8B-B14F-4D97-AF65-F5344CB8AC3E}">
        <p14:creationId xmlns:p14="http://schemas.microsoft.com/office/powerpoint/2010/main" val="67946047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378065-A580-44FA-8490-0BDD259A7ACF}"/>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Weather saved for the exact proposed hours</a:t>
            </a:r>
          </a:p>
        </p:txBody>
      </p:sp>
      <p:sp>
        <p:nvSpPr>
          <p:cNvPr id="2" name="">
            <a:extLst xmlns:a="http://schemas.openxmlformats.org/drawingml/2006/main">
              <a:ext uri="{FF2B5EF4-FFF2-40B4-BE49-F238E27FC236}">
                <a16:creationId xmlns:a16="http://schemas.microsoft.com/office/drawing/2014/main" id="{FB989018-3693-4A13-B6F1-10903E14ADAA}"/>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16 October forecast saved 15 October. NWS grid updates: 05:56–10:53 Eastern.</a:t>
            </a:r>
          </a:p>
        </p:txBody>
      </p:sp>
      <p:sp>
        <p:nvSpPr>
          <p:cNvPr id="3" name="">
            <a:extLst xmlns:a="http://schemas.openxmlformats.org/drawingml/2006/main">
              <a:ext uri="{FF2B5EF4-FFF2-40B4-BE49-F238E27FC236}">
                <a16:creationId xmlns:a16="http://schemas.microsoft.com/office/drawing/2014/main" id="{1DB85716-57DF-40C8-8836-67D666CC5EB3}"/>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32</a:t>
            </a:r>
          </a:p>
        </p:txBody>
      </p:sp>
      <p:graphicFrame>
        <p:nvGraphicFramePr>
          <p:cNvPr id="4" name="">
            <a:extLst xmlns:a="http://schemas.openxmlformats.org/drawingml/2006/main">
              <a:ext uri="{FF2B5EF4-FFF2-40B4-BE49-F238E27FC236}">
                <a16:creationId xmlns:a16="http://schemas.microsoft.com/office/drawing/2014/main" id="{FB8343D9-BAB7-4F27-A968-521E67C51365}"/>
              </a:ext>
            </a:extLst>
          </p:cNvPr>
          <p:cNvGraphicFramePr/>
          <p:nvPr/>
        </p:nvGraphicFramePr>
        <p:xfrm>
          <a:off xmlns:a="http://schemas.openxmlformats.org/drawingml/2006/main" x="714375" y="1762125"/>
          <a:ext xmlns:a="http://schemas.openxmlformats.org/drawingml/2006/main" cx="10763250" cy="3952875"/>
        </p:xfrm>
        <a:graphic xmlns:a="http://schemas.openxmlformats.org/drawingml/2006/main">
          <a:graphicData uri="http://schemas.openxmlformats.org/drawingml/2006/table">
            <a:tbl>
              <a:tblPr firstRow="1" bandRow="0"/>
              <a:tblGrid>
                <a:gridCol w="3238500"/>
                <a:gridCol w="2857500"/>
                <a:gridCol w="2714625"/>
                <a:gridCol w="1952625"/>
              </a:tblGrid>
              <a:tr h="790575">
                <a:tc>
                  <a:txBody>
                    <a:bodyPr wrap="square" lIns="95250" tIns="95250" rIns="95250" bIns="95250">
                      <a:noAutofit/>
                    </a:bodyPr>
                    <a:lstStyle/>
                    <a:p>
                      <a:r>
                        <a:rPr sz="1875" b="1">
                          <a:solidFill>
                            <a:srgbClr val="15283B"/>
                          </a:solidFill>
                          <a:latin typeface="Helvetica Neue"/>
                          <a:ea typeface="Helvetica Neue"/>
                          <a:cs typeface="Helvetica Neue"/>
                        </a:rPr>
                        <a:t>Place / hours</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875" b="1">
                          <a:solidFill>
                            <a:srgbClr val="15283B"/>
                          </a:solidFill>
                          <a:latin typeface="Helvetica Neue"/>
                          <a:ea typeface="Helvetica Neue"/>
                          <a:cs typeface="Helvetica Neue"/>
                        </a:rPr>
                        <a:t>Temp °F mean (max)</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875" b="1">
                          <a:solidFill>
                            <a:srgbClr val="15283B"/>
                          </a:solidFill>
                          <a:latin typeface="Helvetica Neue"/>
                          <a:ea typeface="Helvetica Neue"/>
                          <a:cs typeface="Helvetica Neue"/>
                        </a:rPr>
                        <a:t>Humidity / cloud %</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875" b="1">
                          <a:solidFill>
                            <a:srgbClr val="15283B"/>
                          </a:solidFill>
                          <a:latin typeface="Helvetica Neue"/>
                          <a:ea typeface="Helvetica Neue"/>
                          <a:cs typeface="Helvetica Neue"/>
                        </a:rPr>
                        <a:t>Wind mph</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Baltimore 07–23</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72.5 (82)</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80 / 52</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10.3</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Richmond 10–16</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81.2 (88)</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61 / 24</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11.3</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Chicago 00–07; 23–24</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57.3 (62)</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87 / 87</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19.6</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875" b="0">
                          <a:solidFill>
                            <a:srgbClr val="15283B"/>
                          </a:solidFill>
                          <a:latin typeface="Helvetica Neue"/>
                          <a:ea typeface="Helvetica Neue"/>
                          <a:cs typeface="Helvetica Neue"/>
                        </a:rPr>
                        <a:t>Pittsburgh 07–23</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61.9 (70)</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90 / 73</a:t>
                      </a:r>
                    </a:p>
                  </a:txBody>
                  <a:tcPr marL="91440" marR="91440" marT="45720" marB="45720">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875" b="0">
                          <a:solidFill>
                            <a:srgbClr val="15283B"/>
                          </a:solidFill>
                          <a:latin typeface="Helvetica Neue"/>
                          <a:ea typeface="Helvetica Neue"/>
                          <a:cs typeface="Helvetica Neue"/>
                        </a:rPr>
                        <a:t>14.7</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C209271-1FC5-48F2-9238-A8A47A9DB579}"/>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The full snapshot finished at 11:01 Eastern, after B’s 11:00 auction. Richmond/Chicago forecast grids are city points, distinct from historical airports.</a:t>
            </a:r>
          </a:p>
        </p:txBody>
      </p:sp>
    </p:spTree>
    <p:extLst>
      <p:ext uri="{BB962C8B-B14F-4D97-AF65-F5344CB8AC3E}">
        <p14:creationId xmlns:p14="http://schemas.microsoft.com/office/powerpoint/2010/main" val="212991547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DDF758-4D05-4903-AB57-2A007A097B71}"/>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Demand and renewable forecasts across the day</a:t>
            </a:r>
          </a:p>
        </p:txBody>
      </p:sp>
      <p:sp>
        <p:nvSpPr>
          <p:cNvPr id="2" name="">
            <a:extLst xmlns:a="http://schemas.openxmlformats.org/drawingml/2006/main">
              <a:ext uri="{FF2B5EF4-FFF2-40B4-BE49-F238E27FC236}">
                <a16:creationId xmlns:a16="http://schemas.microsoft.com/office/drawing/2014/main" id="{70DFDFF1-8DA7-4078-9B0B-164C0F7F2BCA}"/>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16 October. PJM evaluations on 15 October: demand 10:47, wind 10:50, solar 10:00 Eastern.</a:t>
            </a:r>
          </a:p>
        </p:txBody>
      </p:sp>
      <p:sp>
        <p:nvSpPr>
          <p:cNvPr id="3" name="">
            <a:extLst xmlns:a="http://schemas.openxmlformats.org/drawingml/2006/main">
              <a:ext uri="{FF2B5EF4-FFF2-40B4-BE49-F238E27FC236}">
                <a16:creationId xmlns:a16="http://schemas.microsoft.com/office/drawing/2014/main" id="{43E80E4C-1359-4C74-BF9E-D20A853C18BF}"/>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33</a:t>
            </a:r>
          </a:p>
        </p:txBody>
      </p:sp>
      <p:graphicFrame>
        <p:nvGraphicFramePr>
          <p:cNvPr id="4" name="Chart">
            <a:extLst xmlns:a="http://schemas.openxmlformats.org/drawingml/2006/main">
              <a:ext uri="{FF2B5EF4-FFF2-40B4-BE49-F238E27FC236}">
                <a16:creationId xmlns:a16="http://schemas.microsoft.com/office/drawing/2014/main" id="{8B5A6CF8-AE6C-42CD-9527-E8386C5ADA17}"/>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43c131d99c8c44ab"/>
          </a:graphicData>
        </a:graphic>
      </p:graphicFrame>
      <p:sp>
        <p:nvSpPr>
          <p:cNvPr id="5" name="">
            <a:extLst xmlns:a="http://schemas.openxmlformats.org/drawingml/2006/main">
              <a:ext uri="{FF2B5EF4-FFF2-40B4-BE49-F238E27FC236}">
                <a16:creationId xmlns:a16="http://schemas.microsoft.com/office/drawing/2014/main" id="{6D461845-9F28-4176-9B6F-6225917B877C}"/>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Demand stays high as utility solar falls. Wind continues overnight. Each curve covers its own region, so overlapping or different footprints cannot be added or netted.</a:t>
            </a:r>
          </a:p>
        </p:txBody>
      </p:sp>
      <p:sp>
        <p:nvSpPr>
          <p:cNvPr id="6" name="">
            <a:extLst xmlns:a="http://schemas.openxmlformats.org/drawingml/2006/main">
              <a:ext uri="{FF2B5EF4-FFF2-40B4-BE49-F238E27FC236}">
                <a16:creationId xmlns:a16="http://schemas.microsoft.com/office/drawing/2014/main" id="{836CD1E3-7C39-4463-8184-E2375C2DEE02}"/>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All 24 hours retained. MIDATL peak 31.812 GW; DOM 19.254 GW. Utility solar and customer solar stay separate. Weather supports the explanation without repricing the dated worksheet.</a:t>
            </a:r>
          </a:p>
        </p:txBody>
      </p:sp>
    </p:spTree>
    <p:extLst>
      <p:ext uri="{BB962C8B-B14F-4D97-AF65-F5344CB8AC3E}">
        <p14:creationId xmlns:p14="http://schemas.microsoft.com/office/powerpoint/2010/main" val="151480296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81A153-4FBC-420F-9894-FA38785C68DB}"/>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average gains hide frequent losses</a:t>
            </a:r>
          </a:p>
        </p:txBody>
      </p:sp>
      <p:sp>
        <p:nvSpPr>
          <p:cNvPr id="2" name="">
            <a:extLst xmlns:a="http://schemas.openxmlformats.org/drawingml/2006/main">
              <a:ext uri="{FF2B5EF4-FFF2-40B4-BE49-F238E27FC236}">
                <a16:creationId xmlns:a16="http://schemas.microsoft.com/office/drawing/2014/main" id="{07E263C9-5B7D-4132-8225-0D8DD3389571}"/>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80 MWh bought at the valid $17.10/MWh limit. Costs $3/MWh. Earlier forecast errors applied to the dated estimate.</a:t>
            </a:r>
          </a:p>
        </p:txBody>
      </p:sp>
      <p:sp>
        <p:nvSpPr>
          <p:cNvPr id="3" name="">
            <a:extLst xmlns:a="http://schemas.openxmlformats.org/drawingml/2006/main">
              <a:ext uri="{FF2B5EF4-FFF2-40B4-BE49-F238E27FC236}">
                <a16:creationId xmlns:a16="http://schemas.microsoft.com/office/drawing/2014/main" id="{8518826D-430E-4EE2-BFD1-BFCEE2E8F4AD}"/>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34</a:t>
            </a:r>
          </a:p>
        </p:txBody>
      </p:sp>
      <p:graphicFrame>
        <p:nvGraphicFramePr>
          <p:cNvPr id="4" name="Chart">
            <a:extLst xmlns:a="http://schemas.openxmlformats.org/drawingml/2006/main">
              <a:ext uri="{FF2B5EF4-FFF2-40B4-BE49-F238E27FC236}">
                <a16:creationId xmlns:a16="http://schemas.microsoft.com/office/drawing/2014/main" id="{7E8EE1D6-8C69-468F-9F78-B9F83348588A}"/>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f13aa5ef9bc54683"/>
          </a:graphicData>
        </a:graphic>
      </p:graphicFrame>
      <p:sp>
        <p:nvSpPr>
          <p:cNvPr id="5" name="">
            <a:extLst xmlns:a="http://schemas.openxmlformats.org/drawingml/2006/main">
              <a:ext uri="{FF2B5EF4-FFF2-40B4-BE49-F238E27FC236}">
                <a16:creationId xmlns:a16="http://schemas.microsoft.com/office/drawing/2014/main" id="{06BD515F-6201-4501-8189-9540DAB9654D}"/>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The curve shows the share of outcomes at or below each cash amount. A has a positive mean but loses in 63.3% of these scenarios because large gains lift the average.</a:t>
            </a:r>
          </a:p>
        </p:txBody>
      </p:sp>
      <p:sp>
        <p:nvSpPr>
          <p:cNvPr id="6" name="">
            <a:extLst xmlns:a="http://schemas.openxmlformats.org/drawingml/2006/main">
              <a:ext uri="{FF2B5EF4-FFF2-40B4-BE49-F238E27FC236}">
                <a16:creationId xmlns:a16="http://schemas.microsoft.com/office/drawing/2014/main" id="{7142224F-1789-4643-8485-535F07002078}"/>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128 errors. Mean +$403, middle −$470. Worst 5% average −$3,375. Scenario shares are not reliable future odds or maximum losses.</a:t>
            </a:r>
          </a:p>
        </p:txBody>
      </p:sp>
    </p:spTree>
    <p:extLst>
      <p:ext uri="{BB962C8B-B14F-4D97-AF65-F5344CB8AC3E}">
        <p14:creationId xmlns:p14="http://schemas.microsoft.com/office/powerpoint/2010/main" val="46686271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8D2D57-42E2-4BE8-B53D-B88B2885FD78}"/>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smaller losses still matter</a:t>
            </a:r>
          </a:p>
        </p:txBody>
      </p:sp>
      <p:sp>
        <p:nvSpPr>
          <p:cNvPr id="2" name="">
            <a:extLst xmlns:a="http://schemas.openxmlformats.org/drawingml/2006/main">
              <a:ext uri="{FF2B5EF4-FFF2-40B4-BE49-F238E27FC236}">
                <a16:creationId xmlns:a16="http://schemas.microsoft.com/office/drawing/2014/main" id="{9C695784-88CA-4B7F-BC83-D5E601589141}"/>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50 MWh sold at the valid −$4.85/MWh limit. Costs $3/MWh. Earlier forecast errors applied to the dated estimate.</a:t>
            </a:r>
          </a:p>
        </p:txBody>
      </p:sp>
      <p:sp>
        <p:nvSpPr>
          <p:cNvPr id="3" name="">
            <a:extLst xmlns:a="http://schemas.openxmlformats.org/drawingml/2006/main">
              <a:ext uri="{FF2B5EF4-FFF2-40B4-BE49-F238E27FC236}">
                <a16:creationId xmlns:a16="http://schemas.microsoft.com/office/drawing/2014/main" id="{6243D32C-1D2B-49AC-B467-558F18577536}"/>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35</a:t>
            </a:r>
          </a:p>
        </p:txBody>
      </p:sp>
      <p:graphicFrame>
        <p:nvGraphicFramePr>
          <p:cNvPr id="4" name="Chart">
            <a:extLst xmlns:a="http://schemas.openxmlformats.org/drawingml/2006/main">
              <a:ext uri="{FF2B5EF4-FFF2-40B4-BE49-F238E27FC236}">
                <a16:creationId xmlns:a16="http://schemas.microsoft.com/office/drawing/2014/main" id="{35A1B55B-7710-4EA6-AC7D-E8BE20DE1611}"/>
              </a:ext>
            </a:extLst>
          </p:cNvPr>
          <p:cNvGraphicFramePr/>
          <p:nvPr/>
        </p:nvGraphicFramePr>
        <p:xfrm>
          <a:off xmlns:a="http://schemas.openxmlformats.org/drawingml/2006/main" x="809625" y="1714500"/>
          <a:ext xmlns:a="http://schemas.openxmlformats.org/drawingml/2006/main" cx="10572750" cy="3095625"/>
        </p:xfrm>
        <a:graphic xmlns:a="http://schemas.openxmlformats.org/drawingml/2006/main">
          <a:graphicData uri="http://schemas.openxmlformats.org/drawingml/2006/chart">
            <c:chart xmlns:r="http://schemas.openxmlformats.org/officeDocument/2006/relationships" xmlns:c="http://schemas.openxmlformats.org/drawingml/2006/chart" r:id="Re2ea56dd10fc4fa4"/>
          </a:graphicData>
        </a:graphic>
      </p:graphicFrame>
      <p:sp>
        <p:nvSpPr>
          <p:cNvPr id="5" name="">
            <a:extLst xmlns:a="http://schemas.openxmlformats.org/drawingml/2006/main">
              <a:ext uri="{FF2B5EF4-FFF2-40B4-BE49-F238E27FC236}">
                <a16:creationId xmlns:a16="http://schemas.microsoft.com/office/drawing/2014/main" id="{0F7AB724-C93E-485C-9297-75E2DF92CC65}"/>
              </a:ext>
            </a:extLst>
          </p:cNvPr>
          <p:cNvSpPr>
            <a:spLocks xmlns:a="http://schemas.openxmlformats.org/drawingml/2006/main" noGrp="1"/>
          </p:cNvSpPr>
          <p:nvPr/>
        </p:nvSpPr>
        <p:spPr>
          <a:xfrm xmlns:a="http://schemas.openxmlformats.org/drawingml/2006/main">
            <a:off x="714375" y="5048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5283B"/>
                </a:solidFill>
                <a:latin typeface="Helvetica Neue"/>
                <a:ea typeface="Helvetica Neue"/>
                <a:cs typeface="Helvetica Neue"/>
              </a:defRPr>
            </a:defPPr>
          </a:lstStyle>
          <a:p xmlns:a="http://schemas.openxmlformats.org/drawingml/2006/main">
            <a:pPr>
              <a:defRPr sz="1950" b="1">
                <a:solidFill>
                  <a:srgbClr val="15283B"/>
                </a:solidFill>
                <a:latin typeface="Helvetica Neue"/>
                <a:ea typeface="Helvetica Neue"/>
                <a:cs typeface="Helvetica Neue"/>
              </a:defRPr>
            </a:pPr>
            <a:r>
              <a:rPr sz="1950" b="1">
                <a:solidFill>
                  <a:srgbClr val="15283B"/>
                </a:solidFill>
                <a:latin typeface="Helvetica Neue"/>
                <a:ea typeface="Helvetica Neue"/>
                <a:cs typeface="Helvetica Neue"/>
              </a:rPr>
              <a:t>The middle outcome is +$229 and the loss share is 23.9%. If the final gap averages about $5/MWh higher, C loses its estimated edge.</a:t>
            </a:r>
          </a:p>
        </p:txBody>
      </p:sp>
      <p:sp>
        <p:nvSpPr>
          <p:cNvPr id="6" name="">
            <a:extLst xmlns:a="http://schemas.openxmlformats.org/drawingml/2006/main">
              <a:ext uri="{FF2B5EF4-FFF2-40B4-BE49-F238E27FC236}">
                <a16:creationId xmlns:a16="http://schemas.microsoft.com/office/drawing/2014/main" id="{40D0E478-4F88-4E6C-8D26-B7FAE74385D7}"/>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180 errors. Mean +$251. Worst 5% average −$641. Longer histories can remove the estimated gain. These are constructed scenarios, not guaranteed probabilities.</a:t>
            </a:r>
          </a:p>
        </p:txBody>
      </p:sp>
    </p:spTree>
    <p:extLst>
      <p:ext uri="{BB962C8B-B14F-4D97-AF65-F5344CB8AC3E}">
        <p14:creationId xmlns:p14="http://schemas.microsoft.com/office/powerpoint/2010/main" val="28346665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2DB196-98CC-4FF7-99BD-602518AD4ED7}"/>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C: exact price, contracts and cash conditions</a:t>
            </a:r>
          </a:p>
        </p:txBody>
      </p:sp>
      <p:sp>
        <p:nvSpPr>
          <p:cNvPr id="2" name="">
            <a:extLst xmlns:a="http://schemas.openxmlformats.org/drawingml/2006/main">
              <a:ext uri="{FF2B5EF4-FFF2-40B4-BE49-F238E27FC236}">
                <a16:creationId xmlns:a16="http://schemas.microsoft.com/office/drawing/2014/main" id="{A5977862-1B90-4892-B31E-DD340AB17B40}"/>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16 October DA NI Hub minus Western Hub. Update the comparison after target prices publish.</a:t>
            </a:r>
          </a:p>
        </p:txBody>
      </p:sp>
      <p:sp>
        <p:nvSpPr>
          <p:cNvPr id="3" name="">
            <a:extLst xmlns:a="http://schemas.openxmlformats.org/drawingml/2006/main">
              <a:ext uri="{FF2B5EF4-FFF2-40B4-BE49-F238E27FC236}">
                <a16:creationId xmlns:a16="http://schemas.microsoft.com/office/drawing/2014/main" id="{963D7EC6-C4E7-4DC7-A642-C33EBDBD3A15}"/>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36</a:t>
            </a:r>
          </a:p>
        </p:txBody>
      </p:sp>
      <p:graphicFrame>
        <p:nvGraphicFramePr>
          <p:cNvPr id="4" name="">
            <a:extLst xmlns:a="http://schemas.openxmlformats.org/drawingml/2006/main">
              <a:ext uri="{FF2B5EF4-FFF2-40B4-BE49-F238E27FC236}">
                <a16:creationId xmlns:a16="http://schemas.microsoft.com/office/drawing/2014/main" id="{351AF8EE-4C7B-45BD-9D62-131D6CC90699}"/>
              </a:ext>
            </a:extLst>
          </p:cNvPr>
          <p:cNvGraphicFramePr/>
          <p:nvPr/>
        </p:nvGraphicFramePr>
        <p:xfrm>
          <a:off xmlns:a="http://schemas.openxmlformats.org/drawingml/2006/main" x="714375" y="1762125"/>
          <a:ext xmlns:a="http://schemas.openxmlformats.org/drawingml/2006/main" cx="10763250" cy="3952875"/>
        </p:xfrm>
        <a:graphic xmlns:a="http://schemas.openxmlformats.org/drawingml/2006/main">
          <a:graphicData uri="http://schemas.openxmlformats.org/drawingml/2006/table">
            <a:tbl>
              <a:tblPr firstRow="1" bandRow="0"/>
              <a:tblGrid>
                <a:gridCol w="2476500"/>
                <a:gridCol w="8286750"/>
              </a:tblGrid>
              <a:tr h="790575">
                <a:tc>
                  <a:txBody>
                    <a:bodyPr wrap="square" lIns="95250" tIns="95250" rIns="95250" bIns="95250">
                      <a:noAutofit/>
                    </a:bodyPr>
                    <a:lstStyle/>
                    <a:p>
                      <a:r>
                        <a:rPr sz="1950" b="1">
                          <a:solidFill>
                            <a:srgbClr val="15283B"/>
                          </a:solidFill>
                          <a:latin typeface="Helvetica Neue"/>
                          <a:ea typeface="Helvetica Neue"/>
                          <a:cs typeface="Helvetica Neue"/>
                        </a:rPr>
                        <a:t>Condition</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950" b="1">
                          <a:solidFill>
                            <a:srgbClr val="15283B"/>
                          </a:solidFill>
                          <a:latin typeface="Helvetica Neue"/>
                          <a:ea typeface="Helvetica Neue"/>
                          <a:cs typeface="Helvetica Neue"/>
                        </a:rPr>
                        <a:t>One C package</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Contracts and energy</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Sell 10 NIC / buy 1 PDO. Matched quantity: 50 MWh.</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Eastern hours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00:00–07:00 and 23:00–24:00 on the same delivery date.</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Entry price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NI bid minus Western ask at least −$4.85/MWh. Dated final estimate −$12.88.</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Cash example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Indicative margin $2,692 plus chosen loss reserve $6,642.50 = $9,334.50.</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E4F871-9115-46C4-A713-0E752C78ADD3}"/>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Costs $3/MWh and chosen $5 mean-error allowance. Reserve assumes a +$125/MWh final difference; losses can be larger. Entry cutoff 15 Oct 18:00 NY / 16:00 Edmonton.</a:t>
            </a:r>
          </a:p>
        </p:txBody>
      </p:sp>
    </p:spTree>
    <p:extLst>
      <p:ext uri="{BB962C8B-B14F-4D97-AF65-F5344CB8AC3E}">
        <p14:creationId xmlns:p14="http://schemas.microsoft.com/office/powerpoint/2010/main" val="114006440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C5FBF9-D9DA-4AE2-9DD5-5AF4222E5A52}"/>
              </a:ext>
            </a:extLst>
          </p:cNvPr>
          <p:cNvSpPr>
            <a:spLocks xmlns:a="http://schemas.openxmlformats.org/drawingml/2006/main" noGrp="1"/>
          </p:cNvSpPr>
          <p:nvPr/>
        </p:nvSpPr>
        <p:spPr>
          <a:xfrm xmlns:a="http://schemas.openxmlformats.org/drawingml/2006/main">
            <a:off x="533400" y="34290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5283B"/>
                </a:solidFill>
                <a:latin typeface="Helvetica Neue"/>
                <a:ea typeface="Helvetica Neue"/>
                <a:cs typeface="Helvetica Neue"/>
              </a:defRPr>
            </a:defPPr>
          </a:lstStyle>
          <a:p xmlns:a="http://schemas.openxmlformats.org/drawingml/2006/main">
            <a:pPr>
              <a:defRPr sz="3150" b="1">
                <a:solidFill>
                  <a:srgbClr val="15283B"/>
                </a:solidFill>
                <a:latin typeface="Helvetica Neue"/>
                <a:ea typeface="Helvetica Neue"/>
                <a:cs typeface="Helvetica Neue"/>
              </a:defRPr>
            </a:pPr>
            <a:r>
              <a:rPr sz="3150" b="1">
                <a:solidFill>
                  <a:srgbClr val="15283B"/>
                </a:solidFill>
                <a:latin typeface="Helvetica Neue"/>
                <a:ea typeface="Helvetica Neue"/>
                <a:cs typeface="Helvetica Neue"/>
              </a:rPr>
              <a:t>A needs more cash; B remains no bid</a:t>
            </a:r>
          </a:p>
        </p:txBody>
      </p:sp>
      <p:sp>
        <p:nvSpPr>
          <p:cNvPr id="2" name="">
            <a:extLst xmlns:a="http://schemas.openxmlformats.org/drawingml/2006/main">
              <a:ext uri="{FF2B5EF4-FFF2-40B4-BE49-F238E27FC236}">
                <a16:creationId xmlns:a16="http://schemas.microsoft.com/office/drawing/2014/main" id="{64F76ED8-DB77-43E0-BA16-1748A45B9A3B}"/>
              </a:ext>
            </a:extLst>
          </p:cNvPr>
          <p:cNvSpPr>
            <a:spLocks xmlns:a="http://schemas.openxmlformats.org/drawingml/2006/main" noGrp="1"/>
          </p:cNvSpPr>
          <p:nvPr/>
        </p:nvSpPr>
        <p:spPr>
          <a:xfrm xmlns:a="http://schemas.openxmlformats.org/drawingml/2006/main">
            <a:off x="552450" y="104775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66777"/>
                </a:solidFill>
                <a:latin typeface="Helvetica Neue"/>
                <a:ea typeface="Helvetica Neue"/>
                <a:cs typeface="Helvetica Neue"/>
              </a:defRPr>
            </a:defPPr>
          </a:lstStyle>
          <a:p xmlns:a="http://schemas.openxmlformats.org/drawingml/2006/main">
            <a:pPr>
              <a:defRPr sz="1725" b="0">
                <a:solidFill>
                  <a:srgbClr val="566777"/>
                </a:solidFill>
                <a:latin typeface="Helvetica Neue"/>
                <a:ea typeface="Helvetica Neue"/>
                <a:cs typeface="Helvetica Neue"/>
              </a:defRPr>
            </a:pPr>
            <a:r>
              <a:rPr sz="1725" b="0">
                <a:solidFill>
                  <a:srgbClr val="566777"/>
                </a:solidFill>
                <a:latin typeface="Helvetica Neue"/>
                <a:ea typeface="Helvetica Neue"/>
                <a:cs typeface="Helvetica Neue"/>
              </a:rPr>
              <a:t>A: BGE Zone minus Western Hub, peak hours. All values remain the 14 October worksheet.</a:t>
            </a:r>
          </a:p>
        </p:txBody>
      </p:sp>
      <p:sp>
        <p:nvSpPr>
          <p:cNvPr id="3" name="">
            <a:extLst xmlns:a="http://schemas.openxmlformats.org/drawingml/2006/main">
              <a:ext uri="{FF2B5EF4-FFF2-40B4-BE49-F238E27FC236}">
                <a16:creationId xmlns:a16="http://schemas.microsoft.com/office/drawing/2014/main" id="{E3D28859-3032-4F48-9600-A9B726E95C23}"/>
              </a:ext>
            </a:extLst>
          </p:cNvPr>
          <p:cNvSpPr>
            <a:spLocks xmlns:a="http://schemas.openxmlformats.org/drawingml/2006/main" noGrp="1"/>
          </p:cNvSpPr>
          <p:nvPr/>
        </p:nvSpPr>
        <p:spPr>
          <a:xfrm xmlns:a="http://schemas.openxmlformats.org/drawingml/2006/main">
            <a:off x="10953750" y="6429375"/>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66777"/>
                </a:solidFill>
                <a:latin typeface="Helvetica Neue"/>
                <a:ea typeface="Helvetica Neue"/>
                <a:cs typeface="Helvetica Neue"/>
              </a:defRPr>
            </a:defPPr>
          </a:lstStyle>
          <a:p xmlns:a="http://schemas.openxmlformats.org/drawingml/2006/main">
            <a:pPr>
              <a:defRPr sz="1275" b="0">
                <a:solidFill>
                  <a:srgbClr val="566777"/>
                </a:solidFill>
                <a:latin typeface="Helvetica Neue"/>
                <a:ea typeface="Helvetica Neue"/>
                <a:cs typeface="Helvetica Neue"/>
              </a:defRPr>
            </a:pPr>
            <a:r>
              <a:rPr sz="1275" b="0">
                <a:solidFill>
                  <a:srgbClr val="566777"/>
                </a:solidFill>
                <a:latin typeface="Helvetica Neue"/>
                <a:ea typeface="Helvetica Neue"/>
                <a:cs typeface="Helvetica Neue"/>
              </a:rPr>
              <a:t>37</a:t>
            </a:r>
          </a:p>
        </p:txBody>
      </p:sp>
      <p:graphicFrame>
        <p:nvGraphicFramePr>
          <p:cNvPr id="4" name="">
            <a:extLst xmlns:a="http://schemas.openxmlformats.org/drawingml/2006/main">
              <a:ext uri="{FF2B5EF4-FFF2-40B4-BE49-F238E27FC236}">
                <a16:creationId xmlns:a16="http://schemas.microsoft.com/office/drawing/2014/main" id="{09A5899E-D1D9-4709-8CF9-2E803425DF56}"/>
              </a:ext>
            </a:extLst>
          </p:cNvPr>
          <p:cNvGraphicFramePr/>
          <p:nvPr/>
        </p:nvGraphicFramePr>
        <p:xfrm>
          <a:off xmlns:a="http://schemas.openxmlformats.org/drawingml/2006/main" x="714375" y="1762125"/>
          <a:ext xmlns:a="http://schemas.openxmlformats.org/drawingml/2006/main" cx="10763250" cy="3952875"/>
        </p:xfrm>
        <a:graphic xmlns:a="http://schemas.openxmlformats.org/drawingml/2006/main">
          <a:graphicData uri="http://schemas.openxmlformats.org/drawingml/2006/table">
            <a:tbl>
              <a:tblPr firstRow="1" bandRow="0"/>
              <a:tblGrid>
                <a:gridCol w="2476500"/>
                <a:gridCol w="8286750"/>
              </a:tblGrid>
              <a:tr h="790575">
                <a:tc>
                  <a:txBody>
                    <a:bodyPr wrap="square" lIns="95250" tIns="95250" rIns="95250" bIns="95250">
                      <a:noAutofit/>
                    </a:bodyPr>
                    <a:lstStyle/>
                    <a:p>
                      <a:r>
                        <a:rPr sz="1950" b="1">
                          <a:solidFill>
                            <a:srgbClr val="15283B"/>
                          </a:solidFill>
                          <a:latin typeface="Helvetica Neue"/>
                          <a:ea typeface="Helvetica Neue"/>
                          <a:cs typeface="Helvetica Neue"/>
                        </a:rPr>
                        <a:t>Condition</a:t>
                      </a:r>
                    </a:p>
                  </a:txBody>
                  <a:tcPr marL="91440" marR="91440" marT="45720" marB="45720">
                    <a:lnL w="5715">
                      <a:solidFill>
                        <a:srgbClr val="DCE2E7"/>
                      </a:solidFill>
                      <a:prstDash val="solid"/>
                    </a:lnL>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c>
                  <a:txBody>
                    <a:bodyPr wrap="square" lIns="95250" tIns="95250" rIns="95250" bIns="95250">
                      <a:noAutofit/>
                    </a:bodyPr>
                    <a:lstStyle/>
                    <a:p>
                      <a:r>
                        <a:rPr sz="1950" b="1">
                          <a:solidFill>
                            <a:srgbClr val="15283B"/>
                          </a:solidFill>
                          <a:latin typeface="Helvetica Neue"/>
                          <a:ea typeface="Helvetica Neue"/>
                          <a:cs typeface="Helvetica Neue"/>
                        </a:rPr>
                        <a:t>A package / B decision</a:t>
                      </a:r>
                    </a:p>
                  </a:txBody>
                  <a:tcPr marL="91440" marR="91440" marT="45720" marB="45720">
                    <a:lnR w="5715">
                      <a:solidFill>
                        <a:srgbClr val="DCE2E7"/>
                      </a:solidFill>
                      <a:prstDash val="solid"/>
                    </a:lnR>
                    <a:lnT w="5715">
                      <a:solidFill>
                        <a:srgbClr val="DCE2E7"/>
                      </a:solidFill>
                      <a:prstDash val="solid"/>
                    </a:lnT>
                    <a:lnB w="5715">
                      <a:solidFill>
                        <a:srgbClr val="DCE2E7"/>
                      </a:solidFill>
                      <a:prstDash val="solid"/>
                    </a:lnB>
                    <a:solidFill>
                      <a:srgbClr val="EEF2F5"/>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A contracts and hours</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Buy 1 PMN / sell 5 PJL. 80 MWh, 07:00–23:00 Eastern.</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A entry price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BGE ask minus Western bid no more than $17.10/MWh. Dated final estimate +$25.14.</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A cash example</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Margin $21,940 plus chosen reserve $9,608 = $31,548.</a:t>
                      </a:r>
                    </a:p>
                  </a:txBody>
                  <a:tcPr marL="91440" marR="91440" marT="45720" marB="45720">
                    <a:lnR w="5715">
                      <a:solidFill>
                        <a:srgbClr val="DCE2E7"/>
                      </a:solidFill>
                      <a:prstDash val="solid"/>
                    </a:lnR>
                    <a:lnB w="5715">
                      <a:solidFill>
                        <a:srgbClr val="DCE2E7"/>
                      </a:solidFill>
                      <a:prstDash val="solid"/>
                    </a:lnB>
                    <a:solidFill>
                      <a:srgbClr val="FFFFFF"/>
                    </a:solidFill>
                  </a:tcPr>
                </a:tc>
              </a:tr>
              <a:tr h="790575">
                <a:tc>
                  <a:txBody>
                    <a:bodyPr wrap="square" lIns="95250" tIns="95250" rIns="95250" bIns="95250">
                      <a:noAutofit/>
                    </a:bodyPr>
                    <a:lstStyle/>
                    <a:p>
                      <a:r>
                        <a:rPr sz="1950" b="0">
                          <a:solidFill>
                            <a:srgbClr val="15283B"/>
                          </a:solidFill>
                          <a:latin typeface="Helvetica Neue"/>
                          <a:ea typeface="Helvetica Neue"/>
                          <a:cs typeface="Helvetica Neue"/>
                        </a:rPr>
                        <a:t>B decision</a:t>
                      </a:r>
                    </a:p>
                  </a:txBody>
                  <a:tcPr marL="91440" marR="91440" marT="45720" marB="45720">
                    <a:lnL w="5715">
                      <a:solidFill>
                        <a:srgbClr val="DCE2E7"/>
                      </a:solidFill>
                      <a:prstDash val="solid"/>
                    </a:lnL>
                    <a:lnR w="5715">
                      <a:solidFill>
                        <a:srgbClr val="DCE2E7"/>
                      </a:solidFill>
                      <a:prstDash val="solid"/>
                    </a:lnR>
                    <a:lnB w="5715">
                      <a:solidFill>
                        <a:srgbClr val="DCE2E7"/>
                      </a:solidFill>
                      <a:prstDash val="solid"/>
                    </a:lnB>
                    <a:solidFill>
                      <a:srgbClr val="FFFFFF"/>
                    </a:solidFill>
                  </a:tcPr>
                </a:tc>
                <a:tc>
                  <a:txBody>
                    <a:bodyPr wrap="square" lIns="95250" tIns="95250" rIns="95250" bIns="95250">
                      <a:noAutofit/>
                    </a:bodyPr>
                    <a:lstStyle/>
                    <a:p>
                      <a:r>
                        <a:rPr sz="1950" b="0">
                          <a:solidFill>
                            <a:srgbClr val="15283B"/>
                          </a:solidFill>
                          <a:latin typeface="Helvetica Neue"/>
                          <a:ea typeface="Helvetica Neue"/>
                          <a:cs typeface="Helvetica Neue"/>
                        </a:rPr>
                        <a:t>DOMINION HUB to DOM_RESID_AGG, six 1-MW hours 10:00–16:00. Estimate −$1.29 is below the +$10 rule. No bid.</a:t>
                      </a:r>
                    </a:p>
                  </a:txBody>
                  <a:tcPr marL="91440" marR="91440" marT="45720" marB="45720">
                    <a:lnR w="5715">
                      <a:solidFill>
                        <a:srgbClr val="DCE2E7"/>
                      </a:solidFill>
                      <a:prstDash val="solid"/>
                    </a:lnR>
                    <a:lnB w="5715">
                      <a:solidFill>
                        <a:srgbClr val="DCE2E7"/>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30CD56-9762-44DF-B633-95D200D11A45}"/>
              </a:ext>
            </a:extLst>
          </p:cNvPr>
          <p:cNvSpPr>
            <a:spLocks xmlns:a="http://schemas.openxmlformats.org/drawingml/2006/main" noGrp="1"/>
          </p:cNvSpPr>
          <p:nvPr/>
        </p:nvSpPr>
        <p:spPr>
          <a:xfrm xmlns:a="http://schemas.openxmlformats.org/drawingml/2006/main">
            <a:off x="552450" y="60007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66777"/>
                </a:solidFill>
                <a:latin typeface="Helvetica Neue"/>
                <a:ea typeface="Helvetica Neue"/>
                <a:cs typeface="Helvetica Neue"/>
              </a:defRPr>
            </a:defPPr>
          </a:lstStyle>
          <a:p xmlns:a="http://schemas.openxmlformats.org/drawingml/2006/main">
            <a:pPr>
              <a:defRPr sz="1350" b="0">
                <a:solidFill>
                  <a:srgbClr val="566777"/>
                </a:solidFill>
                <a:latin typeface="Helvetica Neue"/>
                <a:ea typeface="Helvetica Neue"/>
                <a:cs typeface="Helvetica Neue"/>
              </a:defRPr>
            </a:pPr>
            <a:r>
              <a:rPr sz="1350" b="0">
                <a:solidFill>
                  <a:srgbClr val="566777"/>
                </a:solidFill>
                <a:latin typeface="Helvetica Neue"/>
                <a:ea typeface="Helvetica Neue"/>
                <a:cs typeface="Helvetica Neue"/>
              </a:rPr>
              <a:t>A reserve assumes a −$100/MWh final difference; losses can be larger. A/C cutoff 15 Oct 18:00 NY. B auction 11:00. A bid cap does not limit later losses.</a:t>
            </a:r>
          </a:p>
        </p:txBody>
      </p:sp>
    </p:spTree>
    <p:extLst>
      <p:ext uri="{BB962C8B-B14F-4D97-AF65-F5344CB8AC3E}">
        <p14:creationId xmlns:p14="http://schemas.microsoft.com/office/powerpoint/2010/main" val="1035106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2026-10-15T17:44:01.8810000Z</dcterms:created>
  <dcterms:modified xsi:type="dcterms:W3CDTF">2026-10-15T17:44:01.8810000Z</dcterms:modified>
</coreProperties>
</file>